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8" r:id="rId1"/>
  </p:sldMasterIdLst>
  <p:notesMasterIdLst>
    <p:notesMasterId r:id="rId20"/>
  </p:notesMasterIdLst>
  <p:sldIdLst>
    <p:sldId id="256" r:id="rId2"/>
    <p:sldId id="271" r:id="rId3"/>
    <p:sldId id="257" r:id="rId4"/>
    <p:sldId id="261" r:id="rId5"/>
    <p:sldId id="263" r:id="rId6"/>
    <p:sldId id="262" r:id="rId7"/>
    <p:sldId id="264" r:id="rId8"/>
    <p:sldId id="265" r:id="rId9"/>
    <p:sldId id="266" r:id="rId10"/>
    <p:sldId id="267" r:id="rId11"/>
    <p:sldId id="268" r:id="rId12"/>
    <p:sldId id="269" r:id="rId13"/>
    <p:sldId id="270" r:id="rId14"/>
    <p:sldId id="258" r:id="rId15"/>
    <p:sldId id="273" r:id="rId16"/>
    <p:sldId id="274" r:id="rId17"/>
    <p:sldId id="272" r:id="rId18"/>
    <p:sldId id="26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0245"/>
    <a:srgbClr val="AC0694"/>
    <a:srgbClr val="FF907A"/>
    <a:srgbClr val="DA002F"/>
    <a:srgbClr val="FE4A00"/>
    <a:srgbClr val="DE95C4"/>
    <a:srgbClr val="553C9A"/>
    <a:srgbClr val="AB07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4770" autoAdjust="0"/>
  </p:normalViewPr>
  <p:slideViewPr>
    <p:cSldViewPr snapToGrid="0">
      <p:cViewPr varScale="1">
        <p:scale>
          <a:sx n="75" d="100"/>
          <a:sy n="75" d="100"/>
        </p:scale>
        <p:origin x="92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nya Gunasegaram Narayana" userId="f6b1f743-c7c5-4716-85bf-5af81075d9ae" providerId="ADAL" clId="{5AD07161-CCDD-4878-BCB5-7AF2170B912D}"/>
    <pc:docChg chg="undo custSel addSld delSld modSld sldOrd addMainMaster delMainMaster">
      <pc:chgData name="Saranya Gunasegaram Narayana" userId="f6b1f743-c7c5-4716-85bf-5af81075d9ae" providerId="ADAL" clId="{5AD07161-CCDD-4878-BCB5-7AF2170B912D}" dt="2026-04-18T02:05:37.487" v="4281" actId="729"/>
      <pc:docMkLst>
        <pc:docMk/>
      </pc:docMkLst>
      <pc:sldChg chg="addSp delSp modSp mod modClrScheme chgLayout modNotesTx">
        <pc:chgData name="Saranya Gunasegaram Narayana" userId="f6b1f743-c7c5-4716-85bf-5af81075d9ae" providerId="ADAL" clId="{5AD07161-CCDD-4878-BCB5-7AF2170B912D}" dt="2026-04-16T00:57:13.127" v="2761" actId="12"/>
        <pc:sldMkLst>
          <pc:docMk/>
          <pc:sldMk cId="2849683125" sldId="256"/>
        </pc:sldMkLst>
        <pc:spChg chg="mod">
          <ac:chgData name="Saranya Gunasegaram Narayana" userId="f6b1f743-c7c5-4716-85bf-5af81075d9ae" providerId="ADAL" clId="{5AD07161-CCDD-4878-BCB5-7AF2170B912D}" dt="2026-04-15T15:14:33.660" v="396" actId="1076"/>
          <ac:spMkLst>
            <pc:docMk/>
            <pc:sldMk cId="2849683125" sldId="256"/>
            <ac:spMk id="2" creationId="{B033B6A4-1121-BF4F-459A-AD682434DD7A}"/>
          </ac:spMkLst>
        </pc:spChg>
        <pc:spChg chg="mod">
          <ac:chgData name="Saranya Gunasegaram Narayana" userId="f6b1f743-c7c5-4716-85bf-5af81075d9ae" providerId="ADAL" clId="{5AD07161-CCDD-4878-BCB5-7AF2170B912D}" dt="2026-04-15T14:43:38.504" v="56" actId="122"/>
          <ac:spMkLst>
            <pc:docMk/>
            <pc:sldMk cId="2849683125" sldId="256"/>
            <ac:spMk id="3" creationId="{F9C1546D-DE23-83BF-4433-F164D18A92F3}"/>
          </ac:spMkLst>
        </pc:spChg>
        <pc:spChg chg="add">
          <ac:chgData name="Saranya Gunasegaram Narayana" userId="f6b1f743-c7c5-4716-85bf-5af81075d9ae" providerId="ADAL" clId="{5AD07161-CCDD-4878-BCB5-7AF2170B912D}" dt="2026-04-15T14:42:11.876" v="45" actId="26606"/>
          <ac:spMkLst>
            <pc:docMk/>
            <pc:sldMk cId="2849683125" sldId="256"/>
            <ac:spMk id="18" creationId="{BCFF1867-CA5E-416C-80CB-68BE95CE2281}"/>
          </ac:spMkLst>
        </pc:spChg>
        <pc:spChg chg="add">
          <ac:chgData name="Saranya Gunasegaram Narayana" userId="f6b1f743-c7c5-4716-85bf-5af81075d9ae" providerId="ADAL" clId="{5AD07161-CCDD-4878-BCB5-7AF2170B912D}" dt="2026-04-15T14:42:11.876" v="45" actId="26606"/>
          <ac:spMkLst>
            <pc:docMk/>
            <pc:sldMk cId="2849683125" sldId="256"/>
            <ac:spMk id="20" creationId="{5EA2F639-83D8-42FB-805A-0AFD485B9EAF}"/>
          </ac:spMkLst>
        </pc:spChg>
        <pc:spChg chg="add">
          <ac:chgData name="Saranya Gunasegaram Narayana" userId="f6b1f743-c7c5-4716-85bf-5af81075d9ae" providerId="ADAL" clId="{5AD07161-CCDD-4878-BCB5-7AF2170B912D}" dt="2026-04-15T14:42:11.876" v="45" actId="26606"/>
          <ac:spMkLst>
            <pc:docMk/>
            <pc:sldMk cId="2849683125" sldId="256"/>
            <ac:spMk id="22" creationId="{D8DB4E8D-D68B-4463-A009-8FAB6A115558}"/>
          </ac:spMkLst>
        </pc:spChg>
        <pc:spChg chg="add">
          <ac:chgData name="Saranya Gunasegaram Narayana" userId="f6b1f743-c7c5-4716-85bf-5af81075d9ae" providerId="ADAL" clId="{5AD07161-CCDD-4878-BCB5-7AF2170B912D}" dt="2026-04-15T14:42:11.876" v="45" actId="26606"/>
          <ac:spMkLst>
            <pc:docMk/>
            <pc:sldMk cId="2849683125" sldId="256"/>
            <ac:spMk id="24" creationId="{5C519481-97EE-45EB-B83B-AE5C46F3DB84}"/>
          </ac:spMkLst>
        </pc:spChg>
        <pc:picChg chg="mod">
          <ac:chgData name="Saranya Gunasegaram Narayana" userId="f6b1f743-c7c5-4716-85bf-5af81075d9ae" providerId="ADAL" clId="{5AD07161-CCDD-4878-BCB5-7AF2170B912D}" dt="2026-04-15T14:42:39.937" v="46" actId="1440"/>
          <ac:picMkLst>
            <pc:docMk/>
            <pc:sldMk cId="2849683125" sldId="256"/>
            <ac:picMk id="7" creationId="{AF084BF3-1B98-E67C-6261-8AE273E67A2A}"/>
          </ac:picMkLst>
        </pc:picChg>
      </pc:sldChg>
      <pc:sldChg chg="addSp delSp modSp new mod ord modNotesTx">
        <pc:chgData name="Saranya Gunasegaram Narayana" userId="f6b1f743-c7c5-4716-85bf-5af81075d9ae" providerId="ADAL" clId="{5AD07161-CCDD-4878-BCB5-7AF2170B912D}" dt="2026-04-16T14:55:04.179" v="4152" actId="5793"/>
        <pc:sldMkLst>
          <pc:docMk/>
          <pc:sldMk cId="2683238851" sldId="257"/>
        </pc:sldMkLst>
        <pc:spChg chg="mod">
          <ac:chgData name="Saranya Gunasegaram Narayana" userId="f6b1f743-c7c5-4716-85bf-5af81075d9ae" providerId="ADAL" clId="{5AD07161-CCDD-4878-BCB5-7AF2170B912D}" dt="2026-04-15T14:47:59.851" v="111" actId="1076"/>
          <ac:spMkLst>
            <pc:docMk/>
            <pc:sldMk cId="2683238851" sldId="257"/>
            <ac:spMk id="2" creationId="{FBA97ED5-AF9E-D5D5-32D9-96A808D62490}"/>
          </ac:spMkLst>
        </pc:spChg>
        <pc:spChg chg="add mod">
          <ac:chgData name="Saranya Gunasegaram Narayana" userId="f6b1f743-c7c5-4716-85bf-5af81075d9ae" providerId="ADAL" clId="{5AD07161-CCDD-4878-BCB5-7AF2170B912D}" dt="2026-04-15T15:12:09.400" v="356" actId="1076"/>
          <ac:spMkLst>
            <pc:docMk/>
            <pc:sldMk cId="2683238851" sldId="257"/>
            <ac:spMk id="44" creationId="{D15256D3-5E0D-6B57-15D2-FBF8F059AEA6}"/>
          </ac:spMkLst>
        </pc:spChg>
        <pc:spChg chg="add mod">
          <ac:chgData name="Saranya Gunasegaram Narayana" userId="f6b1f743-c7c5-4716-85bf-5af81075d9ae" providerId="ADAL" clId="{5AD07161-CCDD-4878-BCB5-7AF2170B912D}" dt="2026-04-15T15:05:51.335" v="303" actId="207"/>
          <ac:spMkLst>
            <pc:docMk/>
            <pc:sldMk cId="2683238851" sldId="257"/>
            <ac:spMk id="45" creationId="{7225D0A3-69C6-1796-EFB6-FB989F538E1E}"/>
          </ac:spMkLst>
        </pc:spChg>
        <pc:spChg chg="add mod">
          <ac:chgData name="Saranya Gunasegaram Narayana" userId="f6b1f743-c7c5-4716-85bf-5af81075d9ae" providerId="ADAL" clId="{5AD07161-CCDD-4878-BCB5-7AF2170B912D}" dt="2026-04-16T13:45:56.150" v="3145" actId="1076"/>
          <ac:spMkLst>
            <pc:docMk/>
            <pc:sldMk cId="2683238851" sldId="257"/>
            <ac:spMk id="46" creationId="{9C8F3167-3C03-6D90-B4A0-EC81735A73A7}"/>
          </ac:spMkLst>
        </pc:spChg>
        <pc:spChg chg="mod">
          <ac:chgData name="Saranya Gunasegaram Narayana" userId="f6b1f743-c7c5-4716-85bf-5af81075d9ae" providerId="ADAL" clId="{5AD07161-CCDD-4878-BCB5-7AF2170B912D}" dt="2026-04-16T13:45:46.165" v="3144" actId="1076"/>
          <ac:spMkLst>
            <pc:docMk/>
            <pc:sldMk cId="2683238851" sldId="257"/>
            <ac:spMk id="47" creationId="{C247684B-81FF-9E55-FD31-9CC6FFD2C9AA}"/>
          </ac:spMkLst>
        </pc:spChg>
        <pc:spChg chg="add mod">
          <ac:chgData name="Saranya Gunasegaram Narayana" userId="f6b1f743-c7c5-4716-85bf-5af81075d9ae" providerId="ADAL" clId="{5AD07161-CCDD-4878-BCB5-7AF2170B912D}" dt="2026-04-15T15:11:16.056" v="350" actId="1076"/>
          <ac:spMkLst>
            <pc:docMk/>
            <pc:sldMk cId="2683238851" sldId="257"/>
            <ac:spMk id="49" creationId="{664F8065-E8A3-CBAF-6C5C-DF6A8B382241}"/>
          </ac:spMkLst>
        </pc:spChg>
        <pc:spChg chg="mod">
          <ac:chgData name="Saranya Gunasegaram Narayana" userId="f6b1f743-c7c5-4716-85bf-5af81075d9ae" providerId="ADAL" clId="{5AD07161-CCDD-4878-BCB5-7AF2170B912D}" dt="2026-04-15T15:11:16.056" v="350" actId="1076"/>
          <ac:spMkLst>
            <pc:docMk/>
            <pc:sldMk cId="2683238851" sldId="257"/>
            <ac:spMk id="50" creationId="{46D3F514-2C1F-AB90-7094-06A9FD1C54DF}"/>
          </ac:spMkLst>
        </pc:spChg>
        <pc:spChg chg="add mod">
          <ac:chgData name="Saranya Gunasegaram Narayana" userId="f6b1f743-c7c5-4716-85bf-5af81075d9ae" providerId="ADAL" clId="{5AD07161-CCDD-4878-BCB5-7AF2170B912D}" dt="2026-04-15T15:11:54.738" v="354" actId="1076"/>
          <ac:spMkLst>
            <pc:docMk/>
            <pc:sldMk cId="2683238851" sldId="257"/>
            <ac:spMk id="52" creationId="{A15042F5-F940-C72A-37CA-831B2EBA1E8F}"/>
          </ac:spMkLst>
        </pc:spChg>
        <pc:spChg chg="mod">
          <ac:chgData name="Saranya Gunasegaram Narayana" userId="f6b1f743-c7c5-4716-85bf-5af81075d9ae" providerId="ADAL" clId="{5AD07161-CCDD-4878-BCB5-7AF2170B912D}" dt="2026-04-15T15:11:54.738" v="354" actId="1076"/>
          <ac:spMkLst>
            <pc:docMk/>
            <pc:sldMk cId="2683238851" sldId="257"/>
            <ac:spMk id="53" creationId="{F8BB69F8-251F-C684-02BF-C0203E4EE82F}"/>
          </ac:spMkLst>
        </pc:spChg>
        <pc:spChg chg="add mod">
          <ac:chgData name="Saranya Gunasegaram Narayana" userId="f6b1f743-c7c5-4716-85bf-5af81075d9ae" providerId="ADAL" clId="{5AD07161-CCDD-4878-BCB5-7AF2170B912D}" dt="2026-04-15T15:15:00.650" v="398" actId="1076"/>
          <ac:spMkLst>
            <pc:docMk/>
            <pc:sldMk cId="2683238851" sldId="257"/>
            <ac:spMk id="55" creationId="{B95C490F-1502-7F57-A683-D89CEA29354C}"/>
          </ac:spMkLst>
        </pc:spChg>
        <pc:spChg chg="mod">
          <ac:chgData name="Saranya Gunasegaram Narayana" userId="f6b1f743-c7c5-4716-85bf-5af81075d9ae" providerId="ADAL" clId="{5AD07161-CCDD-4878-BCB5-7AF2170B912D}" dt="2026-04-15T15:14:56.576" v="397" actId="1076"/>
          <ac:spMkLst>
            <pc:docMk/>
            <pc:sldMk cId="2683238851" sldId="257"/>
            <ac:spMk id="56" creationId="{7808D724-80FD-DDA3-080C-D8F480F60734}"/>
          </ac:spMkLst>
        </pc:spChg>
        <pc:picChg chg="add mod">
          <ac:chgData name="Saranya Gunasegaram Narayana" userId="f6b1f743-c7c5-4716-85bf-5af81075d9ae" providerId="ADAL" clId="{5AD07161-CCDD-4878-BCB5-7AF2170B912D}" dt="2026-04-16T01:09:31.113" v="2909" actId="1076"/>
          <ac:picMkLst>
            <pc:docMk/>
            <pc:sldMk cId="2683238851" sldId="257"/>
            <ac:picMk id="3" creationId="{E021A065-A03F-C4C1-6D3D-FCDC9DAF5F14}"/>
          </ac:picMkLst>
        </pc:picChg>
      </pc:sldChg>
      <pc:sldChg chg="addSp delSp modSp add mod">
        <pc:chgData name="Saranya Gunasegaram Narayana" userId="f6b1f743-c7c5-4716-85bf-5af81075d9ae" providerId="ADAL" clId="{5AD07161-CCDD-4878-BCB5-7AF2170B912D}" dt="2026-04-16T14:33:34.025" v="4117" actId="255"/>
        <pc:sldMkLst>
          <pc:docMk/>
          <pc:sldMk cId="21868983" sldId="258"/>
        </pc:sldMkLst>
        <pc:spChg chg="mod">
          <ac:chgData name="Saranya Gunasegaram Narayana" userId="f6b1f743-c7c5-4716-85bf-5af81075d9ae" providerId="ADAL" clId="{5AD07161-CCDD-4878-BCB5-7AF2170B912D}" dt="2026-04-15T14:59:21.020" v="224" actId="20577"/>
          <ac:spMkLst>
            <pc:docMk/>
            <pc:sldMk cId="21868983" sldId="258"/>
            <ac:spMk id="2" creationId="{BD72FFAE-1817-EEF2-3533-4EAF1CA08A2F}"/>
          </ac:spMkLst>
        </pc:spChg>
        <pc:spChg chg="add mod">
          <ac:chgData name="Saranya Gunasegaram Narayana" userId="f6b1f743-c7c5-4716-85bf-5af81075d9ae" providerId="ADAL" clId="{5AD07161-CCDD-4878-BCB5-7AF2170B912D}" dt="2026-04-16T14:33:34.025" v="4117" actId="255"/>
          <ac:spMkLst>
            <pc:docMk/>
            <pc:sldMk cId="21868983" sldId="258"/>
            <ac:spMk id="7" creationId="{1158C35C-6678-E015-8AED-653AC1B15E02}"/>
          </ac:spMkLst>
        </pc:spChg>
      </pc:sldChg>
      <pc:sldChg chg="addSp delSp modSp add mod ord modShow modNotesTx">
        <pc:chgData name="Saranya Gunasegaram Narayana" userId="f6b1f743-c7c5-4716-85bf-5af81075d9ae" providerId="ADAL" clId="{5AD07161-CCDD-4878-BCB5-7AF2170B912D}" dt="2026-04-16T01:20:52.428" v="3091"/>
        <pc:sldMkLst>
          <pc:docMk/>
          <pc:sldMk cId="471123469" sldId="260"/>
        </pc:sldMkLst>
        <pc:spChg chg="mod">
          <ac:chgData name="Saranya Gunasegaram Narayana" userId="f6b1f743-c7c5-4716-85bf-5af81075d9ae" providerId="ADAL" clId="{5AD07161-CCDD-4878-BCB5-7AF2170B912D}" dt="2026-04-15T17:09:05.107" v="578" actId="27636"/>
          <ac:spMkLst>
            <pc:docMk/>
            <pc:sldMk cId="471123469" sldId="260"/>
            <ac:spMk id="2" creationId="{F43796FA-4059-0A93-8074-801D6832B150}"/>
          </ac:spMkLst>
        </pc:spChg>
        <pc:spChg chg="add mod">
          <ac:chgData name="Saranya Gunasegaram Narayana" userId="f6b1f743-c7c5-4716-85bf-5af81075d9ae" providerId="ADAL" clId="{5AD07161-CCDD-4878-BCB5-7AF2170B912D}" dt="2026-04-15T17:26:04.787" v="664" actId="14100"/>
          <ac:spMkLst>
            <pc:docMk/>
            <pc:sldMk cId="471123469" sldId="260"/>
            <ac:spMk id="5" creationId="{374CC9D4-FBD6-E956-CCD4-D217DFCD6E49}"/>
          </ac:spMkLst>
        </pc:spChg>
        <pc:spChg chg="mod">
          <ac:chgData name="Saranya Gunasegaram Narayana" userId="f6b1f743-c7c5-4716-85bf-5af81075d9ae" providerId="ADAL" clId="{5AD07161-CCDD-4878-BCB5-7AF2170B912D}" dt="2026-04-15T17:15:03.651" v="609" actId="208"/>
          <ac:spMkLst>
            <pc:docMk/>
            <pc:sldMk cId="471123469" sldId="260"/>
            <ac:spMk id="6" creationId="{47A9A4A8-51B6-20BD-90B9-733852C0FDE3}"/>
          </ac:spMkLst>
        </pc:spChg>
        <pc:spChg chg="add mod">
          <ac:chgData name="Saranya Gunasegaram Narayana" userId="f6b1f743-c7c5-4716-85bf-5af81075d9ae" providerId="ADAL" clId="{5AD07161-CCDD-4878-BCB5-7AF2170B912D}" dt="2026-04-15T17:12:55.219" v="589" actId="1076"/>
          <ac:spMkLst>
            <pc:docMk/>
            <pc:sldMk cId="471123469" sldId="260"/>
            <ac:spMk id="7" creationId="{135C9ABA-2C2C-D13A-4734-4014AB8AADA5}"/>
          </ac:spMkLst>
        </pc:spChg>
        <pc:spChg chg="add mod">
          <ac:chgData name="Saranya Gunasegaram Narayana" userId="f6b1f743-c7c5-4716-85bf-5af81075d9ae" providerId="ADAL" clId="{5AD07161-CCDD-4878-BCB5-7AF2170B912D}" dt="2026-04-15T17:19:43.265" v="651"/>
          <ac:spMkLst>
            <pc:docMk/>
            <pc:sldMk cId="471123469" sldId="260"/>
            <ac:spMk id="8" creationId="{32EF86F6-6E2E-67CE-2736-8D0E9F6492C7}"/>
          </ac:spMkLst>
        </pc:spChg>
        <pc:spChg chg="add del mod">
          <ac:chgData name="Saranya Gunasegaram Narayana" userId="f6b1f743-c7c5-4716-85bf-5af81075d9ae" providerId="ADAL" clId="{5AD07161-CCDD-4878-BCB5-7AF2170B912D}" dt="2026-04-15T18:11:58.691" v="769" actId="313"/>
          <ac:spMkLst>
            <pc:docMk/>
            <pc:sldMk cId="471123469" sldId="260"/>
            <ac:spMk id="29" creationId="{7658EFFB-9977-7840-B3BB-42D72ADA3A89}"/>
          </ac:spMkLst>
        </pc:spChg>
        <pc:spChg chg="add del mod">
          <ac:chgData name="Saranya Gunasegaram Narayana" userId="f6b1f743-c7c5-4716-85bf-5af81075d9ae" providerId="ADAL" clId="{5AD07161-CCDD-4878-BCB5-7AF2170B912D}" dt="2026-04-15T23:08:05.424" v="2468" actId="207"/>
          <ac:spMkLst>
            <pc:docMk/>
            <pc:sldMk cId="471123469" sldId="260"/>
            <ac:spMk id="31" creationId="{6BDFC288-E08E-24A1-915A-259427108DC4}"/>
          </ac:spMkLst>
        </pc:spChg>
        <pc:spChg chg="add mod">
          <ac:chgData name="Saranya Gunasegaram Narayana" userId="f6b1f743-c7c5-4716-85bf-5af81075d9ae" providerId="ADAL" clId="{5AD07161-CCDD-4878-BCB5-7AF2170B912D}" dt="2026-04-15T17:28:50.900" v="682" actId="14100"/>
          <ac:spMkLst>
            <pc:docMk/>
            <pc:sldMk cId="471123469" sldId="260"/>
            <ac:spMk id="32" creationId="{8F4AF858-B97E-2F99-EE5A-687C90D61EA9}"/>
          </ac:spMkLst>
        </pc:spChg>
        <pc:spChg chg="add mod">
          <ac:chgData name="Saranya Gunasegaram Narayana" userId="f6b1f743-c7c5-4716-85bf-5af81075d9ae" providerId="ADAL" clId="{5AD07161-CCDD-4878-BCB5-7AF2170B912D}" dt="2026-04-15T17:13:01.521" v="590" actId="1076"/>
          <ac:spMkLst>
            <pc:docMk/>
            <pc:sldMk cId="471123469" sldId="260"/>
            <ac:spMk id="33" creationId="{CD6EC2A5-175C-9B9C-CF6D-8D751CEAE698}"/>
          </ac:spMkLst>
        </pc:spChg>
        <pc:spChg chg="mod">
          <ac:chgData name="Saranya Gunasegaram Narayana" userId="f6b1f743-c7c5-4716-85bf-5af81075d9ae" providerId="ADAL" clId="{5AD07161-CCDD-4878-BCB5-7AF2170B912D}" dt="2026-04-15T17:31:47.144" v="717" actId="255"/>
          <ac:spMkLst>
            <pc:docMk/>
            <pc:sldMk cId="471123469" sldId="260"/>
            <ac:spMk id="34" creationId="{CE1B37E0-489D-8D74-02E9-78E65B4B2862}"/>
          </ac:spMkLst>
        </pc:spChg>
        <pc:spChg chg="add mod">
          <ac:chgData name="Saranya Gunasegaram Narayana" userId="f6b1f743-c7c5-4716-85bf-5af81075d9ae" providerId="ADAL" clId="{5AD07161-CCDD-4878-BCB5-7AF2170B912D}" dt="2026-04-15T17:28:14.931" v="675" actId="255"/>
          <ac:spMkLst>
            <pc:docMk/>
            <pc:sldMk cId="471123469" sldId="260"/>
            <ac:spMk id="35" creationId="{07997BCB-FC12-391F-9CBC-55BCD3DD0D6C}"/>
          </ac:spMkLst>
        </pc:spChg>
        <pc:spChg chg="mod">
          <ac:chgData name="Saranya Gunasegaram Narayana" userId="f6b1f743-c7c5-4716-85bf-5af81075d9ae" providerId="ADAL" clId="{5AD07161-CCDD-4878-BCB5-7AF2170B912D}" dt="2026-04-15T17:30:51.960" v="713" actId="14100"/>
          <ac:spMkLst>
            <pc:docMk/>
            <pc:sldMk cId="471123469" sldId="260"/>
            <ac:spMk id="36" creationId="{AF26F0DC-EFAE-F69C-0B8D-47D1EFF33974}"/>
          </ac:spMkLst>
        </pc:spChg>
        <pc:spChg chg="add mod">
          <ac:chgData name="Saranya Gunasegaram Narayana" userId="f6b1f743-c7c5-4716-85bf-5af81075d9ae" providerId="ADAL" clId="{5AD07161-CCDD-4878-BCB5-7AF2170B912D}" dt="2026-04-15T23:08:10.414" v="2469" actId="207"/>
          <ac:spMkLst>
            <pc:docMk/>
            <pc:sldMk cId="471123469" sldId="260"/>
            <ac:spMk id="38" creationId="{5F1007B9-1310-244F-BCB1-65CE1FB0718B}"/>
          </ac:spMkLst>
        </pc:spChg>
        <pc:spChg chg="mod">
          <ac:chgData name="Saranya Gunasegaram Narayana" userId="f6b1f743-c7c5-4716-85bf-5af81075d9ae" providerId="ADAL" clId="{5AD07161-CCDD-4878-BCB5-7AF2170B912D}" dt="2026-04-15T17:35:33.494" v="757" actId="14100"/>
          <ac:spMkLst>
            <pc:docMk/>
            <pc:sldMk cId="471123469" sldId="260"/>
            <ac:spMk id="39" creationId="{7E1EC39F-42DA-7720-C608-C4D9EFA62C48}"/>
          </ac:spMkLst>
        </pc:spChg>
        <pc:spChg chg="add mod">
          <ac:chgData name="Saranya Gunasegaram Narayana" userId="f6b1f743-c7c5-4716-85bf-5af81075d9ae" providerId="ADAL" clId="{5AD07161-CCDD-4878-BCB5-7AF2170B912D}" dt="2026-04-15T17:32:40.318" v="730" actId="208"/>
          <ac:spMkLst>
            <pc:docMk/>
            <pc:sldMk cId="471123469" sldId="260"/>
            <ac:spMk id="40" creationId="{0F3C9C65-7E2F-FEB1-DC8A-FF393D6FAEE5}"/>
          </ac:spMkLst>
        </pc:spChg>
        <pc:spChg chg="mod">
          <ac:chgData name="Saranya Gunasegaram Narayana" userId="f6b1f743-c7c5-4716-85bf-5af81075d9ae" providerId="ADAL" clId="{5AD07161-CCDD-4878-BCB5-7AF2170B912D}" dt="2026-04-15T17:32:21.340" v="724" actId="1076"/>
          <ac:spMkLst>
            <pc:docMk/>
            <pc:sldMk cId="471123469" sldId="260"/>
            <ac:spMk id="41" creationId="{38811804-A379-E0FB-BA5F-0A79D5C4E218}"/>
          </ac:spMkLst>
        </pc:spChg>
        <pc:spChg chg="mod">
          <ac:chgData name="Saranya Gunasegaram Narayana" userId="f6b1f743-c7c5-4716-85bf-5af81075d9ae" providerId="ADAL" clId="{5AD07161-CCDD-4878-BCB5-7AF2170B912D}" dt="2026-04-15T17:32:52.479" v="731" actId="207"/>
          <ac:spMkLst>
            <pc:docMk/>
            <pc:sldMk cId="471123469" sldId="260"/>
            <ac:spMk id="42" creationId="{E897BA18-072B-0532-0DA3-55B7E2279EE2}"/>
          </ac:spMkLst>
        </pc:spChg>
        <pc:spChg chg="mod">
          <ac:chgData name="Saranya Gunasegaram Narayana" userId="f6b1f743-c7c5-4716-85bf-5af81075d9ae" providerId="ADAL" clId="{5AD07161-CCDD-4878-BCB5-7AF2170B912D}" dt="2026-04-15T17:35:28.733" v="756" actId="20577"/>
          <ac:spMkLst>
            <pc:docMk/>
            <pc:sldMk cId="471123469" sldId="260"/>
            <ac:spMk id="58" creationId="{43CCCEC6-FA7D-2569-7461-515BB2AB1AC0}"/>
          </ac:spMkLst>
        </pc:spChg>
        <pc:spChg chg="add del mod">
          <ac:chgData name="Saranya Gunasegaram Narayana" userId="f6b1f743-c7c5-4716-85bf-5af81075d9ae" providerId="ADAL" clId="{5AD07161-CCDD-4878-BCB5-7AF2170B912D}" dt="2026-04-15T23:08:17.143" v="2471" actId="207"/>
          <ac:spMkLst>
            <pc:docMk/>
            <pc:sldMk cId="471123469" sldId="260"/>
            <ac:spMk id="60" creationId="{A2F07E5C-4C2E-DA0E-63EC-3BEB51DEBCCC}"/>
          </ac:spMkLst>
        </pc:spChg>
        <pc:picChg chg="add mod">
          <ac:chgData name="Saranya Gunasegaram Narayana" userId="f6b1f743-c7c5-4716-85bf-5af81075d9ae" providerId="ADAL" clId="{5AD07161-CCDD-4878-BCB5-7AF2170B912D}" dt="2026-04-15T17:13:25.137" v="595" actId="1076"/>
          <ac:picMkLst>
            <pc:docMk/>
            <pc:sldMk cId="471123469" sldId="260"/>
            <ac:picMk id="4" creationId="{E292251C-822C-0A96-3A64-5640D4BBFD0B}"/>
          </ac:picMkLst>
        </pc:picChg>
      </pc:sldChg>
      <pc:sldChg chg="addSp delSp modSp add mod modNotesTx">
        <pc:chgData name="Saranya Gunasegaram Narayana" userId="f6b1f743-c7c5-4716-85bf-5af81075d9ae" providerId="ADAL" clId="{5AD07161-CCDD-4878-BCB5-7AF2170B912D}" dt="2026-04-16T18:08:53.646" v="4209" actId="20577"/>
        <pc:sldMkLst>
          <pc:docMk/>
          <pc:sldMk cId="2371723273" sldId="261"/>
        </pc:sldMkLst>
        <pc:spChg chg="mod">
          <ac:chgData name="Saranya Gunasegaram Narayana" userId="f6b1f743-c7c5-4716-85bf-5af81075d9ae" providerId="ADAL" clId="{5AD07161-CCDD-4878-BCB5-7AF2170B912D}" dt="2026-04-15T18:18:56.079" v="853" actId="20577"/>
          <ac:spMkLst>
            <pc:docMk/>
            <pc:sldMk cId="2371723273" sldId="261"/>
            <ac:spMk id="2" creationId="{14BC4F15-7185-51A7-710A-FB9F2798C913}"/>
          </ac:spMkLst>
        </pc:spChg>
        <pc:spChg chg="add mod">
          <ac:chgData name="Saranya Gunasegaram Narayana" userId="f6b1f743-c7c5-4716-85bf-5af81075d9ae" providerId="ADAL" clId="{5AD07161-CCDD-4878-BCB5-7AF2170B912D}" dt="2026-04-15T18:56:57.546" v="1346" actId="1076"/>
          <ac:spMkLst>
            <pc:docMk/>
            <pc:sldMk cId="2371723273" sldId="261"/>
            <ac:spMk id="3" creationId="{7F6A70F5-336F-54BD-2B64-B00B67E1094E}"/>
          </ac:spMkLst>
        </pc:spChg>
        <pc:spChg chg="add mod">
          <ac:chgData name="Saranya Gunasegaram Narayana" userId="f6b1f743-c7c5-4716-85bf-5af81075d9ae" providerId="ADAL" clId="{5AD07161-CCDD-4878-BCB5-7AF2170B912D}" dt="2026-04-15T18:59:42.630" v="1487" actId="1582"/>
          <ac:spMkLst>
            <pc:docMk/>
            <pc:sldMk cId="2371723273" sldId="261"/>
            <ac:spMk id="4" creationId="{1EDE19C1-269D-717C-DC13-6E64F1F81E34}"/>
          </ac:spMkLst>
        </pc:spChg>
      </pc:sldChg>
      <pc:sldChg chg="addSp delSp modSp add mod ord modNotesTx">
        <pc:chgData name="Saranya Gunasegaram Narayana" userId="f6b1f743-c7c5-4716-85bf-5af81075d9ae" providerId="ADAL" clId="{5AD07161-CCDD-4878-BCB5-7AF2170B912D}" dt="2026-04-16T18:09:59.195" v="4217" actId="20577"/>
        <pc:sldMkLst>
          <pc:docMk/>
          <pc:sldMk cId="276143933" sldId="262"/>
        </pc:sldMkLst>
        <pc:spChg chg="mod">
          <ac:chgData name="Saranya Gunasegaram Narayana" userId="f6b1f743-c7c5-4716-85bf-5af81075d9ae" providerId="ADAL" clId="{5AD07161-CCDD-4878-BCB5-7AF2170B912D}" dt="2026-04-15T18:37:00.099" v="1145" actId="20577"/>
          <ac:spMkLst>
            <pc:docMk/>
            <pc:sldMk cId="276143933" sldId="262"/>
            <ac:spMk id="2" creationId="{8A6A8825-3A9F-5513-902E-8CD8F1468BD6}"/>
          </ac:spMkLst>
        </pc:spChg>
        <pc:spChg chg="add del mod">
          <ac:chgData name="Saranya Gunasegaram Narayana" userId="f6b1f743-c7c5-4716-85bf-5af81075d9ae" providerId="ADAL" clId="{5AD07161-CCDD-4878-BCB5-7AF2170B912D}" dt="2026-04-15T18:49:13.400" v="1316" actId="1076"/>
          <ac:spMkLst>
            <pc:docMk/>
            <pc:sldMk cId="276143933" sldId="262"/>
            <ac:spMk id="3" creationId="{EE3E7491-8E6B-5D06-0718-044FF79C1C98}"/>
          </ac:spMkLst>
        </pc:spChg>
        <pc:spChg chg="mod">
          <ac:chgData name="Saranya Gunasegaram Narayana" userId="f6b1f743-c7c5-4716-85bf-5af81075d9ae" providerId="ADAL" clId="{5AD07161-CCDD-4878-BCB5-7AF2170B912D}" dt="2026-04-15T18:49:53.612" v="1323" actId="208"/>
          <ac:spMkLst>
            <pc:docMk/>
            <pc:sldMk cId="276143933" sldId="262"/>
            <ac:spMk id="4" creationId="{912510BA-19F1-A047-4085-C92BFB8BD011}"/>
          </ac:spMkLst>
        </pc:spChg>
        <pc:spChg chg="mod">
          <ac:chgData name="Saranya Gunasegaram Narayana" userId="f6b1f743-c7c5-4716-85bf-5af81075d9ae" providerId="ADAL" clId="{5AD07161-CCDD-4878-BCB5-7AF2170B912D}" dt="2026-04-15T18:39:59.939" v="1172" actId="255"/>
          <ac:spMkLst>
            <pc:docMk/>
            <pc:sldMk cId="276143933" sldId="262"/>
            <ac:spMk id="5" creationId="{0FFFA19F-8F1C-27FA-C7D5-DEC00B1C3D4C}"/>
          </ac:spMkLst>
        </pc:spChg>
        <pc:spChg chg="mod">
          <ac:chgData name="Saranya Gunasegaram Narayana" userId="f6b1f743-c7c5-4716-85bf-5af81075d9ae" providerId="ADAL" clId="{5AD07161-CCDD-4878-BCB5-7AF2170B912D}" dt="2026-04-15T18:40:25.329" v="1177" actId="255"/>
          <ac:spMkLst>
            <pc:docMk/>
            <pc:sldMk cId="276143933" sldId="262"/>
            <ac:spMk id="6" creationId="{1BACDC4C-4E68-0F97-2131-4FAE2C676062}"/>
          </ac:spMkLst>
        </pc:spChg>
        <pc:spChg chg="mod">
          <ac:chgData name="Saranya Gunasegaram Narayana" userId="f6b1f743-c7c5-4716-85bf-5af81075d9ae" providerId="ADAL" clId="{5AD07161-CCDD-4878-BCB5-7AF2170B912D}" dt="2026-04-15T18:49:46.184" v="1322" actId="207"/>
          <ac:spMkLst>
            <pc:docMk/>
            <pc:sldMk cId="276143933" sldId="262"/>
            <ac:spMk id="7" creationId="{9C1789C2-9F98-B9EA-470C-A8F1B6A50179}"/>
          </ac:spMkLst>
        </pc:spChg>
        <pc:spChg chg="mod">
          <ac:chgData name="Saranya Gunasegaram Narayana" userId="f6b1f743-c7c5-4716-85bf-5af81075d9ae" providerId="ADAL" clId="{5AD07161-CCDD-4878-BCB5-7AF2170B912D}" dt="2026-04-15T18:49:38.429" v="1321" actId="207"/>
          <ac:spMkLst>
            <pc:docMk/>
            <pc:sldMk cId="276143933" sldId="262"/>
            <ac:spMk id="8" creationId="{54B45EC4-B961-39A0-EBFD-E431B08CC22F}"/>
          </ac:spMkLst>
        </pc:spChg>
        <pc:spChg chg="mod">
          <ac:chgData name="Saranya Gunasegaram Narayana" userId="f6b1f743-c7c5-4716-85bf-5af81075d9ae" providerId="ADAL" clId="{5AD07161-CCDD-4878-BCB5-7AF2170B912D}" dt="2026-04-15T23:24:34.185" v="2543" actId="208"/>
          <ac:spMkLst>
            <pc:docMk/>
            <pc:sldMk cId="276143933" sldId="262"/>
            <ac:spMk id="9" creationId="{F773211D-8DF1-1273-6DDE-202E77CF5ED4}"/>
          </ac:spMkLst>
        </pc:spChg>
        <pc:spChg chg="mod">
          <ac:chgData name="Saranya Gunasegaram Narayana" userId="f6b1f743-c7c5-4716-85bf-5af81075d9ae" providerId="ADAL" clId="{5AD07161-CCDD-4878-BCB5-7AF2170B912D}" dt="2026-04-15T18:51:11.335" v="1332" actId="207"/>
          <ac:spMkLst>
            <pc:docMk/>
            <pc:sldMk cId="276143933" sldId="262"/>
            <ac:spMk id="10" creationId="{F059633B-6B33-CD33-1532-7019FEF82EC0}"/>
          </ac:spMkLst>
        </pc:spChg>
        <pc:spChg chg="mod">
          <ac:chgData name="Saranya Gunasegaram Narayana" userId="f6b1f743-c7c5-4716-85bf-5af81075d9ae" providerId="ADAL" clId="{5AD07161-CCDD-4878-BCB5-7AF2170B912D}" dt="2026-04-15T18:46:10.784" v="1250" actId="1076"/>
          <ac:spMkLst>
            <pc:docMk/>
            <pc:sldMk cId="276143933" sldId="262"/>
            <ac:spMk id="12" creationId="{A09AC33B-2F42-275A-1ADD-00A992B09890}"/>
          </ac:spMkLst>
        </pc:spChg>
        <pc:spChg chg="mod">
          <ac:chgData name="Saranya Gunasegaram Narayana" userId="f6b1f743-c7c5-4716-85bf-5af81075d9ae" providerId="ADAL" clId="{5AD07161-CCDD-4878-BCB5-7AF2170B912D}" dt="2026-04-15T19:17:49.066" v="1588" actId="207"/>
          <ac:spMkLst>
            <pc:docMk/>
            <pc:sldMk cId="276143933" sldId="262"/>
            <ac:spMk id="13" creationId="{CBB25EF6-A9C1-EB64-FABD-9E7E18F41D68}"/>
          </ac:spMkLst>
        </pc:spChg>
        <pc:spChg chg="mod">
          <ac:chgData name="Saranya Gunasegaram Narayana" userId="f6b1f743-c7c5-4716-85bf-5af81075d9ae" providerId="ADAL" clId="{5AD07161-CCDD-4878-BCB5-7AF2170B912D}" dt="2026-04-15T18:51:19.850" v="1333" actId="207"/>
          <ac:spMkLst>
            <pc:docMk/>
            <pc:sldMk cId="276143933" sldId="262"/>
            <ac:spMk id="14" creationId="{707C14C2-BA5F-E0B5-388C-A6453D047ED3}"/>
          </ac:spMkLst>
        </pc:spChg>
        <pc:spChg chg="add mod">
          <ac:chgData name="Saranya Gunasegaram Narayana" userId="f6b1f743-c7c5-4716-85bf-5af81075d9ae" providerId="ADAL" clId="{5AD07161-CCDD-4878-BCB5-7AF2170B912D}" dt="2026-04-15T18:50:15.726" v="1325" actId="208"/>
          <ac:spMkLst>
            <pc:docMk/>
            <pc:sldMk cId="276143933" sldId="262"/>
            <ac:spMk id="15" creationId="{5EC6C9AE-3FE7-F810-64C8-BED31220DB3A}"/>
          </ac:spMkLst>
        </pc:spChg>
        <pc:spChg chg="mod">
          <ac:chgData name="Saranya Gunasegaram Narayana" userId="f6b1f743-c7c5-4716-85bf-5af81075d9ae" providerId="ADAL" clId="{5AD07161-CCDD-4878-BCB5-7AF2170B912D}" dt="2026-04-15T23:24:23.882" v="2542" actId="208"/>
          <ac:spMkLst>
            <pc:docMk/>
            <pc:sldMk cId="276143933" sldId="262"/>
            <ac:spMk id="16" creationId="{6C8669B0-D186-0D37-58C7-9ACE674F92A9}"/>
          </ac:spMkLst>
        </pc:spChg>
        <pc:spChg chg="add mod">
          <ac:chgData name="Saranya Gunasegaram Narayana" userId="f6b1f743-c7c5-4716-85bf-5af81075d9ae" providerId="ADAL" clId="{5AD07161-CCDD-4878-BCB5-7AF2170B912D}" dt="2026-04-15T18:40:11.624" v="1175" actId="255"/>
          <ac:spMkLst>
            <pc:docMk/>
            <pc:sldMk cId="276143933" sldId="262"/>
            <ac:spMk id="17" creationId="{0754EEEA-10C2-5305-C17E-737BA74D89E6}"/>
          </ac:spMkLst>
        </pc:spChg>
        <pc:spChg chg="add mod">
          <ac:chgData name="Saranya Gunasegaram Narayana" userId="f6b1f743-c7c5-4716-85bf-5af81075d9ae" providerId="ADAL" clId="{5AD07161-CCDD-4878-BCB5-7AF2170B912D}" dt="2026-04-15T18:45:45.301" v="1245" actId="1076"/>
          <ac:spMkLst>
            <pc:docMk/>
            <pc:sldMk cId="276143933" sldId="262"/>
            <ac:spMk id="18" creationId="{79AE8AD3-2F42-F0D4-2CE0-D506A15736A3}"/>
          </ac:spMkLst>
        </pc:spChg>
        <pc:spChg chg="mod">
          <ac:chgData name="Saranya Gunasegaram Narayana" userId="f6b1f743-c7c5-4716-85bf-5af81075d9ae" providerId="ADAL" clId="{5AD07161-CCDD-4878-BCB5-7AF2170B912D}" dt="2026-04-15T19:17:41.296" v="1586" actId="207"/>
          <ac:spMkLst>
            <pc:docMk/>
            <pc:sldMk cId="276143933" sldId="262"/>
            <ac:spMk id="19" creationId="{6DB6F632-C5D1-0C1F-4055-79980A42239A}"/>
          </ac:spMkLst>
        </pc:spChg>
        <pc:spChg chg="mod">
          <ac:chgData name="Saranya Gunasegaram Narayana" userId="f6b1f743-c7c5-4716-85bf-5af81075d9ae" providerId="ADAL" clId="{5AD07161-CCDD-4878-BCB5-7AF2170B912D}" dt="2026-04-15T18:50:22.319" v="1326" actId="207"/>
          <ac:spMkLst>
            <pc:docMk/>
            <pc:sldMk cId="276143933" sldId="262"/>
            <ac:spMk id="20" creationId="{C47A429C-721B-3F2F-5493-514E6223E256}"/>
          </ac:spMkLst>
        </pc:spChg>
        <pc:spChg chg="mod">
          <ac:chgData name="Saranya Gunasegaram Narayana" userId="f6b1f743-c7c5-4716-85bf-5af81075d9ae" providerId="ADAL" clId="{5AD07161-CCDD-4878-BCB5-7AF2170B912D}" dt="2026-04-15T18:46:04.366" v="1249" actId="14100"/>
          <ac:spMkLst>
            <pc:docMk/>
            <pc:sldMk cId="276143933" sldId="262"/>
            <ac:spMk id="21" creationId="{8BA62BFA-8C84-F2E7-C974-F615C312CE42}"/>
          </ac:spMkLst>
        </pc:spChg>
        <pc:spChg chg="mod ord">
          <ac:chgData name="Saranya Gunasegaram Narayana" userId="f6b1f743-c7c5-4716-85bf-5af81075d9ae" providerId="ADAL" clId="{5AD07161-CCDD-4878-BCB5-7AF2170B912D}" dt="2026-04-15T18:48:48.249" v="1311" actId="113"/>
          <ac:spMkLst>
            <pc:docMk/>
            <pc:sldMk cId="276143933" sldId="262"/>
            <ac:spMk id="22" creationId="{9B1BDA37-710F-C51F-3375-1E90FDA55D29}"/>
          </ac:spMkLst>
        </pc:spChg>
        <pc:spChg chg="add mod">
          <ac:chgData name="Saranya Gunasegaram Narayana" userId="f6b1f743-c7c5-4716-85bf-5af81075d9ae" providerId="ADAL" clId="{5AD07161-CCDD-4878-BCB5-7AF2170B912D}" dt="2026-04-15T18:38:13.260" v="1154" actId="14100"/>
          <ac:spMkLst>
            <pc:docMk/>
            <pc:sldMk cId="276143933" sldId="262"/>
            <ac:spMk id="23" creationId="{F05C463C-A071-A7F8-2350-D8C3A011C749}"/>
          </ac:spMkLst>
        </pc:spChg>
        <pc:spChg chg="mod">
          <ac:chgData name="Saranya Gunasegaram Narayana" userId="f6b1f743-c7c5-4716-85bf-5af81075d9ae" providerId="ADAL" clId="{5AD07161-CCDD-4878-BCB5-7AF2170B912D}" dt="2026-04-15T18:46:25.668" v="1253" actId="1076"/>
          <ac:spMkLst>
            <pc:docMk/>
            <pc:sldMk cId="276143933" sldId="262"/>
            <ac:spMk id="24" creationId="{E59D5782-379B-090D-F839-0F6AB2430767}"/>
          </ac:spMkLst>
        </pc:spChg>
        <pc:spChg chg="mod">
          <ac:chgData name="Saranya Gunasegaram Narayana" userId="f6b1f743-c7c5-4716-85bf-5af81075d9ae" providerId="ADAL" clId="{5AD07161-CCDD-4878-BCB5-7AF2170B912D}" dt="2026-04-15T19:17:52.239" v="1589" actId="207"/>
          <ac:spMkLst>
            <pc:docMk/>
            <pc:sldMk cId="276143933" sldId="262"/>
            <ac:spMk id="25" creationId="{B6EB2695-9AEA-9DA1-EF82-F851E3B77D3E}"/>
          </ac:spMkLst>
        </pc:spChg>
        <pc:spChg chg="add mod">
          <ac:chgData name="Saranya Gunasegaram Narayana" userId="f6b1f743-c7c5-4716-85bf-5af81075d9ae" providerId="ADAL" clId="{5AD07161-CCDD-4878-BCB5-7AF2170B912D}" dt="2026-04-15T18:46:38.282" v="1264" actId="1038"/>
          <ac:spMkLst>
            <pc:docMk/>
            <pc:sldMk cId="276143933" sldId="262"/>
            <ac:spMk id="26" creationId="{F2B78E9D-8DD4-0163-45FA-D77E232CF784}"/>
          </ac:spMkLst>
        </pc:spChg>
        <pc:spChg chg="mod">
          <ac:chgData name="Saranya Gunasegaram Narayana" userId="f6b1f743-c7c5-4716-85bf-5af81075d9ae" providerId="ADAL" clId="{5AD07161-CCDD-4878-BCB5-7AF2170B912D}" dt="2026-04-15T18:50:34.714" v="1328" actId="208"/>
          <ac:spMkLst>
            <pc:docMk/>
            <pc:sldMk cId="276143933" sldId="262"/>
            <ac:spMk id="27" creationId="{A9AAAAE5-831A-49E9-3AC4-ADF8034AF595}"/>
          </ac:spMkLst>
        </pc:spChg>
        <pc:spChg chg="mod">
          <ac:chgData name="Saranya Gunasegaram Narayana" userId="f6b1f743-c7c5-4716-85bf-5af81075d9ae" providerId="ADAL" clId="{5AD07161-CCDD-4878-BCB5-7AF2170B912D}" dt="2026-04-15T18:50:28.650" v="1327" actId="207"/>
          <ac:spMkLst>
            <pc:docMk/>
            <pc:sldMk cId="276143933" sldId="262"/>
            <ac:spMk id="28" creationId="{8ECB84F6-B96C-62C6-93FF-910DD78CE21D}"/>
          </ac:spMkLst>
        </pc:spChg>
        <pc:spChg chg="mod">
          <ac:chgData name="Saranya Gunasegaram Narayana" userId="f6b1f743-c7c5-4716-85bf-5af81075d9ae" providerId="ADAL" clId="{5AD07161-CCDD-4878-BCB5-7AF2170B912D}" dt="2026-04-15T18:40:15.987" v="1176" actId="255"/>
          <ac:spMkLst>
            <pc:docMk/>
            <pc:sldMk cId="276143933" sldId="262"/>
            <ac:spMk id="29" creationId="{CE25C4E5-47DD-5DEE-03ED-5241E89409A0}"/>
          </ac:spMkLst>
        </pc:spChg>
        <pc:spChg chg="mod">
          <ac:chgData name="Saranya Gunasegaram Narayana" userId="f6b1f743-c7c5-4716-85bf-5af81075d9ae" providerId="ADAL" clId="{5AD07161-CCDD-4878-BCB5-7AF2170B912D}" dt="2026-04-15T18:46:54.433" v="1269" actId="255"/>
          <ac:spMkLst>
            <pc:docMk/>
            <pc:sldMk cId="276143933" sldId="262"/>
            <ac:spMk id="30" creationId="{FCB3915B-BD37-FA5D-B8F5-885E5C9A927F}"/>
          </ac:spMkLst>
        </pc:spChg>
        <pc:spChg chg="add mod">
          <ac:chgData name="Saranya Gunasegaram Narayana" userId="f6b1f743-c7c5-4716-85bf-5af81075d9ae" providerId="ADAL" clId="{5AD07161-CCDD-4878-BCB5-7AF2170B912D}" dt="2026-04-15T19:17:45.364" v="1587" actId="207"/>
          <ac:spMkLst>
            <pc:docMk/>
            <pc:sldMk cId="276143933" sldId="262"/>
            <ac:spMk id="31" creationId="{04922BB1-D1BA-2511-F396-4211D8CF3D47}"/>
          </ac:spMkLst>
        </pc:spChg>
        <pc:spChg chg="add mod">
          <ac:chgData name="Saranya Gunasegaram Narayana" userId="f6b1f743-c7c5-4716-85bf-5af81075d9ae" providerId="ADAL" clId="{5AD07161-CCDD-4878-BCB5-7AF2170B912D}" dt="2026-04-15T18:50:42.731" v="1329" actId="207"/>
          <ac:spMkLst>
            <pc:docMk/>
            <pc:sldMk cId="276143933" sldId="262"/>
            <ac:spMk id="32" creationId="{E9A2120F-BAE0-0A35-08E9-26EED7B2B749}"/>
          </ac:spMkLst>
        </pc:spChg>
        <pc:spChg chg="add mod">
          <ac:chgData name="Saranya Gunasegaram Narayana" userId="f6b1f743-c7c5-4716-85bf-5af81075d9ae" providerId="ADAL" clId="{5AD07161-CCDD-4878-BCB5-7AF2170B912D}" dt="2026-04-15T18:48:34.612" v="1308" actId="14100"/>
          <ac:spMkLst>
            <pc:docMk/>
            <pc:sldMk cId="276143933" sldId="262"/>
            <ac:spMk id="33" creationId="{5B01A488-8B60-0B85-BB74-325C54C36AEE}"/>
          </ac:spMkLst>
        </pc:spChg>
        <pc:spChg chg="mod">
          <ac:chgData name="Saranya Gunasegaram Narayana" userId="f6b1f743-c7c5-4716-85bf-5af81075d9ae" providerId="ADAL" clId="{5AD07161-CCDD-4878-BCB5-7AF2170B912D}" dt="2026-04-15T18:48:51.387" v="1312" actId="113"/>
          <ac:spMkLst>
            <pc:docMk/>
            <pc:sldMk cId="276143933" sldId="262"/>
            <ac:spMk id="34" creationId="{015102A2-737A-D3C4-F8E9-39ED18408F6B}"/>
          </ac:spMkLst>
        </pc:spChg>
        <pc:spChg chg="mod">
          <ac:chgData name="Saranya Gunasegaram Narayana" userId="f6b1f743-c7c5-4716-85bf-5af81075d9ae" providerId="ADAL" clId="{5AD07161-CCDD-4878-BCB5-7AF2170B912D}" dt="2026-04-15T18:47:08.250" v="1272" actId="255"/>
          <ac:spMkLst>
            <pc:docMk/>
            <pc:sldMk cId="276143933" sldId="262"/>
            <ac:spMk id="36" creationId="{90D83F63-A7DE-1A75-F8C1-0BA094468F67}"/>
          </ac:spMkLst>
        </pc:spChg>
        <pc:spChg chg="add mod">
          <ac:chgData name="Saranya Gunasegaram Narayana" userId="f6b1f743-c7c5-4716-85bf-5af81075d9ae" providerId="ADAL" clId="{5AD07161-CCDD-4878-BCB5-7AF2170B912D}" dt="2026-04-15T19:17:55.526" v="1590" actId="207"/>
          <ac:spMkLst>
            <pc:docMk/>
            <pc:sldMk cId="276143933" sldId="262"/>
            <ac:spMk id="37" creationId="{ECAEB705-1F0A-41A3-01F0-86F037AC7471}"/>
          </ac:spMkLst>
        </pc:spChg>
        <pc:spChg chg="mod">
          <ac:chgData name="Saranya Gunasegaram Narayana" userId="f6b1f743-c7c5-4716-85bf-5af81075d9ae" providerId="ADAL" clId="{5AD07161-CCDD-4878-BCB5-7AF2170B912D}" dt="2026-04-15T18:47:27.865" v="1278" actId="255"/>
          <ac:spMkLst>
            <pc:docMk/>
            <pc:sldMk cId="276143933" sldId="262"/>
            <ac:spMk id="38" creationId="{3EE133F9-507B-8DDA-CC24-C08481637E35}"/>
          </ac:spMkLst>
        </pc:spChg>
        <pc:spChg chg="mod">
          <ac:chgData name="Saranya Gunasegaram Narayana" userId="f6b1f743-c7c5-4716-85bf-5af81075d9ae" providerId="ADAL" clId="{5AD07161-CCDD-4878-BCB5-7AF2170B912D}" dt="2026-04-15T18:52:47.707" v="1345" actId="1076"/>
          <ac:spMkLst>
            <pc:docMk/>
            <pc:sldMk cId="276143933" sldId="262"/>
            <ac:spMk id="40" creationId="{9AF5BDCE-9A89-3493-F9DC-3DD2C050455D}"/>
          </ac:spMkLst>
        </pc:spChg>
      </pc:sldChg>
      <pc:sldChg chg="addSp delSp modSp add mod modNotesTx">
        <pc:chgData name="Saranya Gunasegaram Narayana" userId="f6b1f743-c7c5-4716-85bf-5af81075d9ae" providerId="ADAL" clId="{5AD07161-CCDD-4878-BCB5-7AF2170B912D}" dt="2026-04-16T18:09:09.725" v="4210" actId="20577"/>
        <pc:sldMkLst>
          <pc:docMk/>
          <pc:sldMk cId="1681446485" sldId="263"/>
        </pc:sldMkLst>
        <pc:spChg chg="mod">
          <ac:chgData name="Saranya Gunasegaram Narayana" userId="f6b1f743-c7c5-4716-85bf-5af81075d9ae" providerId="ADAL" clId="{5AD07161-CCDD-4878-BCB5-7AF2170B912D}" dt="2026-04-15T18:23:04.566" v="968" actId="20577"/>
          <ac:spMkLst>
            <pc:docMk/>
            <pc:sldMk cId="1681446485" sldId="263"/>
            <ac:spMk id="2" creationId="{3DB1EA2C-B1E7-9EE1-2D79-601309025CCB}"/>
          </ac:spMkLst>
        </pc:spChg>
        <pc:spChg chg="add mod">
          <ac:chgData name="Saranya Gunasegaram Narayana" userId="f6b1f743-c7c5-4716-85bf-5af81075d9ae" providerId="ADAL" clId="{5AD07161-CCDD-4878-BCB5-7AF2170B912D}" dt="2026-04-15T22:42:41.426" v="2324" actId="14100"/>
          <ac:spMkLst>
            <pc:docMk/>
            <pc:sldMk cId="1681446485" sldId="263"/>
            <ac:spMk id="5" creationId="{C514457E-428B-0EA8-2572-41361B52E45C}"/>
          </ac:spMkLst>
        </pc:spChg>
        <pc:spChg chg="add mod">
          <ac:chgData name="Saranya Gunasegaram Narayana" userId="f6b1f743-c7c5-4716-85bf-5af81075d9ae" providerId="ADAL" clId="{5AD07161-CCDD-4878-BCB5-7AF2170B912D}" dt="2026-04-15T23:59:24.329" v="2692" actId="20577"/>
          <ac:spMkLst>
            <pc:docMk/>
            <pc:sldMk cId="1681446485" sldId="263"/>
            <ac:spMk id="6" creationId="{BB6AEA7E-AEBA-00BB-3E66-B2728C2A6AA3}"/>
          </ac:spMkLst>
        </pc:spChg>
        <pc:spChg chg="add mod">
          <ac:chgData name="Saranya Gunasegaram Narayana" userId="f6b1f743-c7c5-4716-85bf-5af81075d9ae" providerId="ADAL" clId="{5AD07161-CCDD-4878-BCB5-7AF2170B912D}" dt="2026-04-15T18:32:36.445" v="1069" actId="207"/>
          <ac:spMkLst>
            <pc:docMk/>
            <pc:sldMk cId="1681446485" sldId="263"/>
            <ac:spMk id="8" creationId="{3E90AABD-2A1B-2DCF-F280-1C0C7A966603}"/>
          </ac:spMkLst>
        </pc:spChg>
        <pc:spChg chg="add del mod">
          <ac:chgData name="Saranya Gunasegaram Narayana" userId="f6b1f743-c7c5-4716-85bf-5af81075d9ae" providerId="ADAL" clId="{5AD07161-CCDD-4878-BCB5-7AF2170B912D}" dt="2026-04-15T20:01:03.735" v="1979" actId="12"/>
          <ac:spMkLst>
            <pc:docMk/>
            <pc:sldMk cId="1681446485" sldId="263"/>
            <ac:spMk id="10" creationId="{7B0B2EAA-5E7F-09A8-D3FD-2605131AABF7}"/>
          </ac:spMkLst>
        </pc:spChg>
        <pc:spChg chg="add mod">
          <ac:chgData name="Saranya Gunasegaram Narayana" userId="f6b1f743-c7c5-4716-85bf-5af81075d9ae" providerId="ADAL" clId="{5AD07161-CCDD-4878-BCB5-7AF2170B912D}" dt="2026-04-15T18:32:36.445" v="1069" actId="207"/>
          <ac:spMkLst>
            <pc:docMk/>
            <pc:sldMk cId="1681446485" sldId="263"/>
            <ac:spMk id="11" creationId="{7B0B2EAA-5E7F-09A8-D3FD-2605131AABF7}"/>
          </ac:spMkLst>
        </pc:spChg>
        <pc:graphicFrameChg chg="add mod modGraphic">
          <ac:chgData name="Saranya Gunasegaram Narayana" userId="f6b1f743-c7c5-4716-85bf-5af81075d9ae" providerId="ADAL" clId="{5AD07161-CCDD-4878-BCB5-7AF2170B912D}" dt="2026-04-15T23:04:21.831" v="2457" actId="20577"/>
          <ac:graphicFrameMkLst>
            <pc:docMk/>
            <pc:sldMk cId="1681446485" sldId="263"/>
            <ac:graphicFrameMk id="3" creationId="{360A5D93-4E01-7582-F75B-BCA2505601F8}"/>
          </ac:graphicFrameMkLst>
        </pc:graphicFrameChg>
      </pc:sldChg>
      <pc:sldChg chg="addSp delSp modSp add mod modNotesTx">
        <pc:chgData name="Saranya Gunasegaram Narayana" userId="f6b1f743-c7c5-4716-85bf-5af81075d9ae" providerId="ADAL" clId="{5AD07161-CCDD-4878-BCB5-7AF2170B912D}" dt="2026-04-16T17:57:22.872" v="4206" actId="20577"/>
        <pc:sldMkLst>
          <pc:docMk/>
          <pc:sldMk cId="3886299615" sldId="264"/>
        </pc:sldMkLst>
        <pc:spChg chg="mod">
          <ac:chgData name="Saranya Gunasegaram Narayana" userId="f6b1f743-c7c5-4716-85bf-5af81075d9ae" providerId="ADAL" clId="{5AD07161-CCDD-4878-BCB5-7AF2170B912D}" dt="2026-04-15T18:33:13.420" v="1079" actId="20577"/>
          <ac:spMkLst>
            <pc:docMk/>
            <pc:sldMk cId="3886299615" sldId="264"/>
            <ac:spMk id="2" creationId="{DD6EDCA8-47AD-A3B4-DB0D-BF1AB35137AD}"/>
          </ac:spMkLst>
        </pc:spChg>
        <pc:spChg chg="add mod">
          <ac:chgData name="Saranya Gunasegaram Narayana" userId="f6b1f743-c7c5-4716-85bf-5af81075d9ae" providerId="ADAL" clId="{5AD07161-CCDD-4878-BCB5-7AF2170B912D}" dt="2026-04-15T23:04:53.950" v="2459" actId="207"/>
          <ac:spMkLst>
            <pc:docMk/>
            <pc:sldMk cId="3886299615" sldId="264"/>
            <ac:spMk id="3" creationId="{E9FD192A-6EEC-5D48-CC29-E44A927B9CED}"/>
          </ac:spMkLst>
        </pc:spChg>
        <pc:spChg chg="add mod">
          <ac:chgData name="Saranya Gunasegaram Narayana" userId="f6b1f743-c7c5-4716-85bf-5af81075d9ae" providerId="ADAL" clId="{5AD07161-CCDD-4878-BCB5-7AF2170B912D}" dt="2026-04-15T19:17:02.707" v="1585" actId="1076"/>
          <ac:spMkLst>
            <pc:docMk/>
            <pc:sldMk cId="3886299615" sldId="264"/>
            <ac:spMk id="5" creationId="{D7FE14A8-6E9A-492C-E908-857D89518A74}"/>
          </ac:spMkLst>
        </pc:spChg>
        <pc:picChg chg="add mod">
          <ac:chgData name="Saranya Gunasegaram Narayana" userId="f6b1f743-c7c5-4716-85bf-5af81075d9ae" providerId="ADAL" clId="{5AD07161-CCDD-4878-BCB5-7AF2170B912D}" dt="2026-04-15T19:16:11.554" v="1578" actId="1076"/>
          <ac:picMkLst>
            <pc:docMk/>
            <pc:sldMk cId="3886299615" sldId="264"/>
            <ac:picMk id="4" creationId="{72158C20-3835-7B04-9EA2-88BCE3BEF622}"/>
          </ac:picMkLst>
        </pc:picChg>
      </pc:sldChg>
      <pc:sldChg chg="addSp delSp modSp add mod modNotesTx">
        <pc:chgData name="Saranya Gunasegaram Narayana" userId="f6b1f743-c7c5-4716-85bf-5af81075d9ae" providerId="ADAL" clId="{5AD07161-CCDD-4878-BCB5-7AF2170B912D}" dt="2026-04-16T18:13:57.908" v="4280" actId="255"/>
        <pc:sldMkLst>
          <pc:docMk/>
          <pc:sldMk cId="3220913657" sldId="265"/>
        </pc:sldMkLst>
        <pc:spChg chg="mod">
          <ac:chgData name="Saranya Gunasegaram Narayana" userId="f6b1f743-c7c5-4716-85bf-5af81075d9ae" providerId="ADAL" clId="{5AD07161-CCDD-4878-BCB5-7AF2170B912D}" dt="2026-04-15T20:49:22.233" v="2303" actId="20577"/>
          <ac:spMkLst>
            <pc:docMk/>
            <pc:sldMk cId="3220913657" sldId="265"/>
            <ac:spMk id="2" creationId="{549F9EC0-8606-D7D4-22BF-6474DE14C778}"/>
          </ac:spMkLst>
        </pc:spChg>
        <pc:spChg chg="add mod">
          <ac:chgData name="Saranya Gunasegaram Narayana" userId="f6b1f743-c7c5-4716-85bf-5af81075d9ae" providerId="ADAL" clId="{5AD07161-CCDD-4878-BCB5-7AF2170B912D}" dt="2026-04-16T18:13:57.908" v="4280" actId="255"/>
          <ac:spMkLst>
            <pc:docMk/>
            <pc:sldMk cId="3220913657" sldId="265"/>
            <ac:spMk id="3" creationId="{C2E300C7-2DF5-253D-855A-DB5E5C588CD7}"/>
          </ac:spMkLst>
        </pc:spChg>
        <pc:spChg chg="add mod">
          <ac:chgData name="Saranya Gunasegaram Narayana" userId="f6b1f743-c7c5-4716-85bf-5af81075d9ae" providerId="ADAL" clId="{5AD07161-CCDD-4878-BCB5-7AF2170B912D}" dt="2026-04-15T19:34:45.292" v="1679" actId="1076"/>
          <ac:spMkLst>
            <pc:docMk/>
            <pc:sldMk cId="3220913657" sldId="265"/>
            <ac:spMk id="4" creationId="{E646A19C-8CCE-4E93-B265-8438A567AB70}"/>
          </ac:spMkLst>
        </pc:spChg>
        <pc:spChg chg="mod">
          <ac:chgData name="Saranya Gunasegaram Narayana" userId="f6b1f743-c7c5-4716-85bf-5af81075d9ae" providerId="ADAL" clId="{5AD07161-CCDD-4878-BCB5-7AF2170B912D}" dt="2026-04-15T22:48:20.068" v="2345" actId="14100"/>
          <ac:spMkLst>
            <pc:docMk/>
            <pc:sldMk cId="3220913657" sldId="265"/>
            <ac:spMk id="5" creationId="{1CB1CFC4-0C59-DBF8-50F3-A5CF17A6624F}"/>
          </ac:spMkLst>
        </pc:spChg>
        <pc:picChg chg="add mod">
          <ac:chgData name="Saranya Gunasegaram Narayana" userId="f6b1f743-c7c5-4716-85bf-5af81075d9ae" providerId="ADAL" clId="{5AD07161-CCDD-4878-BCB5-7AF2170B912D}" dt="2026-04-15T19:34:38.012" v="1676" actId="1076"/>
          <ac:picMkLst>
            <pc:docMk/>
            <pc:sldMk cId="3220913657" sldId="265"/>
            <ac:picMk id="92" creationId="{7A517C88-E6BF-CBFF-1747-7CB8768A4447}"/>
          </ac:picMkLst>
        </pc:picChg>
      </pc:sldChg>
      <pc:sldChg chg="addSp delSp modSp add mod modNotesTx">
        <pc:chgData name="Saranya Gunasegaram Narayana" userId="f6b1f743-c7c5-4716-85bf-5af81075d9ae" providerId="ADAL" clId="{5AD07161-CCDD-4878-BCB5-7AF2170B912D}" dt="2026-04-16T18:13:06.312" v="4278" actId="20577"/>
        <pc:sldMkLst>
          <pc:docMk/>
          <pc:sldMk cId="3956803950" sldId="266"/>
        </pc:sldMkLst>
        <pc:spChg chg="mod">
          <ac:chgData name="Saranya Gunasegaram Narayana" userId="f6b1f743-c7c5-4716-85bf-5af81075d9ae" providerId="ADAL" clId="{5AD07161-CCDD-4878-BCB5-7AF2170B912D}" dt="2026-04-15T19:56:28.501" v="1873" actId="313"/>
          <ac:spMkLst>
            <pc:docMk/>
            <pc:sldMk cId="3956803950" sldId="266"/>
            <ac:spMk id="2" creationId="{DD914378-B7FB-B45E-D47A-BD093B17C51B}"/>
          </ac:spMkLst>
        </pc:spChg>
        <pc:spChg chg="add mod">
          <ac:chgData name="Saranya Gunasegaram Narayana" userId="f6b1f743-c7c5-4716-85bf-5af81075d9ae" providerId="ADAL" clId="{5AD07161-CCDD-4878-BCB5-7AF2170B912D}" dt="2026-04-16T14:40:49.720" v="4131" actId="14100"/>
          <ac:spMkLst>
            <pc:docMk/>
            <pc:sldMk cId="3956803950" sldId="266"/>
            <ac:spMk id="3" creationId="{0B10B416-F5C0-132E-E7CF-8165080326BF}"/>
          </ac:spMkLst>
        </pc:spChg>
        <pc:spChg chg="mod">
          <ac:chgData name="Saranya Gunasegaram Narayana" userId="f6b1f743-c7c5-4716-85bf-5af81075d9ae" providerId="ADAL" clId="{5AD07161-CCDD-4878-BCB5-7AF2170B912D}" dt="2026-04-16T14:40:00.367" v="4128" actId="207"/>
          <ac:spMkLst>
            <pc:docMk/>
            <pc:sldMk cId="3956803950" sldId="266"/>
            <ac:spMk id="5" creationId="{62B83193-C2DF-65B0-CF96-00865296EC7B}"/>
          </ac:spMkLst>
        </pc:spChg>
        <pc:spChg chg="add mod">
          <ac:chgData name="Saranya Gunasegaram Narayana" userId="f6b1f743-c7c5-4716-85bf-5af81075d9ae" providerId="ADAL" clId="{5AD07161-CCDD-4878-BCB5-7AF2170B912D}" dt="2026-04-15T19:56:21.804" v="1870" actId="1076"/>
          <ac:spMkLst>
            <pc:docMk/>
            <pc:sldMk cId="3956803950" sldId="266"/>
            <ac:spMk id="6" creationId="{299779C4-43A8-732D-0F49-4BD41BC85A2C}"/>
          </ac:spMkLst>
        </pc:spChg>
        <pc:spChg chg="add mod">
          <ac:chgData name="Saranya Gunasegaram Narayana" userId="f6b1f743-c7c5-4716-85bf-5af81075d9ae" providerId="ADAL" clId="{5AD07161-CCDD-4878-BCB5-7AF2170B912D}" dt="2026-04-15T19:37:46.871" v="1690" actId="21"/>
          <ac:spMkLst>
            <pc:docMk/>
            <pc:sldMk cId="3956803950" sldId="266"/>
            <ac:spMk id="7" creationId="{9EF22AF7-A37E-ACD4-6853-CCAAF4E1E88B}"/>
          </ac:spMkLst>
        </pc:spChg>
        <pc:spChg chg="add mod">
          <ac:chgData name="Saranya Gunasegaram Narayana" userId="f6b1f743-c7c5-4716-85bf-5af81075d9ae" providerId="ADAL" clId="{5AD07161-CCDD-4878-BCB5-7AF2170B912D}" dt="2026-04-15T19:56:21.804" v="1870" actId="1076"/>
          <ac:spMkLst>
            <pc:docMk/>
            <pc:sldMk cId="3956803950" sldId="266"/>
            <ac:spMk id="8" creationId="{E28E233D-79F9-1FFF-C7EA-8CD1867D3D61}"/>
          </ac:spMkLst>
        </pc:spChg>
        <pc:spChg chg="mod">
          <ac:chgData name="Saranya Gunasegaram Narayana" userId="f6b1f743-c7c5-4716-85bf-5af81075d9ae" providerId="ADAL" clId="{5AD07161-CCDD-4878-BCB5-7AF2170B912D}" dt="2026-04-15T19:38:07.064" v="1697" actId="21"/>
          <ac:spMkLst>
            <pc:docMk/>
            <pc:sldMk cId="3956803950" sldId="266"/>
            <ac:spMk id="9" creationId="{13E21643-2C02-CB9E-7B37-6154532D17E8}"/>
          </ac:spMkLst>
        </pc:spChg>
        <pc:spChg chg="mod">
          <ac:chgData name="Saranya Gunasegaram Narayana" userId="f6b1f743-c7c5-4716-85bf-5af81075d9ae" providerId="ADAL" clId="{5AD07161-CCDD-4878-BCB5-7AF2170B912D}" dt="2026-04-15T19:56:21.804" v="1870" actId="1076"/>
          <ac:spMkLst>
            <pc:docMk/>
            <pc:sldMk cId="3956803950" sldId="266"/>
            <ac:spMk id="10" creationId="{22E5EADD-8AEA-D218-DBAA-A2002ACF8EEE}"/>
          </ac:spMkLst>
        </pc:spChg>
        <pc:spChg chg="mod">
          <ac:chgData name="Saranya Gunasegaram Narayana" userId="f6b1f743-c7c5-4716-85bf-5af81075d9ae" providerId="ADAL" clId="{5AD07161-CCDD-4878-BCB5-7AF2170B912D}" dt="2026-04-16T14:40:45.632" v="4130" actId="14100"/>
          <ac:spMkLst>
            <pc:docMk/>
            <pc:sldMk cId="3956803950" sldId="266"/>
            <ac:spMk id="11" creationId="{6420CBDC-26CF-8BCA-5182-AFB095A9806E}"/>
          </ac:spMkLst>
        </pc:spChg>
        <pc:spChg chg="add mod">
          <ac:chgData name="Saranya Gunasegaram Narayana" userId="f6b1f743-c7c5-4716-85bf-5af81075d9ae" providerId="ADAL" clId="{5AD07161-CCDD-4878-BCB5-7AF2170B912D}" dt="2026-04-16T14:39:25.669" v="4126" actId="207"/>
          <ac:spMkLst>
            <pc:docMk/>
            <pc:sldMk cId="3956803950" sldId="266"/>
            <ac:spMk id="13" creationId="{AD2709B7-4E5B-AFC0-46E7-427D84450836}"/>
          </ac:spMkLst>
        </pc:spChg>
        <pc:spChg chg="mod">
          <ac:chgData name="Saranya Gunasegaram Narayana" userId="f6b1f743-c7c5-4716-85bf-5af81075d9ae" providerId="ADAL" clId="{5AD07161-CCDD-4878-BCB5-7AF2170B912D}" dt="2026-04-15T19:56:21.804" v="1870" actId="1076"/>
          <ac:spMkLst>
            <pc:docMk/>
            <pc:sldMk cId="3956803950" sldId="266"/>
            <ac:spMk id="14" creationId="{8CAE9D74-63C5-C03A-677F-01CAA7696FAB}"/>
          </ac:spMkLst>
        </pc:spChg>
        <pc:spChg chg="add mod">
          <ac:chgData name="Saranya Gunasegaram Narayana" userId="f6b1f743-c7c5-4716-85bf-5af81075d9ae" providerId="ADAL" clId="{5AD07161-CCDD-4878-BCB5-7AF2170B912D}" dt="2026-04-15T19:56:21.804" v="1870" actId="1076"/>
          <ac:spMkLst>
            <pc:docMk/>
            <pc:sldMk cId="3956803950" sldId="266"/>
            <ac:spMk id="15" creationId="{998BFD52-34E6-E961-E294-F52041465457}"/>
          </ac:spMkLst>
        </pc:spChg>
        <pc:spChg chg="mod">
          <ac:chgData name="Saranya Gunasegaram Narayana" userId="f6b1f743-c7c5-4716-85bf-5af81075d9ae" providerId="ADAL" clId="{5AD07161-CCDD-4878-BCB5-7AF2170B912D}" dt="2026-04-15T19:56:21.804" v="1870" actId="1076"/>
          <ac:spMkLst>
            <pc:docMk/>
            <pc:sldMk cId="3956803950" sldId="266"/>
            <ac:spMk id="16" creationId="{8C8DB552-D4F1-39F7-2CE7-C4CEB5694CD9}"/>
          </ac:spMkLst>
        </pc:spChg>
        <pc:spChg chg="add mod">
          <ac:chgData name="Saranya Gunasegaram Narayana" userId="f6b1f743-c7c5-4716-85bf-5af81075d9ae" providerId="ADAL" clId="{5AD07161-CCDD-4878-BCB5-7AF2170B912D}" dt="2026-04-15T19:39:37.202" v="1727" actId="21"/>
          <ac:spMkLst>
            <pc:docMk/>
            <pc:sldMk cId="3956803950" sldId="266"/>
            <ac:spMk id="18" creationId="{64718E4E-FD54-B503-AB0F-E711FF611C76}"/>
          </ac:spMkLst>
        </pc:spChg>
        <pc:spChg chg="mod">
          <ac:chgData name="Saranya Gunasegaram Narayana" userId="f6b1f743-c7c5-4716-85bf-5af81075d9ae" providerId="ADAL" clId="{5AD07161-CCDD-4878-BCB5-7AF2170B912D}" dt="2026-04-15T19:56:21.804" v="1870" actId="1076"/>
          <ac:spMkLst>
            <pc:docMk/>
            <pc:sldMk cId="3956803950" sldId="266"/>
            <ac:spMk id="19" creationId="{5A853E7B-0F40-5B22-EEA1-9E4A1F0AC947}"/>
          </ac:spMkLst>
        </pc:spChg>
        <pc:spChg chg="add mod">
          <ac:chgData name="Saranya Gunasegaram Narayana" userId="f6b1f743-c7c5-4716-85bf-5af81075d9ae" providerId="ADAL" clId="{5AD07161-CCDD-4878-BCB5-7AF2170B912D}" dt="2026-04-15T19:56:21.804" v="1870" actId="1076"/>
          <ac:spMkLst>
            <pc:docMk/>
            <pc:sldMk cId="3956803950" sldId="266"/>
            <ac:spMk id="20" creationId="{AEF7DD03-473D-0B1B-4556-4FF8E9E98DF5}"/>
          </ac:spMkLst>
        </pc:spChg>
        <pc:spChg chg="mod">
          <ac:chgData name="Saranya Gunasegaram Narayana" userId="f6b1f743-c7c5-4716-85bf-5af81075d9ae" providerId="ADAL" clId="{5AD07161-CCDD-4878-BCB5-7AF2170B912D}" dt="2026-04-16T14:40:53.990" v="4132" actId="1076"/>
          <ac:spMkLst>
            <pc:docMk/>
            <pc:sldMk cId="3956803950" sldId="266"/>
            <ac:spMk id="22" creationId="{F5A0250E-A52F-F11B-8AB0-96DC966D85C4}"/>
          </ac:spMkLst>
        </pc:spChg>
      </pc:sldChg>
      <pc:sldChg chg="addSp delSp modSp add mod modNotesTx">
        <pc:chgData name="Saranya Gunasegaram Narayana" userId="f6b1f743-c7c5-4716-85bf-5af81075d9ae" providerId="ADAL" clId="{5AD07161-CCDD-4878-BCB5-7AF2170B912D}" dt="2026-04-16T14:28:38.402" v="4088" actId="12"/>
        <pc:sldMkLst>
          <pc:docMk/>
          <pc:sldMk cId="2754754923" sldId="267"/>
        </pc:sldMkLst>
        <pc:spChg chg="mod">
          <ac:chgData name="Saranya Gunasegaram Narayana" userId="f6b1f743-c7c5-4716-85bf-5af81075d9ae" providerId="ADAL" clId="{5AD07161-CCDD-4878-BCB5-7AF2170B912D}" dt="2026-04-15T19:59:39.020" v="1910" actId="313"/>
          <ac:spMkLst>
            <pc:docMk/>
            <pc:sldMk cId="2754754923" sldId="267"/>
            <ac:spMk id="2" creationId="{1CF97FE2-F91E-DF52-38C7-DA41AFB291B1}"/>
          </ac:spMkLst>
        </pc:spChg>
        <pc:spChg chg="add mod">
          <ac:chgData name="Saranya Gunasegaram Narayana" userId="f6b1f743-c7c5-4716-85bf-5af81075d9ae" providerId="ADAL" clId="{5AD07161-CCDD-4878-BCB5-7AF2170B912D}" dt="2026-04-15T22:50:58.920" v="2363" actId="113"/>
          <ac:spMkLst>
            <pc:docMk/>
            <pc:sldMk cId="2754754923" sldId="267"/>
            <ac:spMk id="55" creationId="{FF6D83A3-CF53-DB44-FAF1-352B9CBFBD54}"/>
          </ac:spMkLst>
        </pc:spChg>
        <pc:picChg chg="add mod">
          <ac:chgData name="Saranya Gunasegaram Narayana" userId="f6b1f743-c7c5-4716-85bf-5af81075d9ae" providerId="ADAL" clId="{5AD07161-CCDD-4878-BCB5-7AF2170B912D}" dt="2026-04-15T20:05:40.113" v="2030" actId="1076"/>
          <ac:picMkLst>
            <pc:docMk/>
            <pc:sldMk cId="2754754923" sldId="267"/>
            <ac:picMk id="46" creationId="{705A7980-6EA7-780F-8D25-413779D9CA46}"/>
          </ac:picMkLst>
        </pc:picChg>
        <pc:picChg chg="add mod">
          <ac:chgData name="Saranya Gunasegaram Narayana" userId="f6b1f743-c7c5-4716-85bf-5af81075d9ae" providerId="ADAL" clId="{5AD07161-CCDD-4878-BCB5-7AF2170B912D}" dt="2026-04-15T20:06:02.898" v="2035" actId="1076"/>
          <ac:picMkLst>
            <pc:docMk/>
            <pc:sldMk cId="2754754923" sldId="267"/>
            <ac:picMk id="53" creationId="{F39C0537-FF83-7518-072C-7753F931886B}"/>
          </ac:picMkLst>
        </pc:picChg>
      </pc:sldChg>
      <pc:sldChg chg="addSp delSp modSp add mod modNotesTx">
        <pc:chgData name="Saranya Gunasegaram Narayana" userId="f6b1f743-c7c5-4716-85bf-5af81075d9ae" providerId="ADAL" clId="{5AD07161-CCDD-4878-BCB5-7AF2170B912D}" dt="2026-04-16T14:51:29.012" v="4144" actId="20577"/>
        <pc:sldMkLst>
          <pc:docMk/>
          <pc:sldMk cId="1719763840" sldId="268"/>
        </pc:sldMkLst>
        <pc:spChg chg="mod">
          <ac:chgData name="Saranya Gunasegaram Narayana" userId="f6b1f743-c7c5-4716-85bf-5af81075d9ae" providerId="ADAL" clId="{5AD07161-CCDD-4878-BCB5-7AF2170B912D}" dt="2026-04-15T20:36:34.061" v="2085" actId="20577"/>
          <ac:spMkLst>
            <pc:docMk/>
            <pc:sldMk cId="1719763840" sldId="268"/>
            <ac:spMk id="2" creationId="{67B5BAB0-1336-AFBA-854E-38BA8069B890}"/>
          </ac:spMkLst>
        </pc:spChg>
        <pc:spChg chg="add mod">
          <ac:chgData name="Saranya Gunasegaram Narayana" userId="f6b1f743-c7c5-4716-85bf-5af81075d9ae" providerId="ADAL" clId="{5AD07161-CCDD-4878-BCB5-7AF2170B912D}" dt="2026-04-15T22:50:13.330" v="2358" actId="20577"/>
          <ac:spMkLst>
            <pc:docMk/>
            <pc:sldMk cId="1719763840" sldId="268"/>
            <ac:spMk id="3" creationId="{6FA4FFAC-2051-FFC3-4345-5206D7976284}"/>
          </ac:spMkLst>
        </pc:spChg>
        <pc:picChg chg="add mod">
          <ac:chgData name="Saranya Gunasegaram Narayana" userId="f6b1f743-c7c5-4716-85bf-5af81075d9ae" providerId="ADAL" clId="{5AD07161-CCDD-4878-BCB5-7AF2170B912D}" dt="2026-04-15T20:37:06.610" v="2088" actId="1076"/>
          <ac:picMkLst>
            <pc:docMk/>
            <pc:sldMk cId="1719763840" sldId="268"/>
            <ac:picMk id="4" creationId="{8444C829-9EC6-E9AF-51D6-77329F4624E6}"/>
          </ac:picMkLst>
        </pc:picChg>
        <pc:picChg chg="add mod">
          <ac:chgData name="Saranya Gunasegaram Narayana" userId="f6b1f743-c7c5-4716-85bf-5af81075d9ae" providerId="ADAL" clId="{5AD07161-CCDD-4878-BCB5-7AF2170B912D}" dt="2026-04-15T20:37:39.479" v="2093" actId="14100"/>
          <ac:picMkLst>
            <pc:docMk/>
            <pc:sldMk cId="1719763840" sldId="268"/>
            <ac:picMk id="6" creationId="{69214F8D-7CCB-A296-4BBB-2ED6FF3E55EA}"/>
          </ac:picMkLst>
        </pc:picChg>
      </pc:sldChg>
      <pc:sldChg chg="addSp delSp modSp add mod modNotesTx">
        <pc:chgData name="Saranya Gunasegaram Narayana" userId="f6b1f743-c7c5-4716-85bf-5af81075d9ae" providerId="ADAL" clId="{5AD07161-CCDD-4878-BCB5-7AF2170B912D}" dt="2026-04-16T15:06:49.695" v="4165" actId="20577"/>
        <pc:sldMkLst>
          <pc:docMk/>
          <pc:sldMk cId="3215265732" sldId="269"/>
        </pc:sldMkLst>
        <pc:spChg chg="mod">
          <ac:chgData name="Saranya Gunasegaram Narayana" userId="f6b1f743-c7c5-4716-85bf-5af81075d9ae" providerId="ADAL" clId="{5AD07161-CCDD-4878-BCB5-7AF2170B912D}" dt="2026-04-15T20:44:02.273" v="2205" actId="20577"/>
          <ac:spMkLst>
            <pc:docMk/>
            <pc:sldMk cId="3215265732" sldId="269"/>
            <ac:spMk id="2" creationId="{E9B0D100-9290-D433-971E-D163897C3F41}"/>
          </ac:spMkLst>
        </pc:spChg>
        <pc:spChg chg="add mod">
          <ac:chgData name="Saranya Gunasegaram Narayana" userId="f6b1f743-c7c5-4716-85bf-5af81075d9ae" providerId="ADAL" clId="{5AD07161-CCDD-4878-BCB5-7AF2170B912D}" dt="2026-04-15T22:51:37.576" v="2369" actId="1076"/>
          <ac:spMkLst>
            <pc:docMk/>
            <pc:sldMk cId="3215265732" sldId="269"/>
            <ac:spMk id="3" creationId="{86663C6D-E1EA-B132-AF07-E62B044BFEE1}"/>
          </ac:spMkLst>
        </pc:spChg>
        <pc:spChg chg="add mod">
          <ac:chgData name="Saranya Gunasegaram Narayana" userId="f6b1f743-c7c5-4716-85bf-5af81075d9ae" providerId="ADAL" clId="{5AD07161-CCDD-4878-BCB5-7AF2170B912D}" dt="2026-04-16T00:41:09.543" v="2733" actId="208"/>
          <ac:spMkLst>
            <pc:docMk/>
            <pc:sldMk cId="3215265732" sldId="269"/>
            <ac:spMk id="4" creationId="{26857209-A6D0-534C-C544-7F6FFDB02C3D}"/>
          </ac:spMkLst>
        </pc:spChg>
        <pc:spChg chg="mod">
          <ac:chgData name="Saranya Gunasegaram Narayana" userId="f6b1f743-c7c5-4716-85bf-5af81075d9ae" providerId="ADAL" clId="{5AD07161-CCDD-4878-BCB5-7AF2170B912D}" dt="2026-04-16T00:40:59.250" v="2731" actId="207"/>
          <ac:spMkLst>
            <pc:docMk/>
            <pc:sldMk cId="3215265732" sldId="269"/>
            <ac:spMk id="5" creationId="{5DCD2B40-8CE7-355E-8DAE-2F67CE6F3C37}"/>
          </ac:spMkLst>
        </pc:spChg>
        <pc:spChg chg="add mod">
          <ac:chgData name="Saranya Gunasegaram Narayana" userId="f6b1f743-c7c5-4716-85bf-5af81075d9ae" providerId="ADAL" clId="{5AD07161-CCDD-4878-BCB5-7AF2170B912D}" dt="2026-04-16T00:40:49.334" v="2729" actId="207"/>
          <ac:spMkLst>
            <pc:docMk/>
            <pc:sldMk cId="3215265732" sldId="269"/>
            <ac:spMk id="6" creationId="{D379ED30-E946-7D25-E429-8793583FC3A2}"/>
          </ac:spMkLst>
        </pc:spChg>
        <pc:spChg chg="mod">
          <ac:chgData name="Saranya Gunasegaram Narayana" userId="f6b1f743-c7c5-4716-85bf-5af81075d9ae" providerId="ADAL" clId="{5AD07161-CCDD-4878-BCB5-7AF2170B912D}" dt="2026-04-15T20:41:01.365" v="2121" actId="14100"/>
          <ac:spMkLst>
            <pc:docMk/>
            <pc:sldMk cId="3215265732" sldId="269"/>
            <ac:spMk id="8" creationId="{CD56D609-C293-3D14-1066-5CD769FA6B78}"/>
          </ac:spMkLst>
        </pc:spChg>
        <pc:spChg chg="add mod">
          <ac:chgData name="Saranya Gunasegaram Narayana" userId="f6b1f743-c7c5-4716-85bf-5af81075d9ae" providerId="ADAL" clId="{5AD07161-CCDD-4878-BCB5-7AF2170B912D}" dt="2026-04-15T22:53:46.174" v="2398" actId="1037"/>
          <ac:spMkLst>
            <pc:docMk/>
            <pc:sldMk cId="3215265732" sldId="269"/>
            <ac:spMk id="9" creationId="{901F8FB9-C84C-2654-20C5-A284D6E17557}"/>
          </ac:spMkLst>
        </pc:spChg>
        <pc:spChg chg="mod">
          <ac:chgData name="Saranya Gunasegaram Narayana" userId="f6b1f743-c7c5-4716-85bf-5af81075d9ae" providerId="ADAL" clId="{5AD07161-CCDD-4878-BCB5-7AF2170B912D}" dt="2026-04-15T22:52:32.531" v="2376" actId="1076"/>
          <ac:spMkLst>
            <pc:docMk/>
            <pc:sldMk cId="3215265732" sldId="269"/>
            <ac:spMk id="11" creationId="{E8AAD3BF-925F-FA48-C716-425B5713980E}"/>
          </ac:spMkLst>
        </pc:spChg>
        <pc:spChg chg="add mod">
          <ac:chgData name="Saranya Gunasegaram Narayana" userId="f6b1f743-c7c5-4716-85bf-5af81075d9ae" providerId="ADAL" clId="{5AD07161-CCDD-4878-BCB5-7AF2170B912D}" dt="2026-04-15T23:00:52.386" v="2429" actId="255"/>
          <ac:spMkLst>
            <pc:docMk/>
            <pc:sldMk cId="3215265732" sldId="269"/>
            <ac:spMk id="13" creationId="{ECDFCCFB-28C1-7084-E9BF-96A44E0CE3FD}"/>
          </ac:spMkLst>
        </pc:spChg>
        <pc:spChg chg="mod">
          <ac:chgData name="Saranya Gunasegaram Narayana" userId="f6b1f743-c7c5-4716-85bf-5af81075d9ae" providerId="ADAL" clId="{5AD07161-CCDD-4878-BCB5-7AF2170B912D}" dt="2026-04-15T22:57:51.244" v="2423" actId="255"/>
          <ac:spMkLst>
            <pc:docMk/>
            <pc:sldMk cId="3215265732" sldId="269"/>
            <ac:spMk id="15" creationId="{E7767DF9-9405-CC0D-7324-20330FB0CDE9}"/>
          </ac:spMkLst>
        </pc:spChg>
        <pc:spChg chg="add mod">
          <ac:chgData name="Saranya Gunasegaram Narayana" userId="f6b1f743-c7c5-4716-85bf-5af81075d9ae" providerId="ADAL" clId="{5AD07161-CCDD-4878-BCB5-7AF2170B912D}" dt="2026-04-15T23:00:41.124" v="2427" actId="1076"/>
          <ac:spMkLst>
            <pc:docMk/>
            <pc:sldMk cId="3215265732" sldId="269"/>
            <ac:spMk id="16" creationId="{798C9A24-C646-C770-F177-048D23F4E5A0}"/>
          </ac:spMkLst>
        </pc:spChg>
        <pc:spChg chg="mod">
          <ac:chgData name="Saranya Gunasegaram Narayana" userId="f6b1f743-c7c5-4716-85bf-5af81075d9ae" providerId="ADAL" clId="{5AD07161-CCDD-4878-BCB5-7AF2170B912D}" dt="2026-04-15T22:57:03.769" v="2415" actId="208"/>
          <ac:spMkLst>
            <pc:docMk/>
            <pc:sldMk cId="3215265732" sldId="269"/>
            <ac:spMk id="18" creationId="{9F56EA01-EFC2-E40C-B8FB-E9C5283A0E65}"/>
          </ac:spMkLst>
        </pc:spChg>
        <pc:spChg chg="mod">
          <ac:chgData name="Saranya Gunasegaram Narayana" userId="f6b1f743-c7c5-4716-85bf-5af81075d9ae" providerId="ADAL" clId="{5AD07161-CCDD-4878-BCB5-7AF2170B912D}" dt="2026-04-15T22:57:57.611" v="2424" actId="113"/>
          <ac:spMkLst>
            <pc:docMk/>
            <pc:sldMk cId="3215265732" sldId="269"/>
            <ac:spMk id="19" creationId="{44D49D82-6B8F-8EA4-6A81-C3492F503271}"/>
          </ac:spMkLst>
        </pc:spChg>
        <pc:spChg chg="mod">
          <ac:chgData name="Saranya Gunasegaram Narayana" userId="f6b1f743-c7c5-4716-85bf-5af81075d9ae" providerId="ADAL" clId="{5AD07161-CCDD-4878-BCB5-7AF2170B912D}" dt="2026-04-15T23:02:32.904" v="2444" actId="14100"/>
          <ac:spMkLst>
            <pc:docMk/>
            <pc:sldMk cId="3215265732" sldId="269"/>
            <ac:spMk id="21" creationId="{150B30D1-1659-6C88-675D-21073D896859}"/>
          </ac:spMkLst>
        </pc:spChg>
      </pc:sldChg>
      <pc:sldChg chg="addSp delSp modSp add mod modNotesTx">
        <pc:chgData name="Saranya Gunasegaram Narayana" userId="f6b1f743-c7c5-4716-85bf-5af81075d9ae" providerId="ADAL" clId="{5AD07161-CCDD-4878-BCB5-7AF2170B912D}" dt="2026-04-16T18:03:02.369" v="4208" actId="20577"/>
        <pc:sldMkLst>
          <pc:docMk/>
          <pc:sldMk cId="4025571993" sldId="270"/>
        </pc:sldMkLst>
        <pc:spChg chg="mod">
          <ac:chgData name="Saranya Gunasegaram Narayana" userId="f6b1f743-c7c5-4716-85bf-5af81075d9ae" providerId="ADAL" clId="{5AD07161-CCDD-4878-BCB5-7AF2170B912D}" dt="2026-04-15T20:49:14.342" v="2302" actId="20577"/>
          <ac:spMkLst>
            <pc:docMk/>
            <pc:sldMk cId="4025571993" sldId="270"/>
            <ac:spMk id="2" creationId="{10F5C9E5-A911-A42F-A17D-85342B4A4D53}"/>
          </ac:spMkLst>
        </pc:spChg>
        <pc:spChg chg="add mod">
          <ac:chgData name="Saranya Gunasegaram Narayana" userId="f6b1f743-c7c5-4716-85bf-5af81075d9ae" providerId="ADAL" clId="{5AD07161-CCDD-4878-BCB5-7AF2170B912D}" dt="2026-04-16T14:32:44.364" v="4114" actId="20577"/>
          <ac:spMkLst>
            <pc:docMk/>
            <pc:sldMk cId="4025571993" sldId="270"/>
            <ac:spMk id="35" creationId="{3417164A-98DC-537C-6C3E-274CF3015434}"/>
          </ac:spMkLst>
        </pc:spChg>
        <pc:picChg chg="add mod">
          <ac:chgData name="Saranya Gunasegaram Narayana" userId="f6b1f743-c7c5-4716-85bf-5af81075d9ae" providerId="ADAL" clId="{5AD07161-CCDD-4878-BCB5-7AF2170B912D}" dt="2026-04-15T23:03:34.078" v="2455" actId="1440"/>
          <ac:picMkLst>
            <pc:docMk/>
            <pc:sldMk cId="4025571993" sldId="270"/>
            <ac:picMk id="2050" creationId="{37900CC3-03C8-659E-2E6C-F2A7B9C85FEA}"/>
          </ac:picMkLst>
        </pc:picChg>
      </pc:sldChg>
      <pc:sldChg chg="delSp modSp add mod ord modNotesTx">
        <pc:chgData name="Saranya Gunasegaram Narayana" userId="f6b1f743-c7c5-4716-85bf-5af81075d9ae" providerId="ADAL" clId="{5AD07161-CCDD-4878-BCB5-7AF2170B912D}" dt="2026-04-16T17:54:06.807" v="4181" actId="20577"/>
        <pc:sldMkLst>
          <pc:docMk/>
          <pc:sldMk cId="737884724" sldId="271"/>
        </pc:sldMkLst>
        <pc:spChg chg="mod">
          <ac:chgData name="Saranya Gunasegaram Narayana" userId="f6b1f743-c7c5-4716-85bf-5af81075d9ae" providerId="ADAL" clId="{5AD07161-CCDD-4878-BCB5-7AF2170B912D}" dt="2026-04-16T01:05:40.481" v="2864" actId="14100"/>
          <ac:spMkLst>
            <pc:docMk/>
            <pc:sldMk cId="737884724" sldId="271"/>
            <ac:spMk id="9" creationId="{3C3C4AD1-C386-005A-6C9A-CD9FB693545B}"/>
          </ac:spMkLst>
        </pc:spChg>
        <pc:spChg chg="mod">
          <ac:chgData name="Saranya Gunasegaram Narayana" userId="f6b1f743-c7c5-4716-85bf-5af81075d9ae" providerId="ADAL" clId="{5AD07161-CCDD-4878-BCB5-7AF2170B912D}" dt="2026-04-16T01:08:23.329" v="2894" actId="255"/>
          <ac:spMkLst>
            <pc:docMk/>
            <pc:sldMk cId="737884724" sldId="271"/>
            <ac:spMk id="12" creationId="{56775F80-96BB-C795-FC84-24C104F3D8FF}"/>
          </ac:spMkLst>
        </pc:spChg>
        <pc:spChg chg="mod">
          <ac:chgData name="Saranya Gunasegaram Narayana" userId="f6b1f743-c7c5-4716-85bf-5af81075d9ae" providerId="ADAL" clId="{5AD07161-CCDD-4878-BCB5-7AF2170B912D}" dt="2026-04-16T01:07:12.849" v="2886" actId="207"/>
          <ac:spMkLst>
            <pc:docMk/>
            <pc:sldMk cId="737884724" sldId="271"/>
            <ac:spMk id="13" creationId="{434D8ED4-E728-A8D7-768C-26A2874529D9}"/>
          </ac:spMkLst>
        </pc:spChg>
        <pc:spChg chg="mod">
          <ac:chgData name="Saranya Gunasegaram Narayana" userId="f6b1f743-c7c5-4716-85bf-5af81075d9ae" providerId="ADAL" clId="{5AD07161-CCDD-4878-BCB5-7AF2170B912D}" dt="2026-04-16T01:05:51.980" v="2867" actId="14100"/>
          <ac:spMkLst>
            <pc:docMk/>
            <pc:sldMk cId="737884724" sldId="271"/>
            <ac:spMk id="14" creationId="{4A33C58B-393E-992B-9E13-05A300BF390E}"/>
          </ac:spMkLst>
        </pc:spChg>
        <pc:spChg chg="mod">
          <ac:chgData name="Saranya Gunasegaram Narayana" userId="f6b1f743-c7c5-4716-85bf-5af81075d9ae" providerId="ADAL" clId="{5AD07161-CCDD-4878-BCB5-7AF2170B912D}" dt="2026-04-16T01:08:28.361" v="2895" actId="255"/>
          <ac:spMkLst>
            <pc:docMk/>
            <pc:sldMk cId="737884724" sldId="271"/>
            <ac:spMk id="17" creationId="{47CE9E3A-A542-CA11-3F4A-DA8E0EC517CA}"/>
          </ac:spMkLst>
        </pc:spChg>
        <pc:spChg chg="mod">
          <ac:chgData name="Saranya Gunasegaram Narayana" userId="f6b1f743-c7c5-4716-85bf-5af81075d9ae" providerId="ADAL" clId="{5AD07161-CCDD-4878-BCB5-7AF2170B912D}" dt="2026-04-16T01:07:05.263" v="2884" actId="14100"/>
          <ac:spMkLst>
            <pc:docMk/>
            <pc:sldMk cId="737884724" sldId="271"/>
            <ac:spMk id="18" creationId="{BFFDBA00-BAF1-C72E-83C5-40AD52477994}"/>
          </ac:spMkLst>
        </pc:spChg>
        <pc:spChg chg="mod">
          <ac:chgData name="Saranya Gunasegaram Narayana" userId="f6b1f743-c7c5-4716-85bf-5af81075d9ae" providerId="ADAL" clId="{5AD07161-CCDD-4878-BCB5-7AF2170B912D}" dt="2026-04-16T01:08:11.320" v="2893" actId="14100"/>
          <ac:spMkLst>
            <pc:docMk/>
            <pc:sldMk cId="737884724" sldId="271"/>
            <ac:spMk id="19" creationId="{04796C05-AFF0-8AB6-A03A-05C68414994D}"/>
          </ac:spMkLst>
        </pc:spChg>
        <pc:spChg chg="mod">
          <ac:chgData name="Saranya Gunasegaram Narayana" userId="f6b1f743-c7c5-4716-85bf-5af81075d9ae" providerId="ADAL" clId="{5AD07161-CCDD-4878-BCB5-7AF2170B912D}" dt="2026-04-16T01:08:33.336" v="2896" actId="255"/>
          <ac:spMkLst>
            <pc:docMk/>
            <pc:sldMk cId="737884724" sldId="271"/>
            <ac:spMk id="22" creationId="{72D97395-66F7-097A-1740-77AF1EB09A76}"/>
          </ac:spMkLst>
        </pc:spChg>
        <pc:spChg chg="mod">
          <ac:chgData name="Saranya Gunasegaram Narayana" userId="f6b1f743-c7c5-4716-85bf-5af81075d9ae" providerId="ADAL" clId="{5AD07161-CCDD-4878-BCB5-7AF2170B912D}" dt="2026-04-16T01:07:27.788" v="2889" actId="1076"/>
          <ac:spMkLst>
            <pc:docMk/>
            <pc:sldMk cId="737884724" sldId="271"/>
            <ac:spMk id="23" creationId="{E6CAEBEE-405E-97A7-7524-71DBDD082F92}"/>
          </ac:spMkLst>
        </pc:spChg>
        <pc:spChg chg="mod">
          <ac:chgData name="Saranya Gunasegaram Narayana" userId="f6b1f743-c7c5-4716-85bf-5af81075d9ae" providerId="ADAL" clId="{5AD07161-CCDD-4878-BCB5-7AF2170B912D}" dt="2026-04-16T01:06:32.607" v="2877" actId="14100"/>
          <ac:spMkLst>
            <pc:docMk/>
            <pc:sldMk cId="737884724" sldId="271"/>
            <ac:spMk id="24" creationId="{FD609876-402D-EB25-54E0-2EA85D03A87F}"/>
          </ac:spMkLst>
        </pc:spChg>
        <pc:spChg chg="mod">
          <ac:chgData name="Saranya Gunasegaram Narayana" userId="f6b1f743-c7c5-4716-85bf-5af81075d9ae" providerId="ADAL" clId="{5AD07161-CCDD-4878-BCB5-7AF2170B912D}" dt="2026-04-16T01:08:37.472" v="2897" actId="255"/>
          <ac:spMkLst>
            <pc:docMk/>
            <pc:sldMk cId="737884724" sldId="271"/>
            <ac:spMk id="27" creationId="{0541B138-00B2-057F-8A18-04078E55ECD1}"/>
          </ac:spMkLst>
        </pc:spChg>
        <pc:spChg chg="mod">
          <ac:chgData name="Saranya Gunasegaram Narayana" userId="f6b1f743-c7c5-4716-85bf-5af81075d9ae" providerId="ADAL" clId="{5AD07161-CCDD-4878-BCB5-7AF2170B912D}" dt="2026-04-16T01:07:36.233" v="2892" actId="14100"/>
          <ac:spMkLst>
            <pc:docMk/>
            <pc:sldMk cId="737884724" sldId="271"/>
            <ac:spMk id="28" creationId="{F6F2DD75-6017-C4AC-F70D-C0E31D94A3F1}"/>
          </ac:spMkLst>
        </pc:spChg>
      </pc:sldChg>
      <pc:sldChg chg="add mod ord modShow">
        <pc:chgData name="Saranya Gunasegaram Narayana" userId="f6b1f743-c7c5-4716-85bf-5af81075d9ae" providerId="ADAL" clId="{5AD07161-CCDD-4878-BCB5-7AF2170B912D}" dt="2026-04-16T01:20:52.428" v="3091"/>
        <pc:sldMkLst>
          <pc:docMk/>
          <pc:sldMk cId="950511606" sldId="272"/>
        </pc:sldMkLst>
      </pc:sldChg>
      <pc:sldChg chg="addSp delSp modSp add mod setBg">
        <pc:chgData name="Saranya Gunasegaram Narayana" userId="f6b1f743-c7c5-4716-85bf-5af81075d9ae" providerId="ADAL" clId="{5AD07161-CCDD-4878-BCB5-7AF2170B912D}" dt="2026-04-16T14:53:40.268" v="4146" actId="22"/>
        <pc:sldMkLst>
          <pc:docMk/>
          <pc:sldMk cId="2530734448" sldId="273"/>
        </pc:sldMkLst>
        <pc:spChg chg="add">
          <ac:chgData name="Saranya Gunasegaram Narayana" userId="f6b1f743-c7c5-4716-85bf-5af81075d9ae" providerId="ADAL" clId="{5AD07161-CCDD-4878-BCB5-7AF2170B912D}" dt="2026-04-16T14:35:03.946" v="4123" actId="26606"/>
          <ac:spMkLst>
            <pc:docMk/>
            <pc:sldMk cId="2530734448" sldId="273"/>
            <ac:spMk id="11" creationId="{BD4C0BBB-0042-4603-A226-6117F3FD5B3C}"/>
          </ac:spMkLst>
        </pc:spChg>
        <pc:spChg chg="add">
          <ac:chgData name="Saranya Gunasegaram Narayana" userId="f6b1f743-c7c5-4716-85bf-5af81075d9ae" providerId="ADAL" clId="{5AD07161-CCDD-4878-BCB5-7AF2170B912D}" dt="2026-04-16T14:35:03.946" v="4123" actId="26606"/>
          <ac:spMkLst>
            <pc:docMk/>
            <pc:sldMk cId="2530734448" sldId="273"/>
            <ac:spMk id="13" creationId="{EC44F520-2598-460E-9F91-B02F60830CA2}"/>
          </ac:spMkLst>
        </pc:spChg>
        <pc:spChg chg="add">
          <ac:chgData name="Saranya Gunasegaram Narayana" userId="f6b1f743-c7c5-4716-85bf-5af81075d9ae" providerId="ADAL" clId="{5AD07161-CCDD-4878-BCB5-7AF2170B912D}" dt="2026-04-16T14:35:03.946" v="4123" actId="26606"/>
          <ac:spMkLst>
            <pc:docMk/>
            <pc:sldMk cId="2530734448" sldId="273"/>
            <ac:spMk id="15" creationId="{58277E02-8052-4DAB-9140-864FC3F8140E}"/>
          </ac:spMkLst>
        </pc:spChg>
        <pc:spChg chg="add">
          <ac:chgData name="Saranya Gunasegaram Narayana" userId="f6b1f743-c7c5-4716-85bf-5af81075d9ae" providerId="ADAL" clId="{5AD07161-CCDD-4878-BCB5-7AF2170B912D}" dt="2026-04-16T14:35:03.946" v="4123" actId="26606"/>
          <ac:spMkLst>
            <pc:docMk/>
            <pc:sldMk cId="2530734448" sldId="273"/>
            <ac:spMk id="17" creationId="{F7A8738A-7386-464C-98EF-9EB4F856EF6F}"/>
          </ac:spMkLst>
        </pc:spChg>
        <pc:spChg chg="add">
          <ac:chgData name="Saranya Gunasegaram Narayana" userId="f6b1f743-c7c5-4716-85bf-5af81075d9ae" providerId="ADAL" clId="{5AD07161-CCDD-4878-BCB5-7AF2170B912D}" dt="2026-04-16T14:35:03.946" v="4123" actId="26606"/>
          <ac:spMkLst>
            <pc:docMk/>
            <pc:sldMk cId="2530734448" sldId="273"/>
            <ac:spMk id="19" creationId="{C4A98402-3932-4318-B57D-2E10D76DDF48}"/>
          </ac:spMkLst>
        </pc:spChg>
        <pc:picChg chg="add mod">
          <ac:chgData name="Saranya Gunasegaram Narayana" userId="f6b1f743-c7c5-4716-85bf-5af81075d9ae" providerId="ADAL" clId="{5AD07161-CCDD-4878-BCB5-7AF2170B912D}" dt="2026-04-16T14:35:03.946" v="4123" actId="26606"/>
          <ac:picMkLst>
            <pc:docMk/>
            <pc:sldMk cId="2530734448" sldId="273"/>
            <ac:picMk id="6" creationId="{872C212A-975C-8FF7-914B-7F3DEBF05DEE}"/>
          </ac:picMkLst>
        </pc:picChg>
      </pc:sldChg>
      <pc:sldChg chg="modSp new mod modShow">
        <pc:chgData name="Saranya Gunasegaram Narayana" userId="f6b1f743-c7c5-4716-85bf-5af81075d9ae" providerId="ADAL" clId="{5AD07161-CCDD-4878-BCB5-7AF2170B912D}" dt="2026-04-18T02:05:37.487" v="4281" actId="729"/>
        <pc:sldMkLst>
          <pc:docMk/>
          <pc:sldMk cId="713985884" sldId="274"/>
        </pc:sldMkLst>
        <pc:spChg chg="mod">
          <ac:chgData name="Saranya Gunasegaram Narayana" userId="f6b1f743-c7c5-4716-85bf-5af81075d9ae" providerId="ADAL" clId="{5AD07161-CCDD-4878-BCB5-7AF2170B912D}" dt="2026-04-16T15:24:43.626" v="4169"/>
          <ac:spMkLst>
            <pc:docMk/>
            <pc:sldMk cId="713985884" sldId="274"/>
            <ac:spMk id="2" creationId="{76FB9535-9D05-5DF2-B0BD-368D1654CFDB}"/>
          </ac:spMkLst>
        </pc:spChg>
        <pc:spChg chg="mod">
          <ac:chgData name="Saranya Gunasegaram Narayana" userId="f6b1f743-c7c5-4716-85bf-5af81075d9ae" providerId="ADAL" clId="{5AD07161-CCDD-4878-BCB5-7AF2170B912D}" dt="2026-04-16T15:24:59.701" v="4174" actId="20577"/>
          <ac:spMkLst>
            <pc:docMk/>
            <pc:sldMk cId="713985884" sldId="274"/>
            <ac:spMk id="3" creationId="{D1E628C0-AA12-45CD-02FF-029BCD6B1E2B}"/>
          </ac:spMkLst>
        </pc:spChg>
      </pc:sldChg>
      <pc:sldMasterChg chg="add addSldLayout">
        <pc:chgData name="Saranya Gunasegaram Narayana" userId="f6b1f743-c7c5-4716-85bf-5af81075d9ae" providerId="ADAL" clId="{5AD07161-CCDD-4878-BCB5-7AF2170B912D}" dt="2026-04-15T14:42:11.876" v="45" actId="26606"/>
        <pc:sldMasterMkLst>
          <pc:docMk/>
          <pc:sldMasterMk cId="2747711732" sldId="2147483828"/>
        </pc:sldMasterMkLst>
        <pc:sldLayoutChg chg="add">
          <pc:chgData name="Saranya Gunasegaram Narayana" userId="f6b1f743-c7c5-4716-85bf-5af81075d9ae" providerId="ADAL" clId="{5AD07161-CCDD-4878-BCB5-7AF2170B912D}" dt="2026-04-15T14:42:11.876" v="45" actId="26606"/>
          <pc:sldLayoutMkLst>
            <pc:docMk/>
            <pc:sldMasterMk cId="2747711732" sldId="2147483828"/>
            <pc:sldLayoutMk cId="435018377" sldId="2147483817"/>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2770361714" sldId="2147483818"/>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669308462" sldId="2147483819"/>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1288556811" sldId="2147483820"/>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51177084" sldId="2147483821"/>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587362097" sldId="2147483822"/>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2236863329" sldId="2147483823"/>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1936252884" sldId="2147483824"/>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1704124131" sldId="2147483825"/>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4030493356" sldId="2147483826"/>
          </pc:sldLayoutMkLst>
        </pc:sldLayoutChg>
        <pc:sldLayoutChg chg="add">
          <pc:chgData name="Saranya Gunasegaram Narayana" userId="f6b1f743-c7c5-4716-85bf-5af81075d9ae" providerId="ADAL" clId="{5AD07161-CCDD-4878-BCB5-7AF2170B912D}" dt="2026-04-15T14:42:11.876" v="45" actId="26606"/>
          <pc:sldLayoutMkLst>
            <pc:docMk/>
            <pc:sldMasterMk cId="2747711732" sldId="2147483828"/>
            <pc:sldLayoutMk cId="2321421013" sldId="214748382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3EE63A-846B-467B-B320-7BCA5CCA879A}"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CA"/>
        </a:p>
      </dgm:t>
    </dgm:pt>
    <dgm:pt modelId="{9A402DFE-FB72-4EBC-ACEB-0EB306E73528}">
      <dgm:prSet phldrT="[Text]" phldr="0"/>
      <dgm:spPr/>
      <dgm:t>
        <a:bodyPr/>
        <a:lstStyle/>
        <a:p>
          <a:r>
            <a:rPr lang="en-CA" dirty="0">
              <a:latin typeface="Calibri" panose="020F0502020204030204" pitchFamily="34" charset="0"/>
              <a:ea typeface="Calibri" panose="020F0502020204030204" pitchFamily="34" charset="0"/>
              <a:cs typeface="Calibri" panose="020F0502020204030204" pitchFamily="34" charset="0"/>
            </a:rPr>
            <a:t>01. Data</a:t>
          </a:r>
        </a:p>
      </dgm:t>
    </dgm:pt>
    <dgm:pt modelId="{1B42B047-2BDC-467C-A7D5-1C9BEACFE070}" type="parTrans" cxnId="{75A25A2B-96D1-4B57-A7DF-D0FA2A05D947}">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1735B23A-FA5E-40EE-83F8-CFD8A43434EE}" type="sibTrans" cxnId="{75A25A2B-96D1-4B57-A7DF-D0FA2A05D947}">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44670521-A546-4410-A15E-CC23BFEA4292}">
      <dgm:prSet phldrT="[Text]" phldr="0"/>
      <dgm:spPr/>
      <dgm:t>
        <a:bodyPr/>
        <a:lstStyle/>
        <a:p>
          <a:r>
            <a:rPr lang="en-CA" dirty="0">
              <a:latin typeface="Calibri" panose="020F0502020204030204" pitchFamily="34" charset="0"/>
              <a:ea typeface="Calibri" panose="020F0502020204030204" pitchFamily="34" charset="0"/>
              <a:cs typeface="Calibri" panose="020F0502020204030204" pitchFamily="34" charset="0"/>
            </a:rPr>
            <a:t>03. Consensus  Clustering</a:t>
          </a:r>
        </a:p>
      </dgm:t>
    </dgm:pt>
    <dgm:pt modelId="{87E1DBEB-9446-4E96-B164-1BA21A6B46B8}" type="parTrans" cxnId="{F8B9FA99-4E9C-48FB-9730-71DE2E486E41}">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BE62B82A-C555-47B8-A967-9AE41EBBBEBE}" type="sibTrans" cxnId="{F8B9FA99-4E9C-48FB-9730-71DE2E486E41}">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97B85C41-D141-45D3-AD80-CC15BBC45CA3}">
      <dgm:prSet phldrT="[Text]" phldr="0"/>
      <dgm:spPr/>
      <dgm:t>
        <a:bodyPr/>
        <a:lstStyle/>
        <a:p>
          <a:r>
            <a:rPr lang="en-CA" dirty="0">
              <a:latin typeface="Calibri" panose="020F0502020204030204" pitchFamily="34" charset="0"/>
              <a:ea typeface="Calibri" panose="020F0502020204030204" pitchFamily="34" charset="0"/>
              <a:cs typeface="Calibri" panose="020F0502020204030204" pitchFamily="34" charset="0"/>
            </a:rPr>
            <a:t>04. DE analysis</a:t>
          </a:r>
        </a:p>
      </dgm:t>
    </dgm:pt>
    <dgm:pt modelId="{B6650B9A-9538-4519-81F9-906C90D1B15C}" type="parTrans" cxnId="{80B93978-49B8-4974-A6F2-000A88DAE837}">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3D4CF79A-6DDE-4C6E-993B-433D4A4A2080}" type="sibTrans" cxnId="{80B93978-49B8-4974-A6F2-000A88DAE837}">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A1DE4785-1ED1-4F2E-ACE6-E126C1F1B145}">
      <dgm:prSet/>
      <dgm:spPr/>
      <dgm:t>
        <a:bodyPr/>
        <a:lstStyle/>
        <a:p>
          <a:r>
            <a:rPr lang="en-CA" dirty="0">
              <a:latin typeface="Calibri" panose="020F0502020204030204" pitchFamily="34" charset="0"/>
              <a:ea typeface="Calibri" panose="020F0502020204030204" pitchFamily="34" charset="0"/>
              <a:cs typeface="Calibri" panose="020F0502020204030204" pitchFamily="34" charset="0"/>
            </a:rPr>
            <a:t>02. Immune deconvolution</a:t>
          </a:r>
        </a:p>
      </dgm:t>
    </dgm:pt>
    <dgm:pt modelId="{34074461-4F93-4693-B162-B32F179F03A1}" type="parTrans" cxnId="{DEF4F903-B529-49BB-B524-4BB971CDBCAE}">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24C31414-35F1-4E8F-B805-D4662BC77096}" type="sibTrans" cxnId="{DEF4F903-B529-49BB-B524-4BB971CDBCAE}">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10C8E0E2-018C-4100-A6E4-E17761612CE8}">
      <dgm:prSet/>
      <dgm:spPr/>
      <dgm:t>
        <a:bodyPr/>
        <a:lstStyle/>
        <a:p>
          <a:r>
            <a:rPr lang="en-CA" dirty="0">
              <a:latin typeface="Calibri" panose="020F0502020204030204" pitchFamily="34" charset="0"/>
              <a:ea typeface="Calibri" panose="020F0502020204030204" pitchFamily="34" charset="0"/>
              <a:cs typeface="Calibri" panose="020F0502020204030204" pitchFamily="34" charset="0"/>
            </a:rPr>
            <a:t>05. Pathway analysis</a:t>
          </a:r>
        </a:p>
      </dgm:t>
    </dgm:pt>
    <dgm:pt modelId="{D84B8B4C-F19F-433D-9749-85BCBC400865}" type="parTrans" cxnId="{0BB0B033-A1DD-4C8C-BF22-9FBD5A6E17BE}">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AACAB6A7-AF1B-40F1-8297-E899F3BF79FD}" type="sibTrans" cxnId="{0BB0B033-A1DD-4C8C-BF22-9FBD5A6E17BE}">
      <dgm:prSet/>
      <dgm:spPr/>
      <dgm:t>
        <a:bodyPr/>
        <a:lstStyle/>
        <a:p>
          <a:endParaRPr lang="en-CA">
            <a:latin typeface="Calibri" panose="020F0502020204030204" pitchFamily="34" charset="0"/>
            <a:ea typeface="Calibri" panose="020F0502020204030204" pitchFamily="34" charset="0"/>
            <a:cs typeface="Calibri" panose="020F0502020204030204" pitchFamily="34" charset="0"/>
          </a:endParaRPr>
        </a:p>
      </dgm:t>
    </dgm:pt>
    <dgm:pt modelId="{6F940250-2B18-49AF-95E3-FC56B293CA2A}" type="pres">
      <dgm:prSet presAssocID="{7A3EE63A-846B-467B-B320-7BCA5CCA879A}" presName="Name0" presStyleCnt="0">
        <dgm:presLayoutVars>
          <dgm:dir/>
          <dgm:animLvl val="lvl"/>
          <dgm:resizeHandles val="exact"/>
        </dgm:presLayoutVars>
      </dgm:prSet>
      <dgm:spPr/>
    </dgm:pt>
    <dgm:pt modelId="{297B932E-6BD5-4CD4-944B-434E56BE8355}" type="pres">
      <dgm:prSet presAssocID="{9A402DFE-FB72-4EBC-ACEB-0EB306E73528}" presName="parTxOnly" presStyleLbl="node1" presStyleIdx="0" presStyleCnt="5">
        <dgm:presLayoutVars>
          <dgm:chMax val="0"/>
          <dgm:chPref val="0"/>
          <dgm:bulletEnabled val="1"/>
        </dgm:presLayoutVars>
      </dgm:prSet>
      <dgm:spPr/>
    </dgm:pt>
    <dgm:pt modelId="{17C63F40-4CC4-44E7-B7B6-5236FC52C602}" type="pres">
      <dgm:prSet presAssocID="{1735B23A-FA5E-40EE-83F8-CFD8A43434EE}" presName="parTxOnlySpace" presStyleCnt="0"/>
      <dgm:spPr/>
    </dgm:pt>
    <dgm:pt modelId="{863E5CA9-9942-4B6E-A710-A6180A415E9B}" type="pres">
      <dgm:prSet presAssocID="{A1DE4785-1ED1-4F2E-ACE6-E126C1F1B145}" presName="parTxOnly" presStyleLbl="node1" presStyleIdx="1" presStyleCnt="5">
        <dgm:presLayoutVars>
          <dgm:chMax val="0"/>
          <dgm:chPref val="0"/>
          <dgm:bulletEnabled val="1"/>
        </dgm:presLayoutVars>
      </dgm:prSet>
      <dgm:spPr/>
    </dgm:pt>
    <dgm:pt modelId="{B4F59309-F12F-4E28-A21E-F7F558A4F31E}" type="pres">
      <dgm:prSet presAssocID="{24C31414-35F1-4E8F-B805-D4662BC77096}" presName="parTxOnlySpace" presStyleCnt="0"/>
      <dgm:spPr/>
    </dgm:pt>
    <dgm:pt modelId="{989B2B23-955C-4ADF-88FB-4B7F2023F4C6}" type="pres">
      <dgm:prSet presAssocID="{44670521-A546-4410-A15E-CC23BFEA4292}" presName="parTxOnly" presStyleLbl="node1" presStyleIdx="2" presStyleCnt="5">
        <dgm:presLayoutVars>
          <dgm:chMax val="0"/>
          <dgm:chPref val="0"/>
          <dgm:bulletEnabled val="1"/>
        </dgm:presLayoutVars>
      </dgm:prSet>
      <dgm:spPr/>
    </dgm:pt>
    <dgm:pt modelId="{E1B32C26-A393-4378-BF53-98B836F395F9}" type="pres">
      <dgm:prSet presAssocID="{BE62B82A-C555-47B8-A967-9AE41EBBBEBE}" presName="parTxOnlySpace" presStyleCnt="0"/>
      <dgm:spPr/>
    </dgm:pt>
    <dgm:pt modelId="{F3638635-9C02-4687-8916-C8FDD9822EB2}" type="pres">
      <dgm:prSet presAssocID="{97B85C41-D141-45D3-AD80-CC15BBC45CA3}" presName="parTxOnly" presStyleLbl="node1" presStyleIdx="3" presStyleCnt="5">
        <dgm:presLayoutVars>
          <dgm:chMax val="0"/>
          <dgm:chPref val="0"/>
          <dgm:bulletEnabled val="1"/>
        </dgm:presLayoutVars>
      </dgm:prSet>
      <dgm:spPr/>
    </dgm:pt>
    <dgm:pt modelId="{494EA826-868A-49B3-8966-41DD87E31704}" type="pres">
      <dgm:prSet presAssocID="{3D4CF79A-6DDE-4C6E-993B-433D4A4A2080}" presName="parTxOnlySpace" presStyleCnt="0"/>
      <dgm:spPr/>
    </dgm:pt>
    <dgm:pt modelId="{64699926-7B23-4E44-BFA5-24B50796CEA7}" type="pres">
      <dgm:prSet presAssocID="{10C8E0E2-018C-4100-A6E4-E17761612CE8}" presName="parTxOnly" presStyleLbl="node1" presStyleIdx="4" presStyleCnt="5">
        <dgm:presLayoutVars>
          <dgm:chMax val="0"/>
          <dgm:chPref val="0"/>
          <dgm:bulletEnabled val="1"/>
        </dgm:presLayoutVars>
      </dgm:prSet>
      <dgm:spPr/>
    </dgm:pt>
  </dgm:ptLst>
  <dgm:cxnLst>
    <dgm:cxn modelId="{DEF4F903-B529-49BB-B524-4BB971CDBCAE}" srcId="{7A3EE63A-846B-467B-B320-7BCA5CCA879A}" destId="{A1DE4785-1ED1-4F2E-ACE6-E126C1F1B145}" srcOrd="1" destOrd="0" parTransId="{34074461-4F93-4693-B162-B32F179F03A1}" sibTransId="{24C31414-35F1-4E8F-B805-D4662BC77096}"/>
    <dgm:cxn modelId="{825ABE0E-2B56-43BA-9E3C-2E625718531C}" type="presOf" srcId="{7A3EE63A-846B-467B-B320-7BCA5CCA879A}" destId="{6F940250-2B18-49AF-95E3-FC56B293CA2A}" srcOrd="0" destOrd="0" presId="urn:microsoft.com/office/officeart/2005/8/layout/chevron1"/>
    <dgm:cxn modelId="{0BF77211-5DC6-4804-BA0B-982AC07C2B1D}" type="presOf" srcId="{A1DE4785-1ED1-4F2E-ACE6-E126C1F1B145}" destId="{863E5CA9-9942-4B6E-A710-A6180A415E9B}" srcOrd="0" destOrd="0" presId="urn:microsoft.com/office/officeart/2005/8/layout/chevron1"/>
    <dgm:cxn modelId="{A92D0D1D-F583-437A-A6A0-936F55BD67AF}" type="presOf" srcId="{9A402DFE-FB72-4EBC-ACEB-0EB306E73528}" destId="{297B932E-6BD5-4CD4-944B-434E56BE8355}" srcOrd="0" destOrd="0" presId="urn:microsoft.com/office/officeart/2005/8/layout/chevron1"/>
    <dgm:cxn modelId="{75A25A2B-96D1-4B57-A7DF-D0FA2A05D947}" srcId="{7A3EE63A-846B-467B-B320-7BCA5CCA879A}" destId="{9A402DFE-FB72-4EBC-ACEB-0EB306E73528}" srcOrd="0" destOrd="0" parTransId="{1B42B047-2BDC-467C-A7D5-1C9BEACFE070}" sibTransId="{1735B23A-FA5E-40EE-83F8-CFD8A43434EE}"/>
    <dgm:cxn modelId="{0BB0B033-A1DD-4C8C-BF22-9FBD5A6E17BE}" srcId="{7A3EE63A-846B-467B-B320-7BCA5CCA879A}" destId="{10C8E0E2-018C-4100-A6E4-E17761612CE8}" srcOrd="4" destOrd="0" parTransId="{D84B8B4C-F19F-433D-9749-85BCBC400865}" sibTransId="{AACAB6A7-AF1B-40F1-8297-E899F3BF79FD}"/>
    <dgm:cxn modelId="{9452B738-1DEC-4350-B5C2-412D15F8DA72}" type="presOf" srcId="{44670521-A546-4410-A15E-CC23BFEA4292}" destId="{989B2B23-955C-4ADF-88FB-4B7F2023F4C6}" srcOrd="0" destOrd="0" presId="urn:microsoft.com/office/officeart/2005/8/layout/chevron1"/>
    <dgm:cxn modelId="{80B93978-49B8-4974-A6F2-000A88DAE837}" srcId="{7A3EE63A-846B-467B-B320-7BCA5CCA879A}" destId="{97B85C41-D141-45D3-AD80-CC15BBC45CA3}" srcOrd="3" destOrd="0" parTransId="{B6650B9A-9538-4519-81F9-906C90D1B15C}" sibTransId="{3D4CF79A-6DDE-4C6E-993B-433D4A4A2080}"/>
    <dgm:cxn modelId="{35EC1583-67D5-49B4-B464-2716B0974FF2}" type="presOf" srcId="{97B85C41-D141-45D3-AD80-CC15BBC45CA3}" destId="{F3638635-9C02-4687-8916-C8FDD9822EB2}" srcOrd="0" destOrd="0" presId="urn:microsoft.com/office/officeart/2005/8/layout/chevron1"/>
    <dgm:cxn modelId="{F8B9FA99-4E9C-48FB-9730-71DE2E486E41}" srcId="{7A3EE63A-846B-467B-B320-7BCA5CCA879A}" destId="{44670521-A546-4410-A15E-CC23BFEA4292}" srcOrd="2" destOrd="0" parTransId="{87E1DBEB-9446-4E96-B164-1BA21A6B46B8}" sibTransId="{BE62B82A-C555-47B8-A967-9AE41EBBBEBE}"/>
    <dgm:cxn modelId="{03A4D1D6-A72B-4EDD-80CE-A328F4940567}" type="presOf" srcId="{10C8E0E2-018C-4100-A6E4-E17761612CE8}" destId="{64699926-7B23-4E44-BFA5-24B50796CEA7}" srcOrd="0" destOrd="0" presId="urn:microsoft.com/office/officeart/2005/8/layout/chevron1"/>
    <dgm:cxn modelId="{E37CC82D-86A1-4042-97D0-7369D56C589B}" type="presParOf" srcId="{6F940250-2B18-49AF-95E3-FC56B293CA2A}" destId="{297B932E-6BD5-4CD4-944B-434E56BE8355}" srcOrd="0" destOrd="0" presId="urn:microsoft.com/office/officeart/2005/8/layout/chevron1"/>
    <dgm:cxn modelId="{4838577F-F60C-440F-ADF4-06B60A708991}" type="presParOf" srcId="{6F940250-2B18-49AF-95E3-FC56B293CA2A}" destId="{17C63F40-4CC4-44E7-B7B6-5236FC52C602}" srcOrd="1" destOrd="0" presId="urn:microsoft.com/office/officeart/2005/8/layout/chevron1"/>
    <dgm:cxn modelId="{890FC440-F1D2-4E30-AAE4-F1A569ADD866}" type="presParOf" srcId="{6F940250-2B18-49AF-95E3-FC56B293CA2A}" destId="{863E5CA9-9942-4B6E-A710-A6180A415E9B}" srcOrd="2" destOrd="0" presId="urn:microsoft.com/office/officeart/2005/8/layout/chevron1"/>
    <dgm:cxn modelId="{1F20F03C-93EA-496A-9E79-AD9A70499192}" type="presParOf" srcId="{6F940250-2B18-49AF-95E3-FC56B293CA2A}" destId="{B4F59309-F12F-4E28-A21E-F7F558A4F31E}" srcOrd="3" destOrd="0" presId="urn:microsoft.com/office/officeart/2005/8/layout/chevron1"/>
    <dgm:cxn modelId="{58CF5665-6361-4B42-BF77-9C1C6E2E5197}" type="presParOf" srcId="{6F940250-2B18-49AF-95E3-FC56B293CA2A}" destId="{989B2B23-955C-4ADF-88FB-4B7F2023F4C6}" srcOrd="4" destOrd="0" presId="urn:microsoft.com/office/officeart/2005/8/layout/chevron1"/>
    <dgm:cxn modelId="{969A0C7F-3BED-478C-A69F-5A832B59417A}" type="presParOf" srcId="{6F940250-2B18-49AF-95E3-FC56B293CA2A}" destId="{E1B32C26-A393-4378-BF53-98B836F395F9}" srcOrd="5" destOrd="0" presId="urn:microsoft.com/office/officeart/2005/8/layout/chevron1"/>
    <dgm:cxn modelId="{289B5D79-E68B-4857-8F2C-94B488C82BBF}" type="presParOf" srcId="{6F940250-2B18-49AF-95E3-FC56B293CA2A}" destId="{F3638635-9C02-4687-8916-C8FDD9822EB2}" srcOrd="6" destOrd="0" presId="urn:microsoft.com/office/officeart/2005/8/layout/chevron1"/>
    <dgm:cxn modelId="{0F2802CE-3D11-4A33-BEC1-744F48956D56}" type="presParOf" srcId="{6F940250-2B18-49AF-95E3-FC56B293CA2A}" destId="{494EA826-868A-49B3-8966-41DD87E31704}" srcOrd="7" destOrd="0" presId="urn:microsoft.com/office/officeart/2005/8/layout/chevron1"/>
    <dgm:cxn modelId="{B09A3161-6265-4C3C-A825-AF7C090BBD4F}" type="presParOf" srcId="{6F940250-2B18-49AF-95E3-FC56B293CA2A}" destId="{64699926-7B23-4E44-BFA5-24B50796CEA7}"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B932E-6BD5-4CD4-944B-434E56BE8355}">
      <dsp:nvSpPr>
        <dsp:cNvPr id="0" name=""/>
        <dsp:cNvSpPr/>
      </dsp:nvSpPr>
      <dsp:spPr>
        <a:xfrm>
          <a:off x="2895" y="216041"/>
          <a:ext cx="2577393" cy="1030957"/>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01. Data</a:t>
          </a:r>
        </a:p>
      </dsp:txBody>
      <dsp:txXfrm>
        <a:off x="518374" y="216041"/>
        <a:ext cx="1546436" cy="1030957"/>
      </dsp:txXfrm>
    </dsp:sp>
    <dsp:sp modelId="{863E5CA9-9942-4B6E-A710-A6180A415E9B}">
      <dsp:nvSpPr>
        <dsp:cNvPr id="0" name=""/>
        <dsp:cNvSpPr/>
      </dsp:nvSpPr>
      <dsp:spPr>
        <a:xfrm>
          <a:off x="2322549" y="216041"/>
          <a:ext cx="2577393" cy="1030957"/>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02. Immune deconvolution</a:t>
          </a:r>
        </a:p>
      </dsp:txBody>
      <dsp:txXfrm>
        <a:off x="2838028" y="216041"/>
        <a:ext cx="1546436" cy="1030957"/>
      </dsp:txXfrm>
    </dsp:sp>
    <dsp:sp modelId="{989B2B23-955C-4ADF-88FB-4B7F2023F4C6}">
      <dsp:nvSpPr>
        <dsp:cNvPr id="0" name=""/>
        <dsp:cNvSpPr/>
      </dsp:nvSpPr>
      <dsp:spPr>
        <a:xfrm>
          <a:off x="4642203" y="216041"/>
          <a:ext cx="2577393" cy="1030957"/>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03. Consensus  Clustering</a:t>
          </a:r>
        </a:p>
      </dsp:txBody>
      <dsp:txXfrm>
        <a:off x="5157682" y="216041"/>
        <a:ext cx="1546436" cy="1030957"/>
      </dsp:txXfrm>
    </dsp:sp>
    <dsp:sp modelId="{F3638635-9C02-4687-8916-C8FDD9822EB2}">
      <dsp:nvSpPr>
        <dsp:cNvPr id="0" name=""/>
        <dsp:cNvSpPr/>
      </dsp:nvSpPr>
      <dsp:spPr>
        <a:xfrm>
          <a:off x="6961857" y="216041"/>
          <a:ext cx="2577393" cy="1030957"/>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04. DE analysis</a:t>
          </a:r>
        </a:p>
      </dsp:txBody>
      <dsp:txXfrm>
        <a:off x="7477336" y="216041"/>
        <a:ext cx="1546436" cy="1030957"/>
      </dsp:txXfrm>
    </dsp:sp>
    <dsp:sp modelId="{64699926-7B23-4E44-BFA5-24B50796CEA7}">
      <dsp:nvSpPr>
        <dsp:cNvPr id="0" name=""/>
        <dsp:cNvSpPr/>
      </dsp:nvSpPr>
      <dsp:spPr>
        <a:xfrm>
          <a:off x="9281510" y="216041"/>
          <a:ext cx="2577393" cy="1030957"/>
        </a:xfrm>
        <a:prstGeom prst="chevron">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05. Pathway analysis</a:t>
          </a:r>
        </a:p>
      </dsp:txBody>
      <dsp:txXfrm>
        <a:off x="9796989" y="216041"/>
        <a:ext cx="1546436" cy="103095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122C4-14A2-41AD-9369-12351B7A5931}" type="datetimeFigureOut">
              <a:rPr lang="en-CA" smtClean="0"/>
              <a:t>17/04/2026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A0DCAE-B34E-440E-ACF7-A6565B7EFE7A}" type="slidenum">
              <a:rPr lang="en-CA" smtClean="0"/>
              <a:t>‹#›</a:t>
            </a:fld>
            <a:endParaRPr lang="en-CA"/>
          </a:p>
        </p:txBody>
      </p:sp>
    </p:spTree>
    <p:extLst>
      <p:ext uri="{BB962C8B-B14F-4D97-AF65-F5344CB8AC3E}">
        <p14:creationId xmlns:p14="http://schemas.microsoft.com/office/powerpoint/2010/main" val="1057926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thelancet.com/journals/lanonc/article/PIIS1470-2045(17)30904-X/abstract"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Good afternoon everyone.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My name is Saranya Narayana and today I'll be presenting my work on breast cancer immune heterogeneity within PAM50 molecular subtypes.</a:t>
            </a:r>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1</a:t>
            </a:fld>
            <a:endParaRPr lang="en-CA"/>
          </a:p>
        </p:txBody>
      </p:sp>
    </p:spTree>
    <p:extLst>
      <p:ext uri="{BB962C8B-B14F-4D97-AF65-F5344CB8AC3E}">
        <p14:creationId xmlns:p14="http://schemas.microsoft.com/office/powerpoint/2010/main" val="30976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8DF28-26B8-95DD-EA87-38D5703E5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050DC-3665-CA83-9EA0-018C3649B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31BEB-6E79-1F74-1193-86B3C41489FA}"/>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Let me start with why this matters clinically.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Breast cancer affects 2.3 million women worldwide every year and nearly 685K patients die.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Despite significant advances in treatment, around 30% of patients eventually relapse — even those who initially responded well to therapy.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We currently classify breast cancer into five molecular subtypes using the PAM50 system, but this classification describes tumour cell biology. It tells us nothing about the immune microenvironment surrounding the tumour.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E293B"/>
              </a:solidFill>
              <a:latin typeface="Calibri" pitchFamily="34" charset="0"/>
              <a:ea typeface="Calibri" pitchFamily="34" charset="-122"/>
              <a:cs typeface="Calibri" pitchFamily="34" charset="-120"/>
            </a:endParaRPr>
          </a:p>
          <a:p>
            <a:endParaRPr lang="en-CA" dirty="0"/>
          </a:p>
        </p:txBody>
      </p:sp>
      <p:sp>
        <p:nvSpPr>
          <p:cNvPr id="4" name="Slide Number Placeholder 3">
            <a:extLst>
              <a:ext uri="{FF2B5EF4-FFF2-40B4-BE49-F238E27FC236}">
                <a16:creationId xmlns:a16="http://schemas.microsoft.com/office/drawing/2014/main" id="{4A2F119C-8208-8186-4A0C-DA0767B04DA7}"/>
              </a:ext>
            </a:extLst>
          </p:cNvPr>
          <p:cNvSpPr>
            <a:spLocks noGrp="1"/>
          </p:cNvSpPr>
          <p:nvPr>
            <p:ph type="sldNum" sz="quarter" idx="5"/>
          </p:nvPr>
        </p:nvSpPr>
        <p:spPr/>
        <p:txBody>
          <a:bodyPr/>
          <a:lstStyle/>
          <a:p>
            <a:fld id="{76A0DCAE-B34E-440E-ACF7-A6565B7EFE7A}" type="slidenum">
              <a:rPr lang="en-CA" smtClean="0"/>
              <a:t>2</a:t>
            </a:fld>
            <a:endParaRPr lang="en-CA"/>
          </a:p>
        </p:txBody>
      </p:sp>
    </p:spTree>
    <p:extLst>
      <p:ext uri="{BB962C8B-B14F-4D97-AF65-F5344CB8AC3E}">
        <p14:creationId xmlns:p14="http://schemas.microsoft.com/office/powerpoint/2010/main" val="1888364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i="1" dirty="0"/>
              <a:t>Let me walk you through the core problem with how we currently classify and treat breast cancer.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dirty="0"/>
          </a:p>
          <a:p>
            <a:pPr marL="228600" indent="-228600">
              <a:buFont typeface="+mj-lt"/>
              <a:buAutoNum type="arabicPeriod"/>
            </a:pPr>
            <a:r>
              <a:rPr lang="en-US" i="1" dirty="0"/>
              <a:t>On the left you can see a diagram of a breast </a:t>
            </a:r>
            <a:r>
              <a:rPr lang="en-US" i="1" dirty="0" err="1"/>
              <a:t>tumour</a:t>
            </a:r>
            <a:r>
              <a:rPr lang="en-US" i="1" dirty="0"/>
              <a:t> — and notice it's not just cancer cells. </a:t>
            </a:r>
          </a:p>
          <a:p>
            <a:pPr marL="228600" indent="-228600">
              <a:buFont typeface="+mj-lt"/>
              <a:buAutoNum type="arabicPeriod"/>
            </a:pPr>
            <a:endParaRPr lang="en-US" i="1" dirty="0"/>
          </a:p>
          <a:p>
            <a:pPr marL="228600" indent="-228600">
              <a:buFont typeface="+mj-lt"/>
              <a:buAutoNum type="arabicPeriod"/>
            </a:pPr>
            <a:r>
              <a:rPr lang="en-US" i="1" dirty="0"/>
              <a:t>There are immune cells infiltrating from outside, cancer-associated fibroblasts, pericytes lining the blood vessels, and an entire vascular and lymphatic network supporting it. </a:t>
            </a:r>
          </a:p>
          <a:p>
            <a:pPr marL="228600" indent="-228600">
              <a:buFont typeface="+mj-lt"/>
              <a:buAutoNum type="arabicPeriod"/>
            </a:pPr>
            <a:endParaRPr lang="en-US" i="1" dirty="0"/>
          </a:p>
          <a:p>
            <a:pPr marL="228600" indent="-228600">
              <a:buFont typeface="+mj-lt"/>
              <a:buAutoNum type="arabicPeriod"/>
            </a:pPr>
            <a:r>
              <a:rPr lang="en-US" i="1" dirty="0"/>
              <a:t>This is the </a:t>
            </a:r>
            <a:r>
              <a:rPr lang="en-US" i="1" dirty="0" err="1"/>
              <a:t>tumour</a:t>
            </a:r>
            <a:r>
              <a:rPr lang="en-US" i="1" dirty="0"/>
              <a:t> microenvironment — and it is just as important as the </a:t>
            </a:r>
            <a:r>
              <a:rPr lang="en-US" i="1" dirty="0" err="1"/>
              <a:t>tumour</a:t>
            </a:r>
            <a:r>
              <a:rPr lang="en-US" i="1" dirty="0"/>
              <a:t> cells themselves.“</a:t>
            </a:r>
          </a:p>
          <a:p>
            <a:pPr marL="228600" indent="-228600">
              <a:buFont typeface="+mj-lt"/>
              <a:buAutoNum type="arabicPeriod"/>
            </a:pPr>
            <a:endParaRPr lang="en-US" dirty="0"/>
          </a:p>
          <a:p>
            <a:pPr marL="228600" indent="-228600">
              <a:buFont typeface="+mj-lt"/>
              <a:buAutoNum type="arabicPeriod"/>
            </a:pPr>
            <a:r>
              <a:rPr lang="en-US" i="1" dirty="0"/>
              <a:t>"Now here is the critical point. Our current classification system. PAM50 — only reads the cancer cells in the </a:t>
            </a:r>
            <a:r>
              <a:rPr lang="en-US" i="1" dirty="0" err="1"/>
              <a:t>centre</a:t>
            </a:r>
            <a:r>
              <a:rPr lang="en-US" i="1" dirty="0"/>
              <a:t>. It completely ignores everything else you see in this diagram. And that is where the problem begins.“</a:t>
            </a:r>
          </a:p>
          <a:p>
            <a:pPr marL="228600" indent="-228600">
              <a:buFont typeface="+mj-lt"/>
              <a:buAutoNum type="arabicPeriod"/>
            </a:pPr>
            <a:endParaRPr lang="en-US" dirty="0"/>
          </a:p>
          <a:p>
            <a:pPr marL="0" indent="0">
              <a:buFont typeface="+mj-lt"/>
              <a:buNone/>
            </a:pPr>
            <a:endParaRPr lang="en-US" dirty="0"/>
          </a:p>
          <a:p>
            <a:pPr marL="228600" indent="-228600">
              <a:buFont typeface="+mj-lt"/>
              <a:buAutoNum type="arabicPeriod"/>
            </a:pPr>
            <a:r>
              <a:rPr lang="en-US" dirty="0"/>
              <a:t>And this gap has real consequences.</a:t>
            </a:r>
          </a:p>
          <a:p>
            <a:pPr marL="228600" indent="-228600">
              <a:buFont typeface="+mj-lt"/>
              <a:buAutoNum type="arabicPeriod"/>
            </a:pPr>
            <a:endParaRPr lang="en-US" dirty="0"/>
          </a:p>
          <a:p>
            <a:pPr marL="228600" indent="-228600">
              <a:buFont typeface="+mj-lt"/>
              <a:buAutoNum type="arabicPeriod"/>
            </a:pPr>
            <a:r>
              <a:rPr lang="en-US" dirty="0"/>
              <a:t> For example Take two </a:t>
            </a:r>
            <a:r>
              <a:rPr lang="en-US" dirty="0" err="1"/>
              <a:t>LumA</a:t>
            </a:r>
            <a:r>
              <a:rPr lang="en-US" dirty="0"/>
              <a:t> patients — identical classification, same treatment protocol. One is cured. One relapses within three years. Why? Because One </a:t>
            </a:r>
            <a:r>
              <a:rPr lang="en-US" dirty="0" err="1"/>
              <a:t>tumour</a:t>
            </a:r>
            <a:r>
              <a:rPr lang="en-US" dirty="0"/>
              <a:t> has dense immune infiltration. The other is an immune desert. PAM50 cannot distinguish them.</a:t>
            </a:r>
          </a:p>
          <a:p>
            <a:pPr marL="228600" indent="-228600">
              <a:buFont typeface="+mj-lt"/>
              <a:buAutoNum type="arabicPeriod"/>
            </a:pPr>
            <a:endParaRPr lang="en-US" dirty="0"/>
          </a:p>
          <a:p>
            <a:pPr marL="228600" indent="-228600">
              <a:buFont typeface="+mj-lt"/>
              <a:buAutoNum type="arabicPeriod"/>
            </a:pPr>
            <a:r>
              <a:rPr lang="en-US" dirty="0"/>
              <a:t>This matters because treatment decisions cannot afford to ignore the immune landscape. </a:t>
            </a:r>
          </a:p>
        </p:txBody>
      </p:sp>
      <p:sp>
        <p:nvSpPr>
          <p:cNvPr id="4" name="Slide Number Placeholder 3"/>
          <p:cNvSpPr>
            <a:spLocks noGrp="1"/>
          </p:cNvSpPr>
          <p:nvPr>
            <p:ph type="sldNum" sz="quarter" idx="5"/>
          </p:nvPr>
        </p:nvSpPr>
        <p:spPr/>
        <p:txBody>
          <a:bodyPr/>
          <a:lstStyle/>
          <a:p>
            <a:fld id="{76A0DCAE-B34E-440E-ACF7-A6565B7EFE7A}" type="slidenum">
              <a:rPr lang="en-CA" smtClean="0"/>
              <a:t>3</a:t>
            </a:fld>
            <a:endParaRPr lang="en-CA"/>
          </a:p>
        </p:txBody>
      </p:sp>
    </p:spTree>
    <p:extLst>
      <p:ext uri="{BB962C8B-B14F-4D97-AF65-F5344CB8AC3E}">
        <p14:creationId xmlns:p14="http://schemas.microsoft.com/office/powerpoint/2010/main" val="2078273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i="1" dirty="0"/>
              <a:t>"This is exactly what motivated my research question — can we use immune gene expression to find meaningful subgroups within PAM50 subtypes? </a:t>
            </a:r>
          </a:p>
          <a:p>
            <a:r>
              <a:rPr lang="en-CA" sz="1200" kern="1200" dirty="0">
                <a:solidFill>
                  <a:schemeClr val="tx1"/>
                </a:solidFill>
                <a:effectLst/>
                <a:latin typeface="+mn-lt"/>
                <a:ea typeface="+mn-ea"/>
                <a:cs typeface="+mn-cs"/>
              </a:rPr>
              <a:t>my hypothesis is yes —</a:t>
            </a:r>
            <a:r>
              <a:rPr lang="en-US" i="1" dirty="0"/>
              <a:t>Let me show you how I approached that."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E293B"/>
              </a:solidFill>
              <a:latin typeface="Calibri" pitchFamily="34" charset="0"/>
              <a:ea typeface="Calibri" pitchFamily="34" charset="-122"/>
              <a:cs typeface="Calibri" pitchFamily="34" charset="-120"/>
            </a:endParaRP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4</a:t>
            </a:fld>
            <a:endParaRPr lang="en-CA"/>
          </a:p>
        </p:txBody>
      </p:sp>
    </p:spTree>
    <p:extLst>
      <p:ext uri="{BB962C8B-B14F-4D97-AF65-F5344CB8AC3E}">
        <p14:creationId xmlns:p14="http://schemas.microsoft.com/office/powerpoint/2010/main" val="22400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My pipeline has five steps.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I started with TCGA-BRCA RNA-seq data — 1,013 primary tumour samples. after stringent quality control, reducing from an initial 60K genes to 23K expressed genes.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I then applied 7 computational immune quantification methods to extract immune features per sample.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These features feed into consensus clustering with a 10% balance rule to identify stable immune subgroups.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resulting subgroup labels are used for differential expression using DESeq2,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and finally I performed pathway enrichment using </a:t>
            </a:r>
            <a:r>
              <a:rPr lang="en-CA" sz="1200" kern="1200" dirty="0" err="1">
                <a:solidFill>
                  <a:schemeClr val="tx1"/>
                </a:solidFill>
                <a:effectLst/>
                <a:latin typeface="+mn-lt"/>
                <a:ea typeface="+mn-ea"/>
                <a:cs typeface="+mn-cs"/>
              </a:rPr>
              <a:t>fgsea</a:t>
            </a:r>
            <a:r>
              <a:rPr lang="en-CA" sz="1200" kern="1200" dirty="0">
                <a:solidFill>
                  <a:schemeClr val="tx1"/>
                </a:solidFill>
                <a:effectLst/>
                <a:latin typeface="+mn-lt"/>
                <a:ea typeface="+mn-ea"/>
                <a:cs typeface="+mn-cs"/>
              </a:rPr>
              <a:t> with Hallmark and </a:t>
            </a:r>
            <a:r>
              <a:rPr lang="en-CA" sz="1200" kern="1200" dirty="0" err="1">
                <a:solidFill>
                  <a:schemeClr val="tx1"/>
                </a:solidFill>
                <a:effectLst/>
                <a:latin typeface="+mn-lt"/>
                <a:ea typeface="+mn-ea"/>
                <a:cs typeface="+mn-cs"/>
              </a:rPr>
              <a:t>Reactome</a:t>
            </a:r>
            <a:r>
              <a:rPr lang="en-CA" sz="1200" kern="1200" dirty="0">
                <a:solidFill>
                  <a:schemeClr val="tx1"/>
                </a:solidFill>
                <a:effectLst/>
                <a:latin typeface="+mn-lt"/>
                <a:ea typeface="+mn-ea"/>
                <a:cs typeface="+mn-cs"/>
              </a:rPr>
              <a:t> gene sets.</a:t>
            </a: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5</a:t>
            </a:fld>
            <a:endParaRPr lang="en-CA"/>
          </a:p>
        </p:txBody>
      </p:sp>
    </p:spTree>
    <p:extLst>
      <p:ext uri="{BB962C8B-B14F-4D97-AF65-F5344CB8AC3E}">
        <p14:creationId xmlns:p14="http://schemas.microsoft.com/office/powerpoint/2010/main" val="1697909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rgbClr val="1E293B"/>
                </a:solidFill>
                <a:latin typeface="Calibri" pitchFamily="34" charset="0"/>
                <a:ea typeface="Calibri" pitchFamily="34" charset="-122"/>
                <a:cs typeface="Calibri" pitchFamily="34" charset="-120"/>
              </a:rPr>
              <a:t>7 complementary computational methods were applied to bulk RNA-seq data to estimate immune cell composition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This is done because each method has different strengths and biases.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GSVA and </a:t>
            </a:r>
            <a:r>
              <a:rPr lang="en-CA" sz="1200" kern="1200" dirty="0" err="1">
                <a:solidFill>
                  <a:schemeClr val="tx1"/>
                </a:solidFill>
                <a:effectLst/>
                <a:latin typeface="+mn-lt"/>
                <a:ea typeface="+mn-ea"/>
                <a:cs typeface="+mn-cs"/>
              </a:rPr>
              <a:t>ssGSEA</a:t>
            </a:r>
            <a:r>
              <a:rPr lang="en-CA" sz="1200" kern="1200" dirty="0">
                <a:solidFill>
                  <a:schemeClr val="tx1"/>
                </a:solidFill>
                <a:effectLst/>
                <a:latin typeface="+mn-lt"/>
                <a:ea typeface="+mn-ea"/>
                <a:cs typeface="+mn-cs"/>
              </a:rPr>
              <a:t> provide pathway-level enrichment scores.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err="1">
                <a:solidFill>
                  <a:schemeClr val="tx1"/>
                </a:solidFill>
                <a:effectLst/>
                <a:latin typeface="+mn-lt"/>
                <a:ea typeface="+mn-ea"/>
                <a:cs typeface="+mn-cs"/>
              </a:rPr>
              <a:t>QuanTIseq</a:t>
            </a:r>
            <a:r>
              <a:rPr lang="en-CA" sz="1200" kern="1200" dirty="0">
                <a:solidFill>
                  <a:schemeClr val="tx1"/>
                </a:solidFill>
                <a:effectLst/>
                <a:latin typeface="+mn-lt"/>
                <a:ea typeface="+mn-ea"/>
                <a:cs typeface="+mn-cs"/>
              </a:rPr>
              <a:t>, MCP-counter, EPIC, and </a:t>
            </a:r>
            <a:r>
              <a:rPr lang="en-CA" sz="1200" kern="1200" dirty="0" err="1">
                <a:solidFill>
                  <a:schemeClr val="tx1"/>
                </a:solidFill>
                <a:effectLst/>
                <a:latin typeface="+mn-lt"/>
                <a:ea typeface="+mn-ea"/>
                <a:cs typeface="+mn-cs"/>
              </a:rPr>
              <a:t>xCell</a:t>
            </a:r>
            <a:r>
              <a:rPr lang="en-CA" sz="1200" kern="1200" dirty="0">
                <a:solidFill>
                  <a:schemeClr val="tx1"/>
                </a:solidFill>
                <a:effectLst/>
                <a:latin typeface="+mn-lt"/>
                <a:ea typeface="+mn-ea"/>
                <a:cs typeface="+mn-cs"/>
              </a:rPr>
              <a:t> estimate the abundance of specific immune cell types.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Crucially, CIBERSORT was held out entirely from feature construction and used only for independent validation</a:t>
            </a:r>
            <a:endParaRPr lang="en-US" sz="1200" dirty="0">
              <a:solidFill>
                <a:srgbClr val="1E293B"/>
              </a:solidFill>
              <a:latin typeface="Calibri" pitchFamily="34" charset="0"/>
              <a:ea typeface="Calibri" pitchFamily="34" charset="-122"/>
              <a:cs typeface="Calibri" pitchFamily="34" charset="-120"/>
            </a:endParaRPr>
          </a:p>
        </p:txBody>
      </p:sp>
      <p:sp>
        <p:nvSpPr>
          <p:cNvPr id="4" name="Slide Number Placeholder 3"/>
          <p:cNvSpPr>
            <a:spLocks noGrp="1"/>
          </p:cNvSpPr>
          <p:nvPr>
            <p:ph type="sldNum" sz="quarter" idx="5"/>
          </p:nvPr>
        </p:nvSpPr>
        <p:spPr/>
        <p:txBody>
          <a:bodyPr/>
          <a:lstStyle/>
          <a:p>
            <a:fld id="{76A0DCAE-B34E-440E-ACF7-A6565B7EFE7A}" type="slidenum">
              <a:rPr lang="en-CA" smtClean="0"/>
              <a:t>6</a:t>
            </a:fld>
            <a:endParaRPr lang="en-CA"/>
          </a:p>
        </p:txBody>
      </p:sp>
    </p:spTree>
    <p:extLst>
      <p:ext uri="{BB962C8B-B14F-4D97-AF65-F5344CB8AC3E}">
        <p14:creationId xmlns:p14="http://schemas.microsoft.com/office/powerpoint/2010/main" val="42276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Now moving to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This bar chart shows sample distribution across 5 PAM50 subtypes.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Final data had 1,013 samples across five PAM50 subtypes, with </a:t>
            </a:r>
            <a:r>
              <a:rPr lang="en-CA" sz="1200" kern="1200" dirty="0" err="1">
                <a:solidFill>
                  <a:schemeClr val="tx1"/>
                </a:solidFill>
                <a:effectLst/>
                <a:latin typeface="+mn-lt"/>
                <a:ea typeface="+mn-ea"/>
                <a:cs typeface="+mn-cs"/>
              </a:rPr>
              <a:t>LumA</a:t>
            </a:r>
            <a:r>
              <a:rPr lang="en-CA" sz="1200" kern="1200" dirty="0">
                <a:solidFill>
                  <a:schemeClr val="tx1"/>
                </a:solidFill>
                <a:effectLst/>
                <a:latin typeface="+mn-lt"/>
                <a:ea typeface="+mn-ea"/>
                <a:cs typeface="+mn-cs"/>
              </a:rPr>
              <a:t> being the most common at 52%,  and this is consistent with population-level ER-positive breast cancer prevalence.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r>
              <a:rPr lang="en-CA" dirty="0"/>
              <a:t>Of all subtypes, Normal had few sample of  37.</a:t>
            </a:r>
          </a:p>
        </p:txBody>
      </p:sp>
      <p:sp>
        <p:nvSpPr>
          <p:cNvPr id="4" name="Slide Number Placeholder 3"/>
          <p:cNvSpPr>
            <a:spLocks noGrp="1"/>
          </p:cNvSpPr>
          <p:nvPr>
            <p:ph type="sldNum" sz="quarter" idx="5"/>
          </p:nvPr>
        </p:nvSpPr>
        <p:spPr/>
        <p:txBody>
          <a:bodyPr/>
          <a:lstStyle/>
          <a:p>
            <a:fld id="{76A0DCAE-B34E-440E-ACF7-A6565B7EFE7A}" type="slidenum">
              <a:rPr lang="en-CA" smtClean="0"/>
              <a:t>7</a:t>
            </a:fld>
            <a:endParaRPr lang="en-CA"/>
          </a:p>
        </p:txBody>
      </p:sp>
    </p:spTree>
    <p:extLst>
      <p:ext uri="{BB962C8B-B14F-4D97-AF65-F5344CB8AC3E}">
        <p14:creationId xmlns:p14="http://schemas.microsoft.com/office/powerpoint/2010/main" val="3998277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Here is one of the most important results.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Immune deconvolution using all 7 methods yielded 159 immune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 applied consensus clustering to each subtype independently and tested whether stable immune subgroups exist with 6 Immune deconvolution methods only except the </a:t>
            </a:r>
            <a:r>
              <a:rPr lang="en-CA" sz="1200" kern="1200" dirty="0" err="1">
                <a:solidFill>
                  <a:schemeClr val="tx1"/>
                </a:solidFill>
                <a:effectLst/>
                <a:latin typeface="+mn-lt"/>
                <a:ea typeface="+mn-ea"/>
                <a:cs typeface="+mn-cs"/>
              </a:rPr>
              <a:t>cibersort</a:t>
            </a:r>
            <a:r>
              <a:rPr lang="en-CA" sz="1200" kern="1200" dirty="0">
                <a:solidFill>
                  <a:schemeClr val="tx1"/>
                </a:solidFill>
                <a:effectLst/>
                <a:latin typeface="+mn-lt"/>
                <a:ea typeface="+mn-ea"/>
                <a:cs typeface="+mn-cs"/>
              </a:rPr>
              <a:t> which was used for the validation.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The 10% balance rule requires that the smaller cluster contains at least 10% of the subtype's samples — otherwise we're just finding a handful of outliers.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Basal, Her2, </a:t>
            </a:r>
            <a:r>
              <a:rPr lang="en-CA" sz="1200" kern="1200" dirty="0" err="1">
                <a:solidFill>
                  <a:schemeClr val="tx1"/>
                </a:solidFill>
                <a:effectLst/>
                <a:latin typeface="+mn-lt"/>
                <a:ea typeface="+mn-ea"/>
                <a:cs typeface="+mn-cs"/>
              </a:rPr>
              <a:t>LumA</a:t>
            </a:r>
            <a:r>
              <a:rPr lang="en-CA" sz="1200" kern="1200" dirty="0">
                <a:solidFill>
                  <a:schemeClr val="tx1"/>
                </a:solidFill>
                <a:effectLst/>
                <a:latin typeface="+mn-lt"/>
                <a:ea typeface="+mn-ea"/>
                <a:cs typeface="+mn-cs"/>
              </a:rPr>
              <a:t>, and </a:t>
            </a:r>
            <a:r>
              <a:rPr lang="en-CA" sz="1200" kern="1200" dirty="0" err="1">
                <a:solidFill>
                  <a:schemeClr val="tx1"/>
                </a:solidFill>
                <a:effectLst/>
                <a:latin typeface="+mn-lt"/>
                <a:ea typeface="+mn-ea"/>
                <a:cs typeface="+mn-cs"/>
              </a:rPr>
              <a:t>LumB</a:t>
            </a:r>
            <a:r>
              <a:rPr lang="en-CA" sz="1200" kern="1200" dirty="0">
                <a:solidFill>
                  <a:schemeClr val="tx1"/>
                </a:solidFill>
                <a:effectLst/>
                <a:latin typeface="+mn-lt"/>
                <a:ea typeface="+mn-ea"/>
                <a:cs typeface="+mn-cs"/>
              </a:rPr>
              <a:t> all fail this test — their immune landscapes were relatively homogeneous.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Only Normal-like passes, with 37 samples splitting into IC1 of 24 and IC2 of 13 samples  — that's 35% in the smaller cluster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 The PCA scatter plot confirms this separation, with PC1 explaining 42% of the immune variance separating the two groups.</a:t>
            </a: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8</a:t>
            </a:fld>
            <a:endParaRPr lang="en-CA"/>
          </a:p>
        </p:txBody>
      </p:sp>
    </p:spTree>
    <p:extLst>
      <p:ext uri="{BB962C8B-B14F-4D97-AF65-F5344CB8AC3E}">
        <p14:creationId xmlns:p14="http://schemas.microsoft.com/office/powerpoint/2010/main" val="3379977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So what makes IC1 and IC2 biologically different?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IC1 is immune-cold — low infiltration across all methods, stromal gene upregulation, and No T-cell activation markers.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M2 macrophages actively suppress cytotoxic immunity and likely drive the immune exclusion in these tumours.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IC2 is strikingly different.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We see T cell receptor variable genes — TRBV5-1 and TRAV8-2 — indicating clonally expanded, antigen-specific T cells.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These aren't just T cells that wandered in; these are T cells that recognised a tumour antigen and proliferated in response.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Alongside this, we see the checkpoint genes PD-1, PD-L1, LAG3, and TIGIT co-elevated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Also, the elevated presence of B-cells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 And this IC1 vs IC2 difference is validated independently by CIBERSORT,, which was not used in constructing these clusters-B cell was significantly higher in cluster 2 — confirming this is real biology, not an algorithmic artefact.</a:t>
            </a: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9</a:t>
            </a:fld>
            <a:endParaRPr lang="en-CA"/>
          </a:p>
        </p:txBody>
      </p:sp>
    </p:spTree>
    <p:extLst>
      <p:ext uri="{BB962C8B-B14F-4D97-AF65-F5344CB8AC3E}">
        <p14:creationId xmlns:p14="http://schemas.microsoft.com/office/powerpoint/2010/main" val="593237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Across all five subtypes, DESeq2 identifies hundreds to over a thousand differentially expressed genes between immune-active and immune-cold groups.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bar chart shows a consistent pattern — far more genes are upregulated in immune-active tumours than downregulated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 Two findings stand out. First, six genes — NKG7, CD247, CD8A, TBX21, CD2, and GZMA — are upregulated in at least four of the five subtypes. These form a universal cytotoxic T cell signature.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Second, unique to Normal-like IC2 are the TCR variable genes TRBV5-1 and TRAV8-2 — indicating the clonal T cell expansion we identified in the clustering.</a:t>
            </a: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10</a:t>
            </a:fld>
            <a:endParaRPr lang="en-CA"/>
          </a:p>
        </p:txBody>
      </p:sp>
    </p:spTree>
    <p:extLst>
      <p:ext uri="{BB962C8B-B14F-4D97-AF65-F5344CB8AC3E}">
        <p14:creationId xmlns:p14="http://schemas.microsoft.com/office/powerpoint/2010/main" val="1357774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This 2 bubble plots are for the hallmark enrichment and the </a:t>
            </a:r>
            <a:r>
              <a:rPr lang="en-CA" sz="1200" kern="1200" dirty="0" err="1">
                <a:solidFill>
                  <a:schemeClr val="tx1"/>
                </a:solidFill>
                <a:effectLst/>
                <a:latin typeface="+mn-lt"/>
                <a:ea typeface="+mn-ea"/>
                <a:cs typeface="+mn-cs"/>
              </a:rPr>
              <a:t>Reactome</a:t>
            </a:r>
            <a:r>
              <a:rPr lang="en-CA" sz="1200" kern="1200" dirty="0">
                <a:solidFill>
                  <a:schemeClr val="tx1"/>
                </a:solidFill>
                <a:effectLst/>
                <a:latin typeface="+mn-lt"/>
                <a:ea typeface="+mn-ea"/>
                <a:cs typeface="+mn-cs"/>
              </a:rPr>
              <a:t> immune pathway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On the left side, bubble plots for Normal-like show that immune-active IC2 is enriched for interferon-gamma response and allograft rejection pathways — both hallmarks of active cytotoxic immunity.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 However, The left side of this plot shows immune-cold IC1 enriched for estrogen response and proliferation pathways, consistent with the luminal/stromal biology of that group.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If we look at the </a:t>
            </a:r>
            <a:r>
              <a:rPr lang="en-CA" sz="1200" kern="1200" dirty="0" err="1">
                <a:solidFill>
                  <a:schemeClr val="tx1"/>
                </a:solidFill>
                <a:effectLst/>
                <a:latin typeface="+mn-lt"/>
                <a:ea typeface="+mn-ea"/>
                <a:cs typeface="+mn-cs"/>
              </a:rPr>
              <a:t>reactome</a:t>
            </a:r>
            <a:r>
              <a:rPr lang="en-CA" sz="1200" kern="1200" dirty="0">
                <a:solidFill>
                  <a:schemeClr val="tx1"/>
                </a:solidFill>
                <a:effectLst/>
                <a:latin typeface="+mn-lt"/>
                <a:ea typeface="+mn-ea"/>
                <a:cs typeface="+mn-cs"/>
              </a:rPr>
              <a:t> bubble plot on the right IC2 is enriched for B cell related pathways and highly </a:t>
            </a:r>
            <a:r>
              <a:rPr lang="en-CA" sz="1200" kern="1200" dirty="0" err="1">
                <a:solidFill>
                  <a:schemeClr val="tx1"/>
                </a:solidFill>
                <a:effectLst/>
                <a:latin typeface="+mn-lt"/>
                <a:ea typeface="+mn-ea"/>
                <a:cs typeface="+mn-cs"/>
              </a:rPr>
              <a:t>emriched</a:t>
            </a:r>
            <a:r>
              <a:rPr lang="en-CA" sz="1200" kern="1200" dirty="0">
                <a:solidFill>
                  <a:schemeClr val="tx1"/>
                </a:solidFill>
                <a:effectLst/>
                <a:latin typeface="+mn-lt"/>
                <a:ea typeface="+mn-ea"/>
                <a:cs typeface="+mn-cs"/>
              </a:rPr>
              <a:t> for </a:t>
            </a:r>
            <a:r>
              <a:rPr lang="en-CA" sz="1200" kern="1200" dirty="0" err="1">
                <a:solidFill>
                  <a:schemeClr val="tx1"/>
                </a:solidFill>
                <a:effectLst/>
                <a:latin typeface="+mn-lt"/>
                <a:ea typeface="+mn-ea"/>
                <a:cs typeface="+mn-cs"/>
              </a:rPr>
              <a:t>interluckin</a:t>
            </a:r>
            <a:r>
              <a:rPr lang="en-CA" sz="1200" kern="1200" dirty="0">
                <a:solidFill>
                  <a:schemeClr val="tx1"/>
                </a:solidFill>
                <a:effectLst/>
                <a:latin typeface="+mn-lt"/>
                <a:ea typeface="+mn-ea"/>
                <a:cs typeface="+mn-cs"/>
              </a:rPr>
              <a:t> pathway.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Importantly, HALLMARK_ALLOGRAFT_REJECTION and HALLMARK_INTERFERON_GAMMA_RESPONSE are significant in all five PAM50 subtypes — this is our universal finding and it tells us that the core anti-tumour T and NK cell is conserved across breast cancer biology.</a:t>
            </a: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11</a:t>
            </a:fld>
            <a:endParaRPr lang="en-CA"/>
          </a:p>
        </p:txBody>
      </p:sp>
    </p:spTree>
    <p:extLst>
      <p:ext uri="{BB962C8B-B14F-4D97-AF65-F5344CB8AC3E}">
        <p14:creationId xmlns:p14="http://schemas.microsoft.com/office/powerpoint/2010/main" val="4097508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Let me summarise the four key findings.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First: only Normal-like shows genuine discrete immune subgroups — the other four subtypes are immune-homogeneous by this analysis.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Second: IC2 demonstrates clonal antigen-specific T cell expansion with co-elevated checkpoint molecules — this is the phenotype that checkpoint blockade is designed to treat.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Third: Normal-like classification may partly reflect stromal gene dilution.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Fourth: a universal cytotoxic T cell operates across all PAM50 </a:t>
            </a:r>
            <a:r>
              <a:rPr lang="en-CA" sz="1200" kern="1200" dirty="0" err="1">
                <a:solidFill>
                  <a:schemeClr val="tx1"/>
                </a:solidFill>
                <a:effectLst/>
                <a:latin typeface="+mn-lt"/>
                <a:ea typeface="+mn-ea"/>
                <a:cs typeface="+mn-cs"/>
              </a:rPr>
              <a:t>sutypes</a:t>
            </a:r>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12</a:t>
            </a:fld>
            <a:endParaRPr lang="en-CA"/>
          </a:p>
        </p:txBody>
      </p:sp>
    </p:spTree>
    <p:extLst>
      <p:ext uri="{BB962C8B-B14F-4D97-AF65-F5344CB8AC3E}">
        <p14:creationId xmlns:p14="http://schemas.microsoft.com/office/powerpoint/2010/main" val="2908235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D179F-F839-4A90-906A-B59BAF1AC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49B20-A31F-62B5-1068-63B45FF2B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2A262-62E6-C748-B73D-1C1D103166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In conclusion, our analysis shows that immune gene expression reveals clinically meaningful heterogeneity that PAM50 classification misses.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Normal-like IC2 patients express the full checkpoint activation signature alongside cytotoxic T cells — they may be candidates for checkpoint blockade.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The universal cytotoxic cells  suggests immune landscape scoring should complement PAM50 in treatment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The Normal-like stromal finding warrants investigation into whether these patients are currently misclassified.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Future work should validate these subgroups in independent cohorts and test whether IC2 patients indeed have superior responses to immunotherapy.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endParaRPr lang="en-CA" dirty="0"/>
          </a:p>
        </p:txBody>
      </p:sp>
      <p:sp>
        <p:nvSpPr>
          <p:cNvPr id="4" name="Slide Number Placeholder 3">
            <a:extLst>
              <a:ext uri="{FF2B5EF4-FFF2-40B4-BE49-F238E27FC236}">
                <a16:creationId xmlns:a16="http://schemas.microsoft.com/office/drawing/2014/main" id="{13B3E46A-2EFC-675E-C2FC-86C6CBFFCC87}"/>
              </a:ext>
            </a:extLst>
          </p:cNvPr>
          <p:cNvSpPr>
            <a:spLocks noGrp="1"/>
          </p:cNvSpPr>
          <p:nvPr>
            <p:ph type="sldNum" sz="quarter" idx="5"/>
          </p:nvPr>
        </p:nvSpPr>
        <p:spPr/>
        <p:txBody>
          <a:bodyPr/>
          <a:lstStyle/>
          <a:p>
            <a:fld id="{76A0DCAE-B34E-440E-ACF7-A6565B7EFE7A}" type="slidenum">
              <a:rPr lang="en-CA" smtClean="0"/>
              <a:t>13</a:t>
            </a:fld>
            <a:endParaRPr lang="en-CA"/>
          </a:p>
        </p:txBody>
      </p:sp>
    </p:spTree>
    <p:extLst>
      <p:ext uri="{BB962C8B-B14F-4D97-AF65-F5344CB8AC3E}">
        <p14:creationId xmlns:p14="http://schemas.microsoft.com/office/powerpoint/2010/main" val="457931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Thank you — I'm happy to take questions.</a:t>
            </a:r>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15</a:t>
            </a:fld>
            <a:endParaRPr lang="en-CA"/>
          </a:p>
        </p:txBody>
      </p:sp>
    </p:spTree>
    <p:extLst>
      <p:ext uri="{BB962C8B-B14F-4D97-AF65-F5344CB8AC3E}">
        <p14:creationId xmlns:p14="http://schemas.microsoft.com/office/powerpoint/2010/main" val="1125359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C6892-0DDD-38FB-7119-E6225459B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7B226-3181-E1A1-3020-70C1D4FA5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A1473-3F44-6519-9376-840FB4A46FF9}"/>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Let me start with why this matters clinically.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Breast cancer affects 2.3 million women worldwide every year and nearly 685K patients die.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Despite significant advances in treatment, around 30% of patients eventually relapse — even those who initially respond well to therapy.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We currently classify breast cancer into five molecular subtypes using the PAM50 system, but this classification describes tumour cell biology only. It tells us nothing about the immune microenvironment surrounding the tumour.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i="1" kern="1200" dirty="0">
                <a:solidFill>
                  <a:schemeClr val="tx1"/>
                </a:solidFill>
                <a:effectLst/>
                <a:latin typeface="+mn-lt"/>
                <a:ea typeface="+mn-ea"/>
                <a:cs typeface="+mn-cs"/>
              </a:rPr>
              <a:t>5. </a:t>
            </a:r>
            <a:r>
              <a:rPr lang="en-US" i="1" dirty="0"/>
              <a:t>Let me walk you through the core problem with how we currently classify and treat breast cancer."</a:t>
            </a:r>
            <a:endParaRPr lang="en-US" dirty="0"/>
          </a:p>
          <a:p>
            <a:br>
              <a:rPr lang="en-US" dirty="0"/>
            </a:br>
            <a:r>
              <a:rPr lang="en-US" dirty="0"/>
              <a:t>6.</a:t>
            </a:r>
            <a:r>
              <a:rPr lang="en-US" b="1" dirty="0"/>
              <a:t> Same subtype, different outcomes</a:t>
            </a:r>
          </a:p>
          <a:p>
            <a:r>
              <a:rPr lang="en-US" dirty="0"/>
              <a:t>PAM50 gives two patients the </a:t>
            </a:r>
            <a:r>
              <a:rPr lang="en-US" b="1" dirty="0"/>
              <a:t>same label</a:t>
            </a:r>
            <a:r>
              <a:rPr lang="en-US" dirty="0"/>
              <a:t> — but their </a:t>
            </a:r>
            <a:r>
              <a:rPr lang="en-US" dirty="0" err="1"/>
              <a:t>tumours</a:t>
            </a:r>
            <a:r>
              <a:rPr lang="en-US" dirty="0"/>
              <a:t> behave completely differently and so their response to treatment</a:t>
            </a:r>
          </a:p>
          <a:p>
            <a:r>
              <a:rPr lang="en-US" dirty="0"/>
              <a:t>The subtype label tells us what </a:t>
            </a:r>
            <a:r>
              <a:rPr lang="en-US" b="1" dirty="0"/>
              <a:t>kind</a:t>
            </a:r>
            <a:r>
              <a:rPr lang="en-US" dirty="0"/>
              <a:t> of cancer it is — but not </a:t>
            </a:r>
            <a:r>
              <a:rPr lang="en-US" b="1" dirty="0"/>
              <a:t>why</a:t>
            </a:r>
            <a:r>
              <a:rPr lang="en-US" dirty="0"/>
              <a:t> one patient responds and the other doesn't</a:t>
            </a:r>
          </a:p>
          <a:p>
            <a:r>
              <a:rPr lang="en-US" dirty="0"/>
              <a:t>Something beyond the molecular subtype is driving this difference — and I believe it's the </a:t>
            </a:r>
            <a:r>
              <a:rPr lang="en-US" b="1" dirty="0"/>
              <a:t>immune microenvironment</a:t>
            </a:r>
            <a:endParaRPr lang="en-US" dirty="0"/>
          </a:p>
          <a:p>
            <a:br>
              <a:rPr lang="en-US" dirty="0"/>
            </a:br>
            <a:endParaRPr lang="en-US" dirty="0"/>
          </a:p>
          <a:p>
            <a:r>
              <a:rPr lang="en-US" b="1" dirty="0"/>
              <a:t>▸ Standard classification is incomplete</a:t>
            </a:r>
          </a:p>
          <a:p>
            <a:r>
              <a:rPr lang="en-US" dirty="0"/>
              <a:t>PAM50 was built using 50 genes that reflect </a:t>
            </a:r>
            <a:r>
              <a:rPr lang="en-US" b="1" dirty="0" err="1"/>
              <a:t>tumour</a:t>
            </a:r>
            <a:r>
              <a:rPr lang="en-US" b="1" dirty="0"/>
              <a:t> cell biology</a:t>
            </a:r>
            <a:r>
              <a:rPr lang="en-US" dirty="0"/>
              <a:t> — proliferation rate, hormone receptor status, HER2 expression</a:t>
            </a:r>
          </a:p>
          <a:p>
            <a:r>
              <a:rPr lang="en-US" dirty="0"/>
              <a:t>Those 50 genes were deliberately chosen to </a:t>
            </a:r>
            <a:r>
              <a:rPr lang="en-US" b="1" dirty="0"/>
              <a:t>exclude</a:t>
            </a:r>
            <a:r>
              <a:rPr lang="en-US" dirty="0"/>
              <a:t> stromal and immune signals </a:t>
            </a:r>
          </a:p>
          <a:p>
            <a:r>
              <a:rPr lang="en-US" dirty="0"/>
              <a:t>So by design, PAM50 is blind to everything happening </a:t>
            </a:r>
            <a:r>
              <a:rPr lang="en-US" b="1" dirty="0"/>
              <a:t>around</a:t>
            </a:r>
            <a:r>
              <a:rPr lang="en-US" dirty="0"/>
              <a:t> the </a:t>
            </a:r>
            <a:r>
              <a:rPr lang="en-US" dirty="0" err="1"/>
              <a:t>tumour</a:t>
            </a:r>
            <a:r>
              <a:rPr lang="en-US" dirty="0"/>
              <a:t> cell</a:t>
            </a:r>
          </a:p>
          <a:p>
            <a:r>
              <a:rPr lang="en-US" dirty="0"/>
              <a:t>We are making clinical decisions with a classification that only sees </a:t>
            </a:r>
            <a:r>
              <a:rPr lang="en-US" b="1" dirty="0"/>
              <a:t>half of the picture</a:t>
            </a:r>
            <a:endParaRPr lang="en-US" dirty="0"/>
          </a:p>
          <a:p>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Immune context is missing-</a:t>
            </a:r>
            <a:r>
              <a:rPr lang="en-US" sz="1200" b="1" dirty="0">
                <a:solidFill>
                  <a:schemeClr val="tx2">
                    <a:lumMod val="10000"/>
                    <a:lumOff val="90000"/>
                  </a:schemeClr>
                </a:solidFill>
                <a:latin typeface="Calibri" pitchFamily="34" charset="0"/>
                <a:ea typeface="Calibri" pitchFamily="34" charset="-122"/>
                <a:cs typeface="Calibri" pitchFamily="34" charset="-120"/>
              </a:rPr>
              <a:t>TILs, macrophage </a:t>
            </a:r>
            <a:r>
              <a:rPr lang="en-US" sz="1200" b="1" dirty="0" err="1">
                <a:solidFill>
                  <a:schemeClr val="tx2">
                    <a:lumMod val="10000"/>
                    <a:lumOff val="90000"/>
                  </a:schemeClr>
                </a:solidFill>
                <a:latin typeface="Calibri" pitchFamily="34" charset="0"/>
                <a:ea typeface="Calibri" pitchFamily="34" charset="-122"/>
                <a:cs typeface="Calibri" pitchFamily="34" charset="-120"/>
              </a:rPr>
              <a:t>polarisation</a:t>
            </a:r>
            <a:r>
              <a:rPr lang="en-US" sz="1200" b="1" dirty="0">
                <a:solidFill>
                  <a:schemeClr val="tx2">
                    <a:lumMod val="10000"/>
                    <a:lumOff val="90000"/>
                  </a:schemeClr>
                </a:solidFill>
                <a:latin typeface="Calibri" pitchFamily="34" charset="0"/>
                <a:ea typeface="Calibri" pitchFamily="34" charset="-122"/>
                <a:cs typeface="Calibri" pitchFamily="34" charset="-120"/>
              </a:rPr>
              <a:t>, and checkpoint expression vary enormously within each subtype.</a:t>
            </a:r>
            <a:r>
              <a:rPr lang="en-US" dirty="0"/>
              <a:t> None of this is captured with PAM50 subtype. None of this informs treatment decisions. </a:t>
            </a:r>
            <a:r>
              <a:rPr lang="en-US" b="1" dirty="0"/>
              <a:t>That is the gap this project addresses.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2">
                  <a:lumMod val="10000"/>
                  <a:lumOff val="90000"/>
                </a:schemeClr>
              </a:solidFill>
            </a:endParaRPr>
          </a:p>
          <a:p>
            <a:r>
              <a:rPr lang="en-US" b="1" dirty="0"/>
              <a:t>▸ Treatment decisions ignore immunity</a:t>
            </a:r>
          </a:p>
          <a:p>
            <a:r>
              <a:rPr lang="en-US" dirty="0"/>
              <a:t>Checkpoint blockade drugs like </a:t>
            </a:r>
            <a:r>
              <a:rPr lang="en-US" b="1" dirty="0"/>
              <a:t>pembrolizumab</a:t>
            </a:r>
            <a:r>
              <a:rPr lang="en-US" dirty="0"/>
              <a:t> and </a:t>
            </a:r>
            <a:r>
              <a:rPr lang="en-US" b="1" dirty="0"/>
              <a:t>atezolizumab</a:t>
            </a:r>
            <a:r>
              <a:rPr lang="en-US" dirty="0"/>
              <a:t> only work in </a:t>
            </a:r>
            <a:r>
              <a:rPr lang="en-US" dirty="0" err="1"/>
              <a:t>tumours</a:t>
            </a:r>
            <a:r>
              <a:rPr lang="en-US" dirty="0"/>
              <a:t> where T cells are present and active</a:t>
            </a:r>
          </a:p>
          <a:p>
            <a:r>
              <a:rPr lang="en-US" dirty="0"/>
              <a:t>A patient with an immune-cold </a:t>
            </a:r>
            <a:r>
              <a:rPr lang="en-US" dirty="0" err="1"/>
              <a:t>LumA</a:t>
            </a:r>
            <a:r>
              <a:rPr lang="en-US" dirty="0"/>
              <a:t> </a:t>
            </a:r>
            <a:r>
              <a:rPr lang="en-US" dirty="0" err="1"/>
              <a:t>tumour</a:t>
            </a:r>
            <a:r>
              <a:rPr lang="en-US" dirty="0"/>
              <a:t> will not respond — but a patient with an immune-active </a:t>
            </a:r>
            <a:r>
              <a:rPr lang="en-US" dirty="0" err="1"/>
              <a:t>LumA</a:t>
            </a:r>
            <a:r>
              <a:rPr lang="en-US" dirty="0"/>
              <a:t> </a:t>
            </a:r>
            <a:r>
              <a:rPr lang="en-US" dirty="0" err="1"/>
              <a:t>tumour</a:t>
            </a:r>
            <a:r>
              <a:rPr lang="en-US" dirty="0"/>
              <a:t> might benefit enormously</a:t>
            </a:r>
          </a:p>
          <a:p>
            <a:r>
              <a:rPr lang="en-US" dirty="0"/>
              <a:t>PAM50 classification alone </a:t>
            </a:r>
            <a:r>
              <a:rPr lang="en-US" b="1" dirty="0"/>
              <a:t>cannot tell us which patient is which</a:t>
            </a:r>
            <a:endParaRPr lang="en-US" dirty="0"/>
          </a:p>
          <a:p>
            <a:r>
              <a:rPr lang="en-US" dirty="0"/>
              <a:t>We are potentially denying immunotherapy to patients who would respond, and offering it to patients who won't — because we are not looking at the immune landscape</a:t>
            </a:r>
          </a:p>
          <a:p>
            <a:br>
              <a:rPr lang="en-US" dirty="0"/>
            </a:br>
            <a:endParaRPr lang="en-US" sz="1200" dirty="0">
              <a:solidFill>
                <a:srgbClr val="1E293B"/>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E293B"/>
              </a:solidFill>
              <a:latin typeface="Calibri" pitchFamily="34" charset="0"/>
              <a:ea typeface="Calibri" pitchFamily="34" charset="-122"/>
              <a:cs typeface="Calibri" pitchFamily="34" charset="-120"/>
            </a:endParaRPr>
          </a:p>
          <a:p>
            <a:endParaRPr lang="en-CA" dirty="0"/>
          </a:p>
        </p:txBody>
      </p:sp>
      <p:sp>
        <p:nvSpPr>
          <p:cNvPr id="4" name="Slide Number Placeholder 3">
            <a:extLst>
              <a:ext uri="{FF2B5EF4-FFF2-40B4-BE49-F238E27FC236}">
                <a16:creationId xmlns:a16="http://schemas.microsoft.com/office/drawing/2014/main" id="{F0E8E32D-9B41-27D0-B5DB-031D6ABC5256}"/>
              </a:ext>
            </a:extLst>
          </p:cNvPr>
          <p:cNvSpPr>
            <a:spLocks noGrp="1"/>
          </p:cNvSpPr>
          <p:nvPr>
            <p:ph type="sldNum" sz="quarter" idx="5"/>
          </p:nvPr>
        </p:nvSpPr>
        <p:spPr/>
        <p:txBody>
          <a:bodyPr/>
          <a:lstStyle/>
          <a:p>
            <a:fld id="{76A0DCAE-B34E-440E-ACF7-A6565B7EFE7A}" type="slidenum">
              <a:rPr lang="en-CA" smtClean="0"/>
              <a:t>17</a:t>
            </a:fld>
            <a:endParaRPr lang="en-CA"/>
          </a:p>
        </p:txBody>
      </p:sp>
    </p:spTree>
    <p:extLst>
      <p:ext uri="{BB962C8B-B14F-4D97-AF65-F5344CB8AC3E}">
        <p14:creationId xmlns:p14="http://schemas.microsoft.com/office/powerpoint/2010/main" val="2883755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This gap has three direct clinical consequences. </a:t>
            </a:r>
          </a:p>
          <a:p>
            <a:r>
              <a:rPr lang="en-CA" sz="1200" kern="1200" dirty="0">
                <a:solidFill>
                  <a:schemeClr val="tx1"/>
                </a:solidFill>
                <a:effectLst/>
                <a:latin typeface="+mn-lt"/>
                <a:ea typeface="+mn-ea"/>
                <a:cs typeface="+mn-cs"/>
              </a:rPr>
              <a:t>First, checkpoint blockade therapies like pembrolizumab only work in tumours with T cell infiltration — without immune profiling, we cannot identify which patients will benefit. </a:t>
            </a:r>
          </a:p>
          <a:p>
            <a:r>
              <a:rPr lang="en-CA" sz="1200" kern="1200" dirty="0">
                <a:solidFill>
                  <a:schemeClr val="tx1"/>
                </a:solidFill>
                <a:effectLst/>
                <a:latin typeface="+mn-lt"/>
                <a:ea typeface="+mn-ea"/>
                <a:cs typeface="+mn-cs"/>
              </a:rPr>
              <a:t>Second, tumour-infiltrating lymphocyte scores predict survival independently of stage and PAM50 subtype — this information exists in the expression data but we don't currently use it for treatment decisions. </a:t>
            </a:r>
          </a:p>
          <a:p>
            <a:r>
              <a:rPr lang="en-CA" sz="1200" kern="1200" dirty="0">
                <a:solidFill>
                  <a:schemeClr val="tx1"/>
                </a:solidFill>
                <a:effectLst/>
                <a:latin typeface="+mn-lt"/>
                <a:ea typeface="+mn-ea"/>
                <a:cs typeface="+mn-cs"/>
              </a:rPr>
              <a:t>Third, </a:t>
            </a:r>
            <a:r>
              <a:rPr lang="en-US" sz="1200" dirty="0">
                <a:solidFill>
                  <a:srgbClr val="1E293B"/>
                </a:solidFill>
                <a:latin typeface="Calibri" pitchFamily="34" charset="0"/>
                <a:ea typeface="Calibri" pitchFamily="34" charset="-122"/>
                <a:cs typeface="Calibri" pitchFamily="34" charset="-120"/>
              </a:rPr>
              <a:t>Understanding shared immune </a:t>
            </a:r>
            <a:r>
              <a:rPr lang="en-US" sz="1200" dirty="0" err="1">
                <a:solidFill>
                  <a:srgbClr val="1E293B"/>
                </a:solidFill>
                <a:latin typeface="Calibri" pitchFamily="34" charset="0"/>
                <a:ea typeface="Calibri" pitchFamily="34" charset="-122"/>
                <a:cs typeface="Calibri" pitchFamily="34" charset="-120"/>
              </a:rPr>
              <a:t>programmes</a:t>
            </a:r>
            <a:r>
              <a:rPr lang="en-US" sz="1200" dirty="0">
                <a:solidFill>
                  <a:srgbClr val="1E293B"/>
                </a:solidFill>
                <a:latin typeface="Calibri" pitchFamily="34" charset="0"/>
                <a:ea typeface="Calibri" pitchFamily="34" charset="-122"/>
                <a:cs typeface="Calibri" pitchFamily="34" charset="-120"/>
              </a:rPr>
              <a:t> across subtypes may unlock cross-subtype treatment strategies</a:t>
            </a:r>
            <a:endParaRPr lang="en-US" sz="1200" b="1" dirty="0">
              <a:solidFill>
                <a:srgbClr val="D0F0E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D0F0E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D0F0E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D0F0E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D0F0EE"/>
                </a:solidFill>
                <a:latin typeface="Calibri" pitchFamily="34" charset="0"/>
                <a:ea typeface="Calibri" pitchFamily="34" charset="-122"/>
                <a:cs typeface="Calibri" pitchFamily="34" charset="-120"/>
              </a:rPr>
              <a:t>The </a:t>
            </a:r>
            <a:r>
              <a:rPr lang="en-US" sz="1200" b="1" dirty="0" err="1">
                <a:solidFill>
                  <a:srgbClr val="D0F0EE"/>
                </a:solidFill>
                <a:latin typeface="Calibri" pitchFamily="34" charset="0"/>
                <a:ea typeface="Calibri" pitchFamily="34" charset="-122"/>
                <a:cs typeface="Calibri" pitchFamily="34" charset="-120"/>
              </a:rPr>
              <a:t>tumour</a:t>
            </a:r>
            <a:r>
              <a:rPr lang="en-US" sz="1200" b="1" dirty="0">
                <a:solidFill>
                  <a:srgbClr val="D0F0EE"/>
                </a:solidFill>
                <a:latin typeface="Calibri" pitchFamily="34" charset="0"/>
                <a:ea typeface="Calibri" pitchFamily="34" charset="-122"/>
                <a:cs typeface="Calibri" pitchFamily="34" charset="-120"/>
              </a:rPr>
              <a:t> microenvironment (TME) </a:t>
            </a:r>
            <a:r>
              <a:rPr lang="en-US" sz="1200" dirty="0">
                <a:solidFill>
                  <a:srgbClr val="FFFFFF"/>
                </a:solidFill>
                <a:latin typeface="Calibri" pitchFamily="34" charset="0"/>
                <a:ea typeface="Calibri" pitchFamily="34" charset="-122"/>
                <a:cs typeface="Calibri" pitchFamily="34" charset="-120"/>
              </a:rPr>
              <a:t>consists of </a:t>
            </a:r>
            <a:r>
              <a:rPr lang="en-US" sz="1200" dirty="0" err="1">
                <a:solidFill>
                  <a:srgbClr val="FFFFFF"/>
                </a:solidFill>
                <a:latin typeface="Calibri" pitchFamily="34" charset="0"/>
                <a:ea typeface="Calibri" pitchFamily="34" charset="-122"/>
                <a:cs typeface="Calibri" pitchFamily="34" charset="-120"/>
              </a:rPr>
              <a:t>tumour</a:t>
            </a:r>
            <a:r>
              <a:rPr lang="en-US" sz="1200" dirty="0">
                <a:solidFill>
                  <a:srgbClr val="FFFFFF"/>
                </a:solidFill>
                <a:latin typeface="Calibri" pitchFamily="34" charset="0"/>
                <a:ea typeface="Calibri" pitchFamily="34" charset="-122"/>
                <a:cs typeface="Calibri" pitchFamily="34" charset="-120"/>
              </a:rPr>
              <a:t> cells, immune cells, stromal cells and their </a:t>
            </a:r>
            <a:r>
              <a:rPr lang="en-US" sz="1200" dirty="0" err="1">
                <a:solidFill>
                  <a:srgbClr val="FFFFFF"/>
                </a:solidFill>
                <a:latin typeface="Calibri" pitchFamily="34" charset="0"/>
                <a:ea typeface="Calibri" pitchFamily="34" charset="-122"/>
                <a:cs typeface="Calibri" pitchFamily="34" charset="-120"/>
              </a:rPr>
              <a:t>signalling</a:t>
            </a:r>
            <a:r>
              <a:rPr lang="en-US" sz="1200" dirty="0">
                <a:solidFill>
                  <a:srgbClr val="FFFFFF"/>
                </a:solidFill>
                <a:latin typeface="Calibri" pitchFamily="34" charset="0"/>
                <a:ea typeface="Calibri" pitchFamily="34" charset="-122"/>
                <a:cs typeface="Calibri" pitchFamily="34" charset="-120"/>
              </a:rPr>
              <a:t> molecules. The composition of the TME determines therapy response and patient survival. </a:t>
            </a:r>
            <a:r>
              <a:rPr lang="en-US" dirty="0"/>
              <a:t>While patients might share the same clinical label (like Luminal A), their biological "soil"—the </a:t>
            </a:r>
            <a:r>
              <a:rPr lang="en-US" b="1" dirty="0"/>
              <a:t>Tumor Immune Microenvironment (TIME)</a:t>
            </a:r>
            <a:r>
              <a:rPr lang="en-US" dirty="0"/>
              <a:t>—can be completely different, leading to varied treatment responses.</a:t>
            </a:r>
            <a:endParaRPr lang="en-US" sz="1200" dirty="0">
              <a:solidFill>
                <a:srgbClr val="FFFFFF"/>
              </a:solidFill>
              <a:latin typeface="Calibri" pitchFamily="34" charset="0"/>
              <a:ea typeface="Calibri" pitchFamily="34" charset="-122"/>
              <a:cs typeface="Calibri" pitchFamily="34" charset="-120"/>
            </a:endParaRPr>
          </a:p>
          <a:p>
            <a:br>
              <a:rPr lang="en-US" dirty="0"/>
            </a:br>
            <a:endParaRPr lang="en-US" dirty="0"/>
          </a:p>
          <a:p>
            <a:r>
              <a:rPr lang="en-US" b="1" dirty="0"/>
              <a:t>Slide 5 — Why Immune Heterogeneity Matters</a:t>
            </a:r>
          </a:p>
          <a:p>
            <a:r>
              <a:rPr lang="en-US" b="1" dirty="0"/>
              <a:t>"PD-1/PD-L1 inhibitors work only in </a:t>
            </a:r>
            <a:r>
              <a:rPr lang="en-US" b="1" dirty="0" err="1"/>
              <a:t>tumours</a:t>
            </a:r>
            <a:r>
              <a:rPr lang="en-US" b="1" dirty="0"/>
              <a:t> with T cell infiltration"</a:t>
            </a:r>
            <a:endParaRPr lang="en-US" dirty="0"/>
          </a:p>
          <a:p>
            <a:r>
              <a:rPr lang="en-US" b="1" dirty="0"/>
              <a:t>Reference:</a:t>
            </a:r>
            <a:r>
              <a:rPr lang="en-US" dirty="0"/>
              <a:t> Topalian SL et al. (2012). Safety, activity, and immune correlates of anti–PD-1 antibody in cancer. </a:t>
            </a:r>
            <a:r>
              <a:rPr lang="en-US" i="1" dirty="0"/>
              <a:t>NEJM</a:t>
            </a:r>
            <a:r>
              <a:rPr lang="en-US" dirty="0"/>
              <a:t> 366:2443–2454. doi:10.1056/NEJMoa1200690</a:t>
            </a:r>
          </a:p>
          <a:p>
            <a:r>
              <a:rPr lang="en-US" b="1" dirty="0"/>
              <a:t>Reference:</a:t>
            </a:r>
            <a:r>
              <a:rPr lang="en-US" dirty="0"/>
              <a:t> Schmid P et al. (2018). Atezolizumab and nab-paclitaxel in advanced triple-negative breast cancer. </a:t>
            </a:r>
            <a:r>
              <a:rPr lang="en-US" i="1" dirty="0"/>
              <a:t>NEJM</a:t>
            </a:r>
            <a:r>
              <a:rPr lang="en-US" dirty="0"/>
              <a:t> 379:2108–2121. doi:10.1056/NEJMoa1809615 — IMpassion130, the landmark breast cancer immunotherapy trial.</a:t>
            </a:r>
          </a:p>
          <a:p>
            <a:r>
              <a:rPr lang="en-US" b="1" dirty="0"/>
              <a:t>"TIL scores predict survival independently of </a:t>
            </a:r>
            <a:r>
              <a:rPr lang="en-US" b="1" dirty="0" err="1"/>
              <a:t>tumour</a:t>
            </a:r>
            <a:r>
              <a:rPr lang="en-US" b="1" dirty="0"/>
              <a:t> stage, grade, and PAM50 subtype"</a:t>
            </a:r>
            <a:endParaRPr lang="en-US" dirty="0"/>
          </a:p>
          <a:p>
            <a:r>
              <a:rPr lang="en-US" dirty="0" err="1"/>
              <a:t>Denkert</a:t>
            </a:r>
            <a:r>
              <a:rPr lang="en-US" dirty="0"/>
              <a:t> and colleagues showed in a pooled analysis of 3,771 patients that increased TIL concentration predicted response to neoadjuvant chemotherapy in all molecular subtypes and was associated with a survival benefit in HER2-positive breast cancer and TNBC. </a:t>
            </a:r>
            <a:r>
              <a:rPr lang="en-US" dirty="0">
                <a:hlinkClick r:id="rId3"/>
              </a:rPr>
              <a:t>The Lancet</a:t>
            </a:r>
            <a:endParaRPr lang="en-US" dirty="0"/>
          </a:p>
          <a:p>
            <a:r>
              <a:rPr lang="en-US" b="1" dirty="0"/>
              <a:t>Reference:</a:t>
            </a:r>
            <a:r>
              <a:rPr lang="en-US" dirty="0"/>
              <a:t> </a:t>
            </a:r>
            <a:r>
              <a:rPr lang="en-US" dirty="0" err="1"/>
              <a:t>Denkert</a:t>
            </a:r>
            <a:r>
              <a:rPr lang="en-US" dirty="0"/>
              <a:t> C et al. (2018). </a:t>
            </a:r>
            <a:r>
              <a:rPr lang="en-US" dirty="0" err="1"/>
              <a:t>Tumour</a:t>
            </a:r>
            <a:r>
              <a:rPr lang="en-US" dirty="0"/>
              <a:t>-infiltrating lymphocytes and prognosis in different subtypes of breast cancer: a pooled analysis of 3771 patients treated with neoadjuvant therapy. </a:t>
            </a:r>
            <a:r>
              <a:rPr lang="en-US" i="1" dirty="0"/>
              <a:t>Lancet Oncology</a:t>
            </a:r>
            <a:r>
              <a:rPr lang="en-US" dirty="0"/>
              <a:t> 19(1):40–50. doi:10.1016/S1470-2045(17)30904-X</a:t>
            </a:r>
          </a:p>
          <a:p>
            <a:r>
              <a:rPr lang="en-US" b="1" dirty="0"/>
              <a:t>"Immune-hot </a:t>
            </a:r>
            <a:r>
              <a:rPr lang="en-US" b="1" dirty="0" err="1"/>
              <a:t>LumA</a:t>
            </a:r>
            <a:r>
              <a:rPr lang="en-US" b="1" dirty="0"/>
              <a:t> </a:t>
            </a:r>
            <a:r>
              <a:rPr lang="en-US" b="1" dirty="0" err="1"/>
              <a:t>tumours</a:t>
            </a:r>
            <a:r>
              <a:rPr lang="en-US" b="1" dirty="0"/>
              <a:t> have biologically identical </a:t>
            </a:r>
            <a:r>
              <a:rPr lang="en-US" b="1" dirty="0" err="1"/>
              <a:t>programmes</a:t>
            </a:r>
            <a:r>
              <a:rPr lang="en-US" b="1" dirty="0"/>
              <a:t> to immune-hot Basal"</a:t>
            </a:r>
            <a:endParaRPr lang="en-US" dirty="0"/>
          </a:p>
          <a:p>
            <a:r>
              <a:rPr lang="en-US" b="1" dirty="0"/>
              <a:t>Reference:</a:t>
            </a:r>
            <a:r>
              <a:rPr lang="en-US" dirty="0"/>
              <a:t> This is a finding from your own analysis (Script 08 DEG results). Supported by: </a:t>
            </a:r>
            <a:r>
              <a:rPr lang="en-US" dirty="0" err="1"/>
              <a:t>Gruosso</a:t>
            </a:r>
            <a:r>
              <a:rPr lang="en-US" dirty="0"/>
              <a:t> T et al. (2019). Spatially distinct </a:t>
            </a:r>
            <a:r>
              <a:rPr lang="en-US" dirty="0" err="1"/>
              <a:t>tumour</a:t>
            </a:r>
            <a:r>
              <a:rPr lang="en-US" dirty="0"/>
              <a:t> immune niches in human breast cancers are associated with clinical outcome. </a:t>
            </a:r>
            <a:r>
              <a:rPr lang="en-US" i="1" dirty="0"/>
              <a:t>Nature Communications</a:t>
            </a:r>
            <a:r>
              <a:rPr lang="en-US" dirty="0"/>
              <a:t> 10:5093. doi:10.1038/s41467-019-13007-0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CA" dirty="0"/>
          </a:p>
        </p:txBody>
      </p:sp>
      <p:sp>
        <p:nvSpPr>
          <p:cNvPr id="4" name="Slide Number Placeholder 3"/>
          <p:cNvSpPr>
            <a:spLocks noGrp="1"/>
          </p:cNvSpPr>
          <p:nvPr>
            <p:ph type="sldNum" sz="quarter" idx="5"/>
          </p:nvPr>
        </p:nvSpPr>
        <p:spPr/>
        <p:txBody>
          <a:bodyPr/>
          <a:lstStyle/>
          <a:p>
            <a:fld id="{76A0DCAE-B34E-440E-ACF7-A6565B7EFE7A}" type="slidenum">
              <a:rPr lang="en-CA" smtClean="0"/>
              <a:t>18</a:t>
            </a:fld>
            <a:endParaRPr lang="en-CA"/>
          </a:p>
        </p:txBody>
      </p:sp>
    </p:spTree>
    <p:extLst>
      <p:ext uri="{BB962C8B-B14F-4D97-AF65-F5344CB8AC3E}">
        <p14:creationId xmlns:p14="http://schemas.microsoft.com/office/powerpoint/2010/main" val="2645704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Friday, April 17, 2026</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2368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Friday, April 17, 2026</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3625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Friday, April 17, 2026</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04124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Friday, April 17, 2026</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030493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Friday, April 17, 2026</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21421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Friday, April 17, 2026</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1177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Friday, April 17, 2026</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35018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Friday, April 17, 2026</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70361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Friday, April 17, 2026</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6930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Friday, April 17, 2026</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288556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Friday, April 17, 2026</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87362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Friday, April 17, 2026</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747711732"/>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1" r:id="rId6"/>
    <p:sldLayoutId id="2147483817" r:id="rId7"/>
    <p:sldLayoutId id="2147483818" r:id="rId8"/>
    <p:sldLayoutId id="2147483819" r:id="rId9"/>
    <p:sldLayoutId id="2147483820" r:id="rId10"/>
    <p:sldLayoutId id="2147483822"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co.iarc.fr/" TargetMode="External"/><Relationship Id="rId2" Type="http://schemas.openxmlformats.org/officeDocument/2006/relationships/hyperlink" Target="https://www.who.int/news-room/fact-sheets/detail/breast-cancer" TargetMode="External"/><Relationship Id="rId1" Type="http://schemas.openxmlformats.org/officeDocument/2006/relationships/slideLayout" Target="../slideLayouts/slideLayout2.xml"/><Relationship Id="rId4" Type="http://schemas.openxmlformats.org/officeDocument/2006/relationships/hyperlink" Target="https://doi.org/10.1038/nature11412"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FF1867-CA5E-416C-80CB-68BE95CE2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33B6A4-1121-BF4F-459A-AD682434DD7A}"/>
              </a:ext>
            </a:extLst>
          </p:cNvPr>
          <p:cNvSpPr>
            <a:spLocks noGrp="1"/>
          </p:cNvSpPr>
          <p:nvPr>
            <p:ph type="ctrTitle"/>
          </p:nvPr>
        </p:nvSpPr>
        <p:spPr>
          <a:xfrm>
            <a:off x="323269" y="682487"/>
            <a:ext cx="5889117" cy="3127248"/>
          </a:xfrm>
        </p:spPr>
        <p:txBody>
          <a:bodyPr>
            <a:noAutofit/>
          </a:bodyPr>
          <a:lstStyle/>
          <a:p>
            <a:pPr marL="0" indent="0">
              <a:lnSpc>
                <a:spcPct val="90000"/>
              </a:lnSpc>
            </a:pPr>
            <a:r>
              <a:rPr lang="en-US" sz="440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Breast Cancer Immune</a:t>
            </a:r>
            <a:br>
              <a:rPr lang="en-US" sz="440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br>
            <a:r>
              <a:rPr lang="en-US" sz="440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Heterogeneity within the PAM50 subtype</a:t>
            </a:r>
            <a:endParaRPr lang="en-CA" sz="440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5EA2F639-83D8-42FB-805A-0AFD485B9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4022220"/>
            <a:ext cx="12192002" cy="2838735"/>
          </a:xfrm>
          <a:prstGeom prst="rect">
            <a:avLst/>
          </a:prstGeom>
          <a:gradFill>
            <a:gsLst>
              <a:gs pos="8000">
                <a:schemeClr val="accent6"/>
              </a:gs>
              <a:gs pos="100000">
                <a:schemeClr val="accent5">
                  <a:alpha val="9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8DB4E8D-D68B-4463-A009-8FAB6A115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4022219"/>
            <a:ext cx="8153400" cy="2838736"/>
          </a:xfrm>
          <a:prstGeom prst="rect">
            <a:avLst/>
          </a:prstGeom>
          <a:gradFill>
            <a:gsLst>
              <a:gs pos="0">
                <a:schemeClr val="accent5">
                  <a:lumMod val="60000"/>
                  <a:lumOff val="40000"/>
                  <a:alpha val="0"/>
                </a:schemeClr>
              </a:gs>
              <a:gs pos="99000">
                <a:schemeClr val="accent2">
                  <a:alpha val="94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C519481-97EE-45EB-B83B-AE5C46F3D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16759"/>
            <a:ext cx="8441142" cy="2389939"/>
          </a:xfrm>
          <a:prstGeom prst="rect">
            <a:avLst/>
          </a:prstGeom>
          <a:gradFill>
            <a:gsLst>
              <a:gs pos="0">
                <a:schemeClr val="accent6">
                  <a:alpha val="43000"/>
                </a:schemeClr>
              </a:gs>
              <a:gs pos="72000">
                <a:schemeClr val="accent5">
                  <a:alpha val="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F9C1546D-DE23-83BF-4433-F164D18A92F3}"/>
              </a:ext>
            </a:extLst>
          </p:cNvPr>
          <p:cNvSpPr>
            <a:spLocks noGrp="1"/>
          </p:cNvSpPr>
          <p:nvPr>
            <p:ph type="subTitle" idx="1"/>
          </p:nvPr>
        </p:nvSpPr>
        <p:spPr>
          <a:xfrm>
            <a:off x="1371600" y="4381756"/>
            <a:ext cx="4372550" cy="1793757"/>
          </a:xfrm>
        </p:spPr>
        <p:txBody>
          <a:bodyPr>
            <a:normAutofit/>
          </a:bodyPr>
          <a:lstStyle/>
          <a:p>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Saranya Narayana</a:t>
            </a:r>
          </a:p>
          <a:p>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BINF 5003</a:t>
            </a:r>
            <a:endParaRPr lang="en-CA"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AF084BF3-1B98-E67C-6261-8AE273E67A2A}"/>
              </a:ext>
            </a:extLst>
          </p:cNvPr>
          <p:cNvPicPr>
            <a:picLocks noChangeAspect="1"/>
          </p:cNvPicPr>
          <p:nvPr/>
        </p:nvPicPr>
        <p:blipFill>
          <a:blip r:embed="rId3"/>
          <a:srcRect r="33" b="2"/>
          <a:stretch>
            <a:fillRect/>
          </a:stretch>
        </p:blipFill>
        <p:spPr>
          <a:xfrm>
            <a:off x="6535654" y="1028700"/>
            <a:ext cx="4615826" cy="46172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49683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D62CC-21FF-050B-1E3D-2165EE21E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54909-D35A-53AC-8584-6C4B8AED8F72}"/>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clinical problem</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9" name="Shape 2">
            <a:extLst>
              <a:ext uri="{FF2B5EF4-FFF2-40B4-BE49-F238E27FC236}">
                <a16:creationId xmlns:a16="http://schemas.microsoft.com/office/drawing/2014/main" id="{3C3C4AD1-C386-005A-6C9A-CD9FB693545B}"/>
              </a:ext>
            </a:extLst>
          </p:cNvPr>
          <p:cNvSpPr/>
          <p:nvPr/>
        </p:nvSpPr>
        <p:spPr>
          <a:xfrm>
            <a:off x="228981" y="1060704"/>
            <a:ext cx="10856214"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p>
        </p:txBody>
      </p:sp>
      <p:sp>
        <p:nvSpPr>
          <p:cNvPr id="10" name="Shape 3">
            <a:extLst>
              <a:ext uri="{FF2B5EF4-FFF2-40B4-BE49-F238E27FC236}">
                <a16:creationId xmlns:a16="http://schemas.microsoft.com/office/drawing/2014/main" id="{573B7FBA-977A-9DC9-E71E-10B11BFA304C}"/>
              </a:ext>
            </a:extLst>
          </p:cNvPr>
          <p:cNvSpPr/>
          <p:nvPr/>
        </p:nvSpPr>
        <p:spPr>
          <a:xfrm>
            <a:off x="228981" y="1060704"/>
            <a:ext cx="128016" cy="841248"/>
          </a:xfrm>
          <a:prstGeom prst="rect">
            <a:avLst/>
          </a:prstGeom>
          <a:solidFill>
            <a:schemeClr val="accent5">
              <a:lumMod val="40000"/>
              <a:lumOff val="60000"/>
            </a:schemeClr>
          </a:solidFill>
          <a:ln w="12700">
            <a:solidFill>
              <a:schemeClr val="accent1">
                <a:lumMod val="20000"/>
                <a:lumOff val="80000"/>
              </a:schemeClr>
            </a:solidFill>
            <a:prstDash val="solid"/>
          </a:ln>
        </p:spPr>
        <p:txBody>
          <a:bodyPr/>
          <a:lstStyle/>
          <a:p>
            <a:endParaRPr lang="en-CA"/>
          </a:p>
        </p:txBody>
      </p:sp>
      <p:sp>
        <p:nvSpPr>
          <p:cNvPr id="11" name="Text 4">
            <a:extLst>
              <a:ext uri="{FF2B5EF4-FFF2-40B4-BE49-F238E27FC236}">
                <a16:creationId xmlns:a16="http://schemas.microsoft.com/office/drawing/2014/main" id="{B22AEC6B-1F3E-268C-A7D2-8571E330AB15}"/>
              </a:ext>
            </a:extLst>
          </p:cNvPr>
          <p:cNvSpPr/>
          <p:nvPr/>
        </p:nvSpPr>
        <p:spPr>
          <a:xfrm>
            <a:off x="1106805" y="1113282"/>
            <a:ext cx="1371600" cy="411480"/>
          </a:xfrm>
          <a:prstGeom prst="rect">
            <a:avLst/>
          </a:prstGeom>
          <a:noFill/>
          <a:ln/>
        </p:spPr>
        <p:txBody>
          <a:bodyPr wrap="square" rtlCol="0" anchor="ctr"/>
          <a:lstStyle/>
          <a:p>
            <a:pPr marL="0" indent="0">
              <a:buNone/>
            </a:pPr>
            <a:r>
              <a:rPr lang="en-US" sz="3200" b="1" dirty="0">
                <a:solidFill>
                  <a:schemeClr val="accent5">
                    <a:lumMod val="60000"/>
                    <a:lumOff val="40000"/>
                  </a:schemeClr>
                </a:solidFill>
                <a:latin typeface="Calibri" pitchFamily="34" charset="0"/>
                <a:ea typeface="Calibri" pitchFamily="34" charset="-122"/>
                <a:cs typeface="Calibri" pitchFamily="34" charset="-120"/>
              </a:rPr>
              <a:t>2.3M</a:t>
            </a:r>
            <a:endParaRPr lang="en-US" sz="3200" dirty="0">
              <a:solidFill>
                <a:schemeClr val="accent5">
                  <a:lumMod val="60000"/>
                  <a:lumOff val="40000"/>
                </a:schemeClr>
              </a:solidFill>
            </a:endParaRPr>
          </a:p>
        </p:txBody>
      </p:sp>
      <p:sp>
        <p:nvSpPr>
          <p:cNvPr id="12" name="Text 5">
            <a:extLst>
              <a:ext uri="{FF2B5EF4-FFF2-40B4-BE49-F238E27FC236}">
                <a16:creationId xmlns:a16="http://schemas.microsoft.com/office/drawing/2014/main" id="{56775F80-96BB-C795-FC84-24C104F3D8FF}"/>
              </a:ext>
            </a:extLst>
          </p:cNvPr>
          <p:cNvSpPr/>
          <p:nvPr/>
        </p:nvSpPr>
        <p:spPr>
          <a:xfrm>
            <a:off x="457581" y="1499616"/>
            <a:ext cx="3566160" cy="228600"/>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New cases worldwide per year</a:t>
            </a:r>
            <a:endParaRPr lang="en-US" sz="2000" dirty="0"/>
          </a:p>
        </p:txBody>
      </p:sp>
      <p:sp>
        <p:nvSpPr>
          <p:cNvPr id="13" name="Text 6">
            <a:extLst>
              <a:ext uri="{FF2B5EF4-FFF2-40B4-BE49-F238E27FC236}">
                <a16:creationId xmlns:a16="http://schemas.microsoft.com/office/drawing/2014/main" id="{434D8ED4-E728-A8D7-768C-26A2874529D9}"/>
              </a:ext>
            </a:extLst>
          </p:cNvPr>
          <p:cNvSpPr/>
          <p:nvPr/>
        </p:nvSpPr>
        <p:spPr>
          <a:xfrm>
            <a:off x="6062472" y="1234440"/>
            <a:ext cx="3819009" cy="384048"/>
          </a:xfrm>
          <a:prstGeom prst="rect">
            <a:avLst/>
          </a:prstGeom>
          <a:noFill/>
          <a:ln/>
        </p:spPr>
        <p:txBody>
          <a:bodyPr wrap="square" rtlCol="0" anchor="ctr"/>
          <a:lstStyle/>
          <a:p>
            <a:pPr marL="0" indent="0">
              <a:buNone/>
            </a:pPr>
            <a:r>
              <a:rPr lang="en-US" sz="2000" i="1" dirty="0">
                <a:latin typeface="Calibri" pitchFamily="34" charset="0"/>
                <a:ea typeface="Calibri" pitchFamily="34" charset="-122"/>
                <a:cs typeface="Calibri" pitchFamily="34" charset="-120"/>
              </a:rPr>
              <a:t>most common cancer in women</a:t>
            </a:r>
            <a:endParaRPr lang="en-US" sz="2000" dirty="0"/>
          </a:p>
        </p:txBody>
      </p:sp>
      <p:sp>
        <p:nvSpPr>
          <p:cNvPr id="14" name="Shape 7">
            <a:extLst>
              <a:ext uri="{FF2B5EF4-FFF2-40B4-BE49-F238E27FC236}">
                <a16:creationId xmlns:a16="http://schemas.microsoft.com/office/drawing/2014/main" id="{4A33C58B-393E-992B-9E13-05A300BF390E}"/>
              </a:ext>
            </a:extLst>
          </p:cNvPr>
          <p:cNvSpPr/>
          <p:nvPr/>
        </p:nvSpPr>
        <p:spPr>
          <a:xfrm>
            <a:off x="228980" y="2359152"/>
            <a:ext cx="10856213"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p>
        </p:txBody>
      </p:sp>
      <p:sp>
        <p:nvSpPr>
          <p:cNvPr id="15" name="Shape 8">
            <a:extLst>
              <a:ext uri="{FF2B5EF4-FFF2-40B4-BE49-F238E27FC236}">
                <a16:creationId xmlns:a16="http://schemas.microsoft.com/office/drawing/2014/main" id="{C48C2464-E453-5862-810A-2AF8F232102C}"/>
              </a:ext>
            </a:extLst>
          </p:cNvPr>
          <p:cNvSpPr/>
          <p:nvPr/>
        </p:nvSpPr>
        <p:spPr>
          <a:xfrm>
            <a:off x="228980" y="2359152"/>
            <a:ext cx="175799" cy="841248"/>
          </a:xfrm>
          <a:prstGeom prst="rect">
            <a:avLst/>
          </a:prstGeom>
          <a:solidFill>
            <a:schemeClr val="accent1">
              <a:lumMod val="40000"/>
              <a:lumOff val="60000"/>
            </a:schemeClr>
          </a:solidFill>
          <a:ln w="12700">
            <a:solidFill>
              <a:schemeClr val="accent1">
                <a:lumMod val="40000"/>
                <a:lumOff val="60000"/>
              </a:schemeClr>
            </a:solidFill>
            <a:prstDash val="solid"/>
          </a:ln>
        </p:spPr>
        <p:txBody>
          <a:bodyPr/>
          <a:lstStyle/>
          <a:p>
            <a:endParaRPr lang="en-CA"/>
          </a:p>
        </p:txBody>
      </p:sp>
      <p:sp>
        <p:nvSpPr>
          <p:cNvPr id="16" name="Text 9">
            <a:extLst>
              <a:ext uri="{FF2B5EF4-FFF2-40B4-BE49-F238E27FC236}">
                <a16:creationId xmlns:a16="http://schemas.microsoft.com/office/drawing/2014/main" id="{80C9B3CA-7205-5B49-7C5A-8D69BA477DF0}"/>
              </a:ext>
            </a:extLst>
          </p:cNvPr>
          <p:cNvSpPr/>
          <p:nvPr/>
        </p:nvSpPr>
        <p:spPr>
          <a:xfrm>
            <a:off x="1056459" y="2491740"/>
            <a:ext cx="1883558" cy="411480"/>
          </a:xfrm>
          <a:prstGeom prst="rect">
            <a:avLst/>
          </a:prstGeom>
          <a:noFill/>
          <a:ln/>
        </p:spPr>
        <p:txBody>
          <a:bodyPr wrap="square" rtlCol="0" anchor="ctr"/>
          <a:lstStyle/>
          <a:p>
            <a:pPr marL="0" indent="0">
              <a:buNone/>
            </a:pPr>
            <a:r>
              <a:rPr lang="en-US" sz="3200" b="1" dirty="0">
                <a:solidFill>
                  <a:schemeClr val="accent1">
                    <a:lumMod val="40000"/>
                    <a:lumOff val="60000"/>
                  </a:schemeClr>
                </a:solidFill>
                <a:latin typeface="Calibri" pitchFamily="34" charset="0"/>
                <a:ea typeface="Calibri" pitchFamily="34" charset="-122"/>
                <a:cs typeface="Calibri" pitchFamily="34" charset="-120"/>
              </a:rPr>
              <a:t>685K</a:t>
            </a:r>
            <a:endParaRPr lang="en-US" sz="3200" dirty="0">
              <a:solidFill>
                <a:schemeClr val="accent1">
                  <a:lumMod val="40000"/>
                  <a:lumOff val="60000"/>
                </a:schemeClr>
              </a:solidFill>
            </a:endParaRPr>
          </a:p>
        </p:txBody>
      </p:sp>
      <p:sp>
        <p:nvSpPr>
          <p:cNvPr id="17" name="Text 10">
            <a:extLst>
              <a:ext uri="{FF2B5EF4-FFF2-40B4-BE49-F238E27FC236}">
                <a16:creationId xmlns:a16="http://schemas.microsoft.com/office/drawing/2014/main" id="{47CE9E3A-A542-CA11-3F4A-DA8E0EC517CA}"/>
              </a:ext>
            </a:extLst>
          </p:cNvPr>
          <p:cNvSpPr/>
          <p:nvPr/>
        </p:nvSpPr>
        <p:spPr>
          <a:xfrm>
            <a:off x="601983" y="2916582"/>
            <a:ext cx="4897250" cy="228600"/>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Deaths annually worldwide</a:t>
            </a:r>
            <a:endParaRPr lang="en-US" sz="2000" dirty="0"/>
          </a:p>
        </p:txBody>
      </p:sp>
      <p:sp>
        <p:nvSpPr>
          <p:cNvPr id="18" name="Text 11">
            <a:extLst>
              <a:ext uri="{FF2B5EF4-FFF2-40B4-BE49-F238E27FC236}">
                <a16:creationId xmlns:a16="http://schemas.microsoft.com/office/drawing/2014/main" id="{BFFDBA00-BAF1-C72E-83C5-40AD52477994}"/>
              </a:ext>
            </a:extLst>
          </p:cNvPr>
          <p:cNvSpPr/>
          <p:nvPr/>
        </p:nvSpPr>
        <p:spPr>
          <a:xfrm>
            <a:off x="6096000" y="2548890"/>
            <a:ext cx="4897319" cy="384048"/>
          </a:xfrm>
          <a:prstGeom prst="rect">
            <a:avLst/>
          </a:prstGeom>
          <a:noFill/>
          <a:ln/>
        </p:spPr>
        <p:txBody>
          <a:bodyPr wrap="square" rtlCol="0" anchor="ctr"/>
          <a:lstStyle/>
          <a:p>
            <a:pPr marL="0" indent="0">
              <a:buNone/>
            </a:pPr>
            <a:r>
              <a:rPr lang="en-US" sz="2000" i="1" dirty="0">
                <a:latin typeface="Calibri" pitchFamily="34" charset="0"/>
                <a:ea typeface="Calibri" pitchFamily="34" charset="-122"/>
                <a:cs typeface="Calibri" pitchFamily="34" charset="-120"/>
              </a:rPr>
              <a:t>2nd leading cause of cancer death in women</a:t>
            </a:r>
            <a:endParaRPr lang="en-US" sz="2000" dirty="0"/>
          </a:p>
        </p:txBody>
      </p:sp>
      <p:sp>
        <p:nvSpPr>
          <p:cNvPr id="19" name="Shape 12">
            <a:extLst>
              <a:ext uri="{FF2B5EF4-FFF2-40B4-BE49-F238E27FC236}">
                <a16:creationId xmlns:a16="http://schemas.microsoft.com/office/drawing/2014/main" id="{04796C05-AFF0-8AB6-A03A-05C68414994D}"/>
              </a:ext>
            </a:extLst>
          </p:cNvPr>
          <p:cNvSpPr/>
          <p:nvPr/>
        </p:nvSpPr>
        <p:spPr>
          <a:xfrm>
            <a:off x="228981" y="3749040"/>
            <a:ext cx="10856211"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solidFill>
                <a:schemeClr val="accent1">
                  <a:lumMod val="60000"/>
                  <a:lumOff val="40000"/>
                </a:schemeClr>
              </a:solidFill>
            </a:endParaRPr>
          </a:p>
        </p:txBody>
      </p:sp>
      <p:sp>
        <p:nvSpPr>
          <p:cNvPr id="20" name="Shape 13">
            <a:extLst>
              <a:ext uri="{FF2B5EF4-FFF2-40B4-BE49-F238E27FC236}">
                <a16:creationId xmlns:a16="http://schemas.microsoft.com/office/drawing/2014/main" id="{D1C10B78-DABB-EC63-0D4D-19789FD546FE}"/>
              </a:ext>
            </a:extLst>
          </p:cNvPr>
          <p:cNvSpPr/>
          <p:nvPr/>
        </p:nvSpPr>
        <p:spPr>
          <a:xfrm>
            <a:off x="228981" y="3749040"/>
            <a:ext cx="175799" cy="841248"/>
          </a:xfrm>
          <a:prstGeom prst="rect">
            <a:avLst/>
          </a:prstGeom>
          <a:solidFill>
            <a:schemeClr val="accent2">
              <a:lumMod val="60000"/>
              <a:lumOff val="40000"/>
            </a:schemeClr>
          </a:solidFill>
          <a:ln w="12700">
            <a:solidFill>
              <a:srgbClr val="B45309"/>
            </a:solidFill>
            <a:prstDash val="solid"/>
          </a:ln>
        </p:spPr>
        <p:txBody>
          <a:bodyPr/>
          <a:lstStyle/>
          <a:p>
            <a:endParaRPr lang="en-CA">
              <a:solidFill>
                <a:schemeClr val="accent1">
                  <a:lumMod val="60000"/>
                  <a:lumOff val="40000"/>
                </a:schemeClr>
              </a:solidFill>
            </a:endParaRPr>
          </a:p>
        </p:txBody>
      </p:sp>
      <p:sp>
        <p:nvSpPr>
          <p:cNvPr id="21" name="Text 14">
            <a:extLst>
              <a:ext uri="{FF2B5EF4-FFF2-40B4-BE49-F238E27FC236}">
                <a16:creationId xmlns:a16="http://schemas.microsoft.com/office/drawing/2014/main" id="{45CE219D-9B06-2D1C-339D-E9C594A36613}"/>
              </a:ext>
            </a:extLst>
          </p:cNvPr>
          <p:cNvSpPr/>
          <p:nvPr/>
        </p:nvSpPr>
        <p:spPr>
          <a:xfrm>
            <a:off x="1170867" y="3813048"/>
            <a:ext cx="1883558" cy="411480"/>
          </a:xfrm>
          <a:prstGeom prst="rect">
            <a:avLst/>
          </a:prstGeom>
          <a:noFill/>
          <a:ln/>
        </p:spPr>
        <p:txBody>
          <a:bodyPr wrap="square" rtlCol="0" anchor="ctr"/>
          <a:lstStyle/>
          <a:p>
            <a:pPr marL="0" indent="0">
              <a:buNone/>
            </a:pPr>
            <a:r>
              <a:rPr lang="en-US" sz="3200" b="1" dirty="0">
                <a:solidFill>
                  <a:schemeClr val="tx2">
                    <a:lumMod val="50000"/>
                    <a:lumOff val="50000"/>
                  </a:schemeClr>
                </a:solidFill>
                <a:latin typeface="Calibri" pitchFamily="34" charset="0"/>
                <a:ea typeface="Calibri" pitchFamily="34" charset="-122"/>
                <a:cs typeface="Calibri" pitchFamily="34" charset="-120"/>
              </a:rPr>
              <a:t>30%</a:t>
            </a:r>
            <a:endParaRPr lang="en-US" sz="3200" dirty="0">
              <a:solidFill>
                <a:schemeClr val="tx2">
                  <a:lumMod val="50000"/>
                  <a:lumOff val="50000"/>
                </a:schemeClr>
              </a:solidFill>
            </a:endParaRPr>
          </a:p>
        </p:txBody>
      </p:sp>
      <p:sp>
        <p:nvSpPr>
          <p:cNvPr id="22" name="Text 15">
            <a:extLst>
              <a:ext uri="{FF2B5EF4-FFF2-40B4-BE49-F238E27FC236}">
                <a16:creationId xmlns:a16="http://schemas.microsoft.com/office/drawing/2014/main" id="{72D97395-66F7-097A-1740-77AF1EB09A76}"/>
              </a:ext>
            </a:extLst>
          </p:cNvPr>
          <p:cNvSpPr/>
          <p:nvPr/>
        </p:nvSpPr>
        <p:spPr>
          <a:xfrm>
            <a:off x="404780" y="4311396"/>
            <a:ext cx="4897250" cy="228600"/>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of patients eventually relapse</a:t>
            </a:r>
            <a:endParaRPr lang="en-US" sz="2000" dirty="0"/>
          </a:p>
        </p:txBody>
      </p:sp>
      <p:sp>
        <p:nvSpPr>
          <p:cNvPr id="23" name="Text 16">
            <a:extLst>
              <a:ext uri="{FF2B5EF4-FFF2-40B4-BE49-F238E27FC236}">
                <a16:creationId xmlns:a16="http://schemas.microsoft.com/office/drawing/2014/main" id="{E6CAEBEE-405E-97A7-7524-71DBDD082F92}"/>
              </a:ext>
            </a:extLst>
          </p:cNvPr>
          <p:cNvSpPr/>
          <p:nvPr/>
        </p:nvSpPr>
        <p:spPr>
          <a:xfrm>
            <a:off x="6096000" y="3872484"/>
            <a:ext cx="4175766" cy="384048"/>
          </a:xfrm>
          <a:prstGeom prst="rect">
            <a:avLst/>
          </a:prstGeom>
          <a:noFill/>
          <a:ln/>
        </p:spPr>
        <p:txBody>
          <a:bodyPr wrap="square" rtlCol="0" anchor="ctr"/>
          <a:lstStyle/>
          <a:p>
            <a:pPr marL="0" indent="0">
              <a:buNone/>
            </a:pPr>
            <a:r>
              <a:rPr lang="en-US" sz="2000" i="1" dirty="0">
                <a:latin typeface="Calibri" pitchFamily="34" charset="0"/>
                <a:ea typeface="Calibri" pitchFamily="34" charset="-122"/>
                <a:cs typeface="Calibri" pitchFamily="34" charset="-120"/>
              </a:rPr>
              <a:t>despite initial response to treatment</a:t>
            </a:r>
            <a:endParaRPr lang="en-US" sz="2000" dirty="0"/>
          </a:p>
        </p:txBody>
      </p:sp>
      <p:sp>
        <p:nvSpPr>
          <p:cNvPr id="24" name="Shape 17">
            <a:extLst>
              <a:ext uri="{FF2B5EF4-FFF2-40B4-BE49-F238E27FC236}">
                <a16:creationId xmlns:a16="http://schemas.microsoft.com/office/drawing/2014/main" id="{FD609876-402D-EB25-54E0-2EA85D03A87F}"/>
              </a:ext>
            </a:extLst>
          </p:cNvPr>
          <p:cNvSpPr/>
          <p:nvPr/>
        </p:nvSpPr>
        <p:spPr>
          <a:xfrm>
            <a:off x="228981" y="5170932"/>
            <a:ext cx="10856211"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p>
        </p:txBody>
      </p:sp>
      <p:sp>
        <p:nvSpPr>
          <p:cNvPr id="25" name="Shape 18">
            <a:extLst>
              <a:ext uri="{FF2B5EF4-FFF2-40B4-BE49-F238E27FC236}">
                <a16:creationId xmlns:a16="http://schemas.microsoft.com/office/drawing/2014/main" id="{80DDE40F-8774-F846-7EF0-9124EA381099}"/>
              </a:ext>
            </a:extLst>
          </p:cNvPr>
          <p:cNvSpPr/>
          <p:nvPr/>
        </p:nvSpPr>
        <p:spPr>
          <a:xfrm>
            <a:off x="228982" y="5170932"/>
            <a:ext cx="176846" cy="841248"/>
          </a:xfrm>
          <a:prstGeom prst="rect">
            <a:avLst/>
          </a:prstGeom>
          <a:solidFill>
            <a:srgbClr val="AB0788"/>
          </a:solidFill>
          <a:ln w="12700">
            <a:solidFill>
              <a:schemeClr val="tx2">
                <a:lumMod val="75000"/>
                <a:lumOff val="25000"/>
              </a:schemeClr>
            </a:solidFill>
            <a:prstDash val="solid"/>
          </a:ln>
        </p:spPr>
        <p:txBody>
          <a:bodyPr/>
          <a:lstStyle/>
          <a:p>
            <a:endParaRPr lang="en-CA"/>
          </a:p>
        </p:txBody>
      </p:sp>
      <p:sp>
        <p:nvSpPr>
          <p:cNvPr id="26" name="Text 19">
            <a:extLst>
              <a:ext uri="{FF2B5EF4-FFF2-40B4-BE49-F238E27FC236}">
                <a16:creationId xmlns:a16="http://schemas.microsoft.com/office/drawing/2014/main" id="{BBA78EAE-2458-FE32-46D9-3B84CA1FBD54}"/>
              </a:ext>
            </a:extLst>
          </p:cNvPr>
          <p:cNvSpPr/>
          <p:nvPr/>
        </p:nvSpPr>
        <p:spPr>
          <a:xfrm>
            <a:off x="1435990" y="5212080"/>
            <a:ext cx="493936" cy="411480"/>
          </a:xfrm>
          <a:prstGeom prst="rect">
            <a:avLst/>
          </a:prstGeom>
          <a:noFill/>
          <a:ln/>
        </p:spPr>
        <p:txBody>
          <a:bodyPr wrap="square" rtlCol="0" anchor="ctr"/>
          <a:lstStyle/>
          <a:p>
            <a:pPr marL="0" indent="0">
              <a:buNone/>
            </a:pPr>
            <a:r>
              <a:rPr lang="en-US" sz="3200" b="1" dirty="0">
                <a:solidFill>
                  <a:schemeClr val="tx2">
                    <a:lumMod val="75000"/>
                    <a:lumOff val="25000"/>
                  </a:schemeClr>
                </a:solidFill>
                <a:latin typeface="Calibri" pitchFamily="34" charset="0"/>
                <a:ea typeface="Calibri" pitchFamily="34" charset="-122"/>
                <a:cs typeface="Calibri" pitchFamily="34" charset="-120"/>
              </a:rPr>
              <a:t>5</a:t>
            </a:r>
            <a:endParaRPr lang="en-US" sz="3200" dirty="0">
              <a:solidFill>
                <a:schemeClr val="tx2">
                  <a:lumMod val="75000"/>
                  <a:lumOff val="25000"/>
                </a:schemeClr>
              </a:solidFill>
            </a:endParaRPr>
          </a:p>
        </p:txBody>
      </p:sp>
      <p:sp>
        <p:nvSpPr>
          <p:cNvPr id="27" name="Text 20">
            <a:extLst>
              <a:ext uri="{FF2B5EF4-FFF2-40B4-BE49-F238E27FC236}">
                <a16:creationId xmlns:a16="http://schemas.microsoft.com/office/drawing/2014/main" id="{0541B138-00B2-057F-8A18-04078E55ECD1}"/>
              </a:ext>
            </a:extLst>
          </p:cNvPr>
          <p:cNvSpPr/>
          <p:nvPr/>
        </p:nvSpPr>
        <p:spPr>
          <a:xfrm>
            <a:off x="457582" y="5609844"/>
            <a:ext cx="4926422" cy="228600"/>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PAM50 molecular subtypes</a:t>
            </a:r>
            <a:endParaRPr lang="en-US" sz="2000" dirty="0"/>
          </a:p>
        </p:txBody>
      </p:sp>
      <p:sp>
        <p:nvSpPr>
          <p:cNvPr id="28" name="Text 21">
            <a:extLst>
              <a:ext uri="{FF2B5EF4-FFF2-40B4-BE49-F238E27FC236}">
                <a16:creationId xmlns:a16="http://schemas.microsoft.com/office/drawing/2014/main" id="{F6F2DD75-6017-C4AC-F70D-C0E31D94A3F1}"/>
              </a:ext>
            </a:extLst>
          </p:cNvPr>
          <p:cNvSpPr/>
          <p:nvPr/>
        </p:nvSpPr>
        <p:spPr>
          <a:xfrm>
            <a:off x="6096000" y="5381554"/>
            <a:ext cx="4660010" cy="384048"/>
          </a:xfrm>
          <a:prstGeom prst="rect">
            <a:avLst/>
          </a:prstGeom>
          <a:noFill/>
          <a:ln/>
        </p:spPr>
        <p:txBody>
          <a:bodyPr wrap="square" rtlCol="0" anchor="ctr"/>
          <a:lstStyle/>
          <a:p>
            <a:pPr marL="0" indent="0">
              <a:buNone/>
            </a:pPr>
            <a:r>
              <a:rPr lang="en-US" sz="2000" i="1" dirty="0">
                <a:latin typeface="Calibri" pitchFamily="34" charset="0"/>
                <a:ea typeface="Calibri" pitchFamily="34" charset="-122"/>
                <a:cs typeface="Calibri" pitchFamily="34" charset="-120"/>
              </a:rPr>
              <a:t>Basal, Her2, LumA, LumB, Normal-like</a:t>
            </a:r>
            <a:endParaRPr lang="en-US" sz="2000" dirty="0"/>
          </a:p>
        </p:txBody>
      </p:sp>
      <p:sp>
        <p:nvSpPr>
          <p:cNvPr id="43" name="TextBox 42">
            <a:extLst>
              <a:ext uri="{FF2B5EF4-FFF2-40B4-BE49-F238E27FC236}">
                <a16:creationId xmlns:a16="http://schemas.microsoft.com/office/drawing/2014/main" id="{06B19A9E-5865-D21F-8FEA-2B6DA71DE7CB}"/>
              </a:ext>
            </a:extLst>
          </p:cNvPr>
          <p:cNvSpPr txBox="1"/>
          <p:nvPr/>
        </p:nvSpPr>
        <p:spPr>
          <a:xfrm>
            <a:off x="202306" y="6096408"/>
            <a:ext cx="1489334" cy="276999"/>
          </a:xfrm>
          <a:prstGeom prst="rect">
            <a:avLst/>
          </a:prstGeom>
          <a:noFill/>
        </p:spPr>
        <p:txBody>
          <a:bodyPr wrap="square" rtlCol="0">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References: [1-5]</a:t>
            </a:r>
            <a:endParaRPr lang="en-CA" sz="1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7884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97ED5-AF9E-D5D5-32D9-96A808D62490}"/>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clinical problem</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4" name="Shape 22">
            <a:extLst>
              <a:ext uri="{FF2B5EF4-FFF2-40B4-BE49-F238E27FC236}">
                <a16:creationId xmlns:a16="http://schemas.microsoft.com/office/drawing/2014/main" id="{D15256D3-5E0D-6B57-15D2-FBF8F059AEA6}"/>
              </a:ext>
            </a:extLst>
          </p:cNvPr>
          <p:cNvSpPr/>
          <p:nvPr/>
        </p:nvSpPr>
        <p:spPr>
          <a:xfrm>
            <a:off x="5992050" y="1060704"/>
            <a:ext cx="5970967" cy="5212080"/>
          </a:xfrm>
          <a:prstGeom prst="rect">
            <a:avLst/>
          </a:prstGeom>
          <a:solidFill>
            <a:schemeClr val="accent2">
              <a:lumMod val="50000"/>
            </a:schemeClr>
          </a:solidFill>
          <a:ln w="12700">
            <a:solidFill>
              <a:srgbClr val="0A2342"/>
            </a:solidFill>
            <a:prstDash val="solid"/>
          </a:ln>
          <a:effectLst>
            <a:outerShdw blurRad="127000" dist="38100" dir="8100000" algn="bl" rotWithShape="0">
              <a:srgbClr val="000000">
                <a:alpha val="10000"/>
              </a:srgbClr>
            </a:outerShdw>
          </a:effectLst>
        </p:spPr>
        <p:txBody>
          <a:bodyPr/>
          <a:lstStyle/>
          <a:p>
            <a:endParaRPr lang="en-CA" sz="2400" dirty="0"/>
          </a:p>
        </p:txBody>
      </p:sp>
      <p:sp>
        <p:nvSpPr>
          <p:cNvPr id="45" name="Text 23">
            <a:extLst>
              <a:ext uri="{FF2B5EF4-FFF2-40B4-BE49-F238E27FC236}">
                <a16:creationId xmlns:a16="http://schemas.microsoft.com/office/drawing/2014/main" id="{7225D0A3-69C6-1796-EFB6-FB989F538E1E}"/>
              </a:ext>
            </a:extLst>
          </p:cNvPr>
          <p:cNvSpPr/>
          <p:nvPr/>
        </p:nvSpPr>
        <p:spPr>
          <a:xfrm>
            <a:off x="6129210" y="1152143"/>
            <a:ext cx="5593853" cy="555791"/>
          </a:xfrm>
          <a:prstGeom prst="rect">
            <a:avLst/>
          </a:prstGeom>
          <a:noFill/>
          <a:ln/>
        </p:spPr>
        <p:txBody>
          <a:bodyPr wrap="square" rtlCol="0" anchor="ctr"/>
          <a:lstStyle/>
          <a:p>
            <a:pPr marL="0" indent="0">
              <a:buNone/>
            </a:pPr>
            <a:r>
              <a:rPr lang="en-US" sz="3600" b="1" dirty="0">
                <a:solidFill>
                  <a:schemeClr val="tx2">
                    <a:lumMod val="50000"/>
                    <a:lumOff val="50000"/>
                  </a:schemeClr>
                </a:solidFill>
                <a:latin typeface="Calibri" pitchFamily="34" charset="0"/>
                <a:ea typeface="Calibri" pitchFamily="34" charset="-122"/>
                <a:cs typeface="Calibri" pitchFamily="34" charset="-120"/>
              </a:rPr>
              <a:t>The Core Problem</a:t>
            </a:r>
            <a:endParaRPr lang="en-US" sz="3600" dirty="0">
              <a:solidFill>
                <a:schemeClr val="tx2">
                  <a:lumMod val="50000"/>
                  <a:lumOff val="50000"/>
                </a:schemeClr>
              </a:solidFill>
            </a:endParaRPr>
          </a:p>
        </p:txBody>
      </p:sp>
      <p:sp>
        <p:nvSpPr>
          <p:cNvPr id="46" name="Text 24">
            <a:extLst>
              <a:ext uri="{FF2B5EF4-FFF2-40B4-BE49-F238E27FC236}">
                <a16:creationId xmlns:a16="http://schemas.microsoft.com/office/drawing/2014/main" id="{9C8F3167-3C03-6D90-B4A0-EC81735A73A7}"/>
              </a:ext>
            </a:extLst>
          </p:cNvPr>
          <p:cNvSpPr/>
          <p:nvPr/>
        </p:nvSpPr>
        <p:spPr>
          <a:xfrm>
            <a:off x="5916140" y="1861583"/>
            <a:ext cx="377114" cy="395229"/>
          </a:xfrm>
          <a:prstGeom prst="rect">
            <a:avLst/>
          </a:prstGeom>
          <a:noFill/>
          <a:ln/>
        </p:spPr>
        <p:txBody>
          <a:bodyPr wrap="square" rtlCol="0" anchor="ctr"/>
          <a:lstStyle/>
          <a:p>
            <a:pPr marL="0" indent="0">
              <a:buNone/>
            </a:pPr>
            <a:r>
              <a:rPr lang="en-US" sz="2800" dirty="0">
                <a:solidFill>
                  <a:schemeClr val="tx2">
                    <a:lumMod val="50000"/>
                    <a:lumOff val="50000"/>
                  </a:schemeClr>
                </a:solidFill>
                <a:latin typeface="Calibri" pitchFamily="34" charset="0"/>
                <a:ea typeface="Calibri" pitchFamily="34" charset="-122"/>
                <a:cs typeface="Calibri" pitchFamily="34" charset="-120"/>
              </a:rPr>
              <a:t>▸</a:t>
            </a:r>
            <a:endParaRPr lang="en-US" sz="2800" dirty="0">
              <a:solidFill>
                <a:schemeClr val="tx2">
                  <a:lumMod val="50000"/>
                  <a:lumOff val="50000"/>
                </a:schemeClr>
              </a:solidFill>
            </a:endParaRPr>
          </a:p>
        </p:txBody>
      </p:sp>
      <p:sp>
        <p:nvSpPr>
          <p:cNvPr id="47" name="Text 25">
            <a:extLst>
              <a:ext uri="{FF2B5EF4-FFF2-40B4-BE49-F238E27FC236}">
                <a16:creationId xmlns:a16="http://schemas.microsoft.com/office/drawing/2014/main" id="{C247684B-81FF-9E55-FD31-9CC6FFD2C9AA}"/>
              </a:ext>
            </a:extLst>
          </p:cNvPr>
          <p:cNvSpPr/>
          <p:nvPr/>
        </p:nvSpPr>
        <p:spPr>
          <a:xfrm>
            <a:off x="6228230" y="1913783"/>
            <a:ext cx="5513767" cy="319541"/>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Same subtype, different outcomes</a:t>
            </a:r>
            <a:endParaRPr lang="en-US" sz="2400" dirty="0"/>
          </a:p>
        </p:txBody>
      </p:sp>
      <p:sp>
        <p:nvSpPr>
          <p:cNvPr id="49" name="Text 27">
            <a:extLst>
              <a:ext uri="{FF2B5EF4-FFF2-40B4-BE49-F238E27FC236}">
                <a16:creationId xmlns:a16="http://schemas.microsoft.com/office/drawing/2014/main" id="{664F8065-E8A3-CBAF-6C5C-DF6A8B382241}"/>
              </a:ext>
            </a:extLst>
          </p:cNvPr>
          <p:cNvSpPr/>
          <p:nvPr/>
        </p:nvSpPr>
        <p:spPr>
          <a:xfrm>
            <a:off x="5941758" y="2968376"/>
            <a:ext cx="377114" cy="395229"/>
          </a:xfrm>
          <a:prstGeom prst="rect">
            <a:avLst/>
          </a:prstGeom>
          <a:noFill/>
          <a:ln/>
        </p:spPr>
        <p:txBody>
          <a:bodyPr wrap="square" rtlCol="0" anchor="ctr"/>
          <a:lstStyle/>
          <a:p>
            <a:pPr marL="0" indent="0">
              <a:buNone/>
            </a:pPr>
            <a:r>
              <a:rPr lang="en-US" sz="2800" dirty="0">
                <a:solidFill>
                  <a:schemeClr val="tx2">
                    <a:lumMod val="50000"/>
                    <a:lumOff val="50000"/>
                  </a:schemeClr>
                </a:solidFill>
                <a:latin typeface="Calibri" pitchFamily="34" charset="0"/>
                <a:ea typeface="Calibri" pitchFamily="34" charset="-122"/>
                <a:cs typeface="Calibri" pitchFamily="34" charset="-120"/>
              </a:rPr>
              <a:t>▸</a:t>
            </a:r>
            <a:endParaRPr lang="en-US" sz="2800" dirty="0">
              <a:solidFill>
                <a:schemeClr val="tx2">
                  <a:lumMod val="50000"/>
                  <a:lumOff val="50000"/>
                </a:schemeClr>
              </a:solidFill>
            </a:endParaRPr>
          </a:p>
        </p:txBody>
      </p:sp>
      <p:sp>
        <p:nvSpPr>
          <p:cNvPr id="50" name="Text 28">
            <a:extLst>
              <a:ext uri="{FF2B5EF4-FFF2-40B4-BE49-F238E27FC236}">
                <a16:creationId xmlns:a16="http://schemas.microsoft.com/office/drawing/2014/main" id="{46D3F514-2C1F-AB90-7094-06A9FD1C54DF}"/>
              </a:ext>
            </a:extLst>
          </p:cNvPr>
          <p:cNvSpPr/>
          <p:nvPr/>
        </p:nvSpPr>
        <p:spPr>
          <a:xfrm>
            <a:off x="6261797" y="2968376"/>
            <a:ext cx="5446634" cy="395229"/>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Standard classification is incomplete</a:t>
            </a:r>
            <a:endParaRPr lang="en-US" sz="2400" dirty="0"/>
          </a:p>
        </p:txBody>
      </p:sp>
      <p:sp>
        <p:nvSpPr>
          <p:cNvPr id="52" name="Text 30">
            <a:extLst>
              <a:ext uri="{FF2B5EF4-FFF2-40B4-BE49-F238E27FC236}">
                <a16:creationId xmlns:a16="http://schemas.microsoft.com/office/drawing/2014/main" id="{A15042F5-F940-C72A-37CA-831B2EBA1E8F}"/>
              </a:ext>
            </a:extLst>
          </p:cNvPr>
          <p:cNvSpPr/>
          <p:nvPr/>
        </p:nvSpPr>
        <p:spPr>
          <a:xfrm>
            <a:off x="5946808" y="4131614"/>
            <a:ext cx="377114" cy="395229"/>
          </a:xfrm>
          <a:prstGeom prst="rect">
            <a:avLst/>
          </a:prstGeom>
          <a:noFill/>
          <a:ln/>
        </p:spPr>
        <p:txBody>
          <a:bodyPr wrap="square" rtlCol="0" anchor="ctr"/>
          <a:lstStyle/>
          <a:p>
            <a:pPr marL="0" indent="0">
              <a:buNone/>
            </a:pPr>
            <a:r>
              <a:rPr lang="en-US" sz="2800" dirty="0">
                <a:solidFill>
                  <a:schemeClr val="tx2">
                    <a:lumMod val="50000"/>
                    <a:lumOff val="50000"/>
                  </a:schemeClr>
                </a:solidFill>
                <a:latin typeface="Calibri" pitchFamily="34" charset="0"/>
                <a:ea typeface="Calibri" pitchFamily="34" charset="-122"/>
                <a:cs typeface="Calibri" pitchFamily="34" charset="-120"/>
              </a:rPr>
              <a:t>▸</a:t>
            </a:r>
            <a:endParaRPr lang="en-US" sz="2800" dirty="0">
              <a:solidFill>
                <a:schemeClr val="tx2">
                  <a:lumMod val="50000"/>
                  <a:lumOff val="50000"/>
                </a:schemeClr>
              </a:solidFill>
            </a:endParaRPr>
          </a:p>
        </p:txBody>
      </p:sp>
      <p:sp>
        <p:nvSpPr>
          <p:cNvPr id="53" name="Text 31">
            <a:extLst>
              <a:ext uri="{FF2B5EF4-FFF2-40B4-BE49-F238E27FC236}">
                <a16:creationId xmlns:a16="http://schemas.microsoft.com/office/drawing/2014/main" id="{F8BB69F8-251F-C684-02BF-C0203E4EE82F}"/>
              </a:ext>
            </a:extLst>
          </p:cNvPr>
          <p:cNvSpPr/>
          <p:nvPr/>
        </p:nvSpPr>
        <p:spPr>
          <a:xfrm>
            <a:off x="6266847" y="4131614"/>
            <a:ext cx="5153887" cy="395229"/>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Immune context is missing</a:t>
            </a:r>
            <a:endParaRPr lang="en-US" sz="2400" dirty="0"/>
          </a:p>
        </p:txBody>
      </p:sp>
      <p:sp>
        <p:nvSpPr>
          <p:cNvPr id="55" name="Text 33">
            <a:extLst>
              <a:ext uri="{FF2B5EF4-FFF2-40B4-BE49-F238E27FC236}">
                <a16:creationId xmlns:a16="http://schemas.microsoft.com/office/drawing/2014/main" id="{B95C490F-1502-7F57-A683-D89CEA29354C}"/>
              </a:ext>
            </a:extLst>
          </p:cNvPr>
          <p:cNvSpPr/>
          <p:nvPr/>
        </p:nvSpPr>
        <p:spPr>
          <a:xfrm>
            <a:off x="5947310" y="5346010"/>
            <a:ext cx="377114" cy="395229"/>
          </a:xfrm>
          <a:prstGeom prst="rect">
            <a:avLst/>
          </a:prstGeom>
          <a:noFill/>
          <a:ln/>
        </p:spPr>
        <p:txBody>
          <a:bodyPr wrap="square" rtlCol="0" anchor="ctr"/>
          <a:lstStyle/>
          <a:p>
            <a:pPr marL="0" indent="0">
              <a:buNone/>
            </a:pPr>
            <a:r>
              <a:rPr lang="en-US" sz="2800" b="1" dirty="0">
                <a:solidFill>
                  <a:schemeClr val="tx2">
                    <a:lumMod val="50000"/>
                    <a:lumOff val="50000"/>
                  </a:schemeClr>
                </a:solidFill>
                <a:latin typeface="Calibri" pitchFamily="34" charset="0"/>
                <a:ea typeface="Calibri" pitchFamily="34" charset="-122"/>
                <a:cs typeface="Calibri" pitchFamily="34" charset="-120"/>
              </a:rPr>
              <a:t>▸</a:t>
            </a:r>
            <a:endParaRPr lang="en-US" sz="2800" b="1" dirty="0">
              <a:solidFill>
                <a:schemeClr val="tx2">
                  <a:lumMod val="50000"/>
                  <a:lumOff val="50000"/>
                </a:schemeClr>
              </a:solidFill>
            </a:endParaRPr>
          </a:p>
        </p:txBody>
      </p:sp>
      <p:sp>
        <p:nvSpPr>
          <p:cNvPr id="56" name="Text 34">
            <a:extLst>
              <a:ext uri="{FF2B5EF4-FFF2-40B4-BE49-F238E27FC236}">
                <a16:creationId xmlns:a16="http://schemas.microsoft.com/office/drawing/2014/main" id="{7808D724-80FD-DDA3-080C-D8F480F60734}"/>
              </a:ext>
            </a:extLst>
          </p:cNvPr>
          <p:cNvSpPr/>
          <p:nvPr/>
        </p:nvSpPr>
        <p:spPr>
          <a:xfrm>
            <a:off x="6269179" y="5346010"/>
            <a:ext cx="5153887" cy="395229"/>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Treatment decisions ignore immunity</a:t>
            </a:r>
            <a:endParaRPr lang="en-US" sz="2400" dirty="0"/>
          </a:p>
        </p:txBody>
      </p:sp>
      <p:pic>
        <p:nvPicPr>
          <p:cNvPr id="3" name="Picture 2">
            <a:extLst>
              <a:ext uri="{FF2B5EF4-FFF2-40B4-BE49-F238E27FC236}">
                <a16:creationId xmlns:a16="http://schemas.microsoft.com/office/drawing/2014/main" id="{E021A065-A03F-C4C1-6D3D-FCDC9DAF5F14}"/>
              </a:ext>
            </a:extLst>
          </p:cNvPr>
          <p:cNvPicPr>
            <a:picLocks noChangeAspect="1"/>
          </p:cNvPicPr>
          <p:nvPr/>
        </p:nvPicPr>
        <p:blipFill>
          <a:blip r:embed="rId3"/>
          <a:stretch>
            <a:fillRect/>
          </a:stretch>
        </p:blipFill>
        <p:spPr>
          <a:xfrm>
            <a:off x="351632" y="1152143"/>
            <a:ext cx="5150160" cy="5124410"/>
          </a:xfrm>
          <a:prstGeom prst="rect">
            <a:avLst/>
          </a:prstGeom>
        </p:spPr>
      </p:pic>
    </p:spTree>
    <p:extLst>
      <p:ext uri="{BB962C8B-B14F-4D97-AF65-F5344CB8AC3E}">
        <p14:creationId xmlns:p14="http://schemas.microsoft.com/office/powerpoint/2010/main" val="268323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613DA-D5FD-6300-58D1-4DCCBABA2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C4F15-7185-51A7-710A-FB9F2798C913}"/>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Research question</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hape 2">
            <a:extLst>
              <a:ext uri="{FF2B5EF4-FFF2-40B4-BE49-F238E27FC236}">
                <a16:creationId xmlns:a16="http://schemas.microsoft.com/office/drawing/2014/main" id="{7F6A70F5-336F-54BD-2B64-B00B67E1094E}"/>
              </a:ext>
            </a:extLst>
          </p:cNvPr>
          <p:cNvSpPr/>
          <p:nvPr/>
        </p:nvSpPr>
        <p:spPr>
          <a:xfrm>
            <a:off x="345757" y="967740"/>
            <a:ext cx="11500485" cy="2937510"/>
          </a:xfrm>
          <a:prstGeom prst="rect">
            <a:avLst/>
          </a:prstGeom>
          <a:solidFill>
            <a:schemeClr val="accent2">
              <a:lumMod val="75000"/>
            </a:schemeClr>
          </a:solidFill>
          <a:ln w="12700">
            <a:solidFill>
              <a:schemeClr val="accent2">
                <a:lumMod val="75000"/>
              </a:schemeClr>
            </a:solidFill>
            <a:prstDash val="solid"/>
          </a:ln>
          <a:effectLst>
            <a:outerShdw blurRad="127000" dist="38100" dir="8100000" algn="bl" rotWithShape="0">
              <a:srgbClr val="000000">
                <a:alpha val="10000"/>
              </a:srgbClr>
            </a:outerShdw>
          </a:effectLst>
        </p:spPr>
        <p:txBody>
          <a:bodyPr/>
          <a:lstStyle/>
          <a:p>
            <a:r>
              <a:rPr lang="en-US" sz="4000" dirty="0">
                <a:solidFill>
                  <a:srgbClr val="FFFFFF"/>
                </a:solidFill>
                <a:latin typeface="Calibri" pitchFamily="34" charset="0"/>
                <a:ea typeface="Calibri" pitchFamily="34" charset="-122"/>
                <a:cs typeface="Calibri" pitchFamily="34" charset="-120"/>
              </a:rPr>
              <a:t>Do immune-related gene expression patterns reveal biologically meaningful heterogeneity within breast cancer PAM50 subtypes beyond what is captured by standard molecular subtyping?</a:t>
            </a:r>
            <a:endParaRPr lang="en-US" sz="4000" dirty="0"/>
          </a:p>
        </p:txBody>
      </p:sp>
      <p:sp>
        <p:nvSpPr>
          <p:cNvPr id="4" name="TextBox 3">
            <a:extLst>
              <a:ext uri="{FF2B5EF4-FFF2-40B4-BE49-F238E27FC236}">
                <a16:creationId xmlns:a16="http://schemas.microsoft.com/office/drawing/2014/main" id="{1EDE19C1-269D-717C-DC13-6E64F1F81E34}"/>
              </a:ext>
            </a:extLst>
          </p:cNvPr>
          <p:cNvSpPr txBox="1"/>
          <p:nvPr/>
        </p:nvSpPr>
        <p:spPr>
          <a:xfrm>
            <a:off x="485584" y="4333875"/>
            <a:ext cx="11153775" cy="954107"/>
          </a:xfrm>
          <a:prstGeom prst="rect">
            <a:avLst/>
          </a:prstGeom>
          <a:noFill/>
          <a:ln w="57150">
            <a:solidFill>
              <a:schemeClr val="accent1">
                <a:lumMod val="75000"/>
              </a:schemeClr>
            </a:solidFill>
          </a:ln>
        </p:spPr>
        <p:txBody>
          <a:bodyPr wrap="square" rtlCol="0">
            <a:spAutoFit/>
          </a:bodyPr>
          <a:lstStyle/>
          <a:p>
            <a:r>
              <a:rPr lang="en-CA" sz="2800" b="1" i="1" dirty="0">
                <a:latin typeface="Calibri" panose="020F0502020204030204" pitchFamily="34" charset="0"/>
                <a:ea typeface="Calibri" panose="020F0502020204030204" pitchFamily="34" charset="0"/>
                <a:cs typeface="Calibri" panose="020F0502020204030204" pitchFamily="34" charset="0"/>
              </a:rPr>
              <a:t>Hypothesis:</a:t>
            </a:r>
          </a:p>
          <a:p>
            <a:r>
              <a:rPr lang="en-CA" sz="2800" dirty="0">
                <a:latin typeface="Calibri" panose="020F0502020204030204" pitchFamily="34" charset="0"/>
                <a:ea typeface="Calibri" panose="020F0502020204030204" pitchFamily="34" charset="0"/>
                <a:cs typeface="Calibri" panose="020F0502020204030204" pitchFamily="34" charset="0"/>
              </a:rPr>
              <a:t>There is an immune-related heterogeneity within the PAM50 subtype</a:t>
            </a:r>
          </a:p>
        </p:txBody>
      </p:sp>
    </p:spTree>
    <p:extLst>
      <p:ext uri="{BB962C8B-B14F-4D97-AF65-F5344CB8AC3E}">
        <p14:creationId xmlns:p14="http://schemas.microsoft.com/office/powerpoint/2010/main" val="2371723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13569-DAF1-D238-0845-D9BB421CC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1EA2C-B1E7-9EE1-2D79-601309025CCB}"/>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Methodology</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Diagram 2">
            <a:extLst>
              <a:ext uri="{FF2B5EF4-FFF2-40B4-BE49-F238E27FC236}">
                <a16:creationId xmlns:a16="http://schemas.microsoft.com/office/drawing/2014/main" id="{360A5D93-4E01-7582-F75B-BCA2505601F8}"/>
              </a:ext>
            </a:extLst>
          </p:cNvPr>
          <p:cNvGraphicFramePr/>
          <p:nvPr>
            <p:extLst>
              <p:ext uri="{D42A27DB-BD31-4B8C-83A1-F6EECF244321}">
                <p14:modId xmlns:p14="http://schemas.microsoft.com/office/powerpoint/2010/main" val="2766189450"/>
              </p:ext>
            </p:extLst>
          </p:nvPr>
        </p:nvGraphicFramePr>
        <p:xfrm>
          <a:off x="101600" y="918211"/>
          <a:ext cx="11861800" cy="1463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C514457E-428B-0EA8-2572-41361B52E45C}"/>
              </a:ext>
            </a:extLst>
          </p:cNvPr>
          <p:cNvSpPr txBox="1"/>
          <p:nvPr/>
        </p:nvSpPr>
        <p:spPr>
          <a:xfrm>
            <a:off x="140971" y="2490183"/>
            <a:ext cx="2202179" cy="3139321"/>
          </a:xfrm>
          <a:prstGeom prst="rect">
            <a:avLst/>
          </a:prstGeom>
          <a:noFill/>
          <a:ln>
            <a:solidFill>
              <a:schemeClr val="accent2">
                <a:lumMod val="75000"/>
              </a:schemeClr>
            </a:solidFill>
          </a:ln>
        </p:spPr>
        <p:txBody>
          <a:bodyPr wrap="square" rtlCol="0">
            <a:spAutoFit/>
          </a:bodyPr>
          <a:lstStyle/>
          <a:p>
            <a:pPr marL="285750" indent="-285750">
              <a:buFont typeface="Arial" panose="020B0604020202020204" pitchFamily="34" charset="0"/>
              <a:buChar char="•"/>
            </a:pPr>
            <a:r>
              <a:rPr lang="en-CA" dirty="0">
                <a:latin typeface="Calibri" panose="020F0502020204030204" pitchFamily="34" charset="0"/>
                <a:ea typeface="Calibri" panose="020F0502020204030204" pitchFamily="34" charset="0"/>
                <a:cs typeface="Calibri" panose="020F0502020204030204" pitchFamily="34" charset="0"/>
              </a:rPr>
              <a:t>Obtained from TCGA-BRCA</a:t>
            </a:r>
          </a:p>
          <a:p>
            <a:pPr marL="285750" indent="-285750">
              <a:buFont typeface="Arial" panose="020B0604020202020204" pitchFamily="34" charset="0"/>
              <a:buChar char="•"/>
            </a:pPr>
            <a:r>
              <a:rPr lang="en-CA" dirty="0">
                <a:latin typeface="Calibri" panose="020F0502020204030204" pitchFamily="34" charset="0"/>
                <a:ea typeface="Calibri" panose="020F0502020204030204" pitchFamily="34" charset="0"/>
                <a:cs typeface="Calibri" panose="020F0502020204030204" pitchFamily="34" charset="0"/>
              </a:rPr>
              <a:t>QC-Meta data: remove duplicates, missing values</a:t>
            </a:r>
          </a:p>
          <a:p>
            <a:pPr marL="285750" indent="-285750">
              <a:buFont typeface="Arial" panose="020B0604020202020204" pitchFamily="34" charset="0"/>
              <a:buChar char="•"/>
            </a:pPr>
            <a:r>
              <a:rPr lang="en-CA" dirty="0">
                <a:latin typeface="Calibri" panose="020F0502020204030204" pitchFamily="34" charset="0"/>
                <a:ea typeface="Calibri" panose="020F0502020204030204" pitchFamily="34" charset="0"/>
                <a:cs typeface="Calibri" panose="020F0502020204030204" pitchFamily="34" charset="0"/>
              </a:rPr>
              <a:t>QC-Counts:60,660 genes filtered to 23,059; 1 outlier removed (n=1,013)</a:t>
            </a:r>
          </a:p>
        </p:txBody>
      </p:sp>
      <p:sp>
        <p:nvSpPr>
          <p:cNvPr id="6" name="Text 8">
            <a:extLst>
              <a:ext uri="{FF2B5EF4-FFF2-40B4-BE49-F238E27FC236}">
                <a16:creationId xmlns:a16="http://schemas.microsoft.com/office/drawing/2014/main" id="{BB6AEA7E-AEBA-00BB-3E66-B2728C2A6AA3}"/>
              </a:ext>
            </a:extLst>
          </p:cNvPr>
          <p:cNvSpPr/>
          <p:nvPr/>
        </p:nvSpPr>
        <p:spPr>
          <a:xfrm>
            <a:off x="2556510" y="2533650"/>
            <a:ext cx="2009775" cy="1943100"/>
          </a:xfrm>
          <a:prstGeom prst="rect">
            <a:avLst/>
          </a:prstGeom>
          <a:noFill/>
          <a:ln>
            <a:solidFill>
              <a:srgbClr val="DE95C4"/>
            </a:solidFill>
          </a:ln>
        </p:spPr>
        <p:txBody>
          <a:bodyPr wrap="square" rtlCol="0" anchor="t"/>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7 methods: </a:t>
            </a:r>
          </a:p>
          <a:p>
            <a:pPr algn="ctr"/>
            <a:r>
              <a:rPr lang="en-US" dirty="0">
                <a:latin typeface="Calibri" panose="020F0502020204030204" pitchFamily="34" charset="0"/>
                <a:ea typeface="Calibri" panose="020F0502020204030204" pitchFamily="34" charset="0"/>
                <a:cs typeface="Calibri" panose="020F0502020204030204" pitchFamily="34" charset="0"/>
              </a:rPr>
              <a:t>GSVA, ssGSEA,</a:t>
            </a:r>
          </a:p>
          <a:p>
            <a:pPr algn="ctr"/>
            <a:r>
              <a:rPr lang="en-US" dirty="0">
                <a:latin typeface="Calibri" panose="020F0502020204030204" pitchFamily="34" charset="0"/>
                <a:ea typeface="Calibri" panose="020F0502020204030204" pitchFamily="34" charset="0"/>
                <a:cs typeface="Calibri" panose="020F0502020204030204" pitchFamily="34" charset="0"/>
              </a:rPr>
              <a:t>quanTIseq, MCP, EPIC, </a:t>
            </a:r>
            <a:r>
              <a:rPr lang="en-US" dirty="0" err="1">
                <a:latin typeface="Calibri" panose="020F0502020204030204" pitchFamily="34" charset="0"/>
                <a:ea typeface="Calibri" panose="020F0502020204030204" pitchFamily="34" charset="0"/>
                <a:cs typeface="Calibri" panose="020F0502020204030204" pitchFamily="34" charset="0"/>
              </a:rPr>
              <a:t>xCell</a:t>
            </a:r>
            <a:r>
              <a:rPr lang="en-US" dirty="0">
                <a:latin typeface="Calibri" panose="020F0502020204030204" pitchFamily="34" charset="0"/>
                <a:ea typeface="Calibri" panose="020F0502020204030204" pitchFamily="34" charset="0"/>
                <a:cs typeface="Calibri" panose="020F0502020204030204" pitchFamily="34" charset="0"/>
              </a:rPr>
              <a:t>, CIBERSORT</a:t>
            </a:r>
          </a:p>
        </p:txBody>
      </p:sp>
      <p:sp>
        <p:nvSpPr>
          <p:cNvPr id="8" name="TextBox 7">
            <a:extLst>
              <a:ext uri="{FF2B5EF4-FFF2-40B4-BE49-F238E27FC236}">
                <a16:creationId xmlns:a16="http://schemas.microsoft.com/office/drawing/2014/main" id="{3E90AABD-2A1B-2DCF-F280-1C0C7A966603}"/>
              </a:ext>
            </a:extLst>
          </p:cNvPr>
          <p:cNvSpPr txBox="1"/>
          <p:nvPr/>
        </p:nvSpPr>
        <p:spPr>
          <a:xfrm>
            <a:off x="4817745" y="2461825"/>
            <a:ext cx="2202180" cy="2031325"/>
          </a:xfrm>
          <a:prstGeom prst="rect">
            <a:avLst/>
          </a:prstGeom>
          <a:noFill/>
          <a:ln>
            <a:solidFill>
              <a:srgbClr val="FE4A00"/>
            </a:solidFill>
          </a:ln>
        </p:spPr>
        <p:txBody>
          <a:bodyPr wrap="square">
            <a:spAutoFit/>
          </a:bodyPr>
          <a:lstStyle/>
          <a:p>
            <a:pPr marL="285750" indent="-285750">
              <a:buFont typeface="Arial" panose="020B0604020202020204" pitchFamily="34" charset="0"/>
              <a:buChar char="•"/>
            </a:pPr>
            <a:r>
              <a:rPr lang="en-US" sz="1800" dirty="0">
                <a:latin typeface="Calibri" pitchFamily="34" charset="0"/>
                <a:ea typeface="Calibri" pitchFamily="34" charset="-122"/>
                <a:cs typeface="Calibri" pitchFamily="34" charset="-120"/>
              </a:rPr>
              <a:t>PCA + </a:t>
            </a:r>
            <a:r>
              <a:rPr lang="en-US" sz="1800" dirty="0" err="1">
                <a:latin typeface="Calibri" pitchFamily="34" charset="0"/>
                <a:ea typeface="Calibri" pitchFamily="34" charset="-122"/>
                <a:cs typeface="Calibri" pitchFamily="34" charset="-120"/>
              </a:rPr>
              <a:t>ConsensusClusterPlus</a:t>
            </a:r>
            <a:endParaRPr lang="en-US" sz="1800" dirty="0"/>
          </a:p>
          <a:p>
            <a:pPr marL="285750" indent="-285750">
              <a:buFont typeface="Arial" panose="020B0604020202020204" pitchFamily="34" charset="0"/>
              <a:buChar char="•"/>
            </a:pPr>
            <a:r>
              <a:rPr lang="en-US" sz="1800" dirty="0">
                <a:latin typeface="Calibri" pitchFamily="34" charset="0"/>
                <a:ea typeface="Calibri" pitchFamily="34" charset="-122"/>
                <a:cs typeface="Calibri" pitchFamily="34" charset="-120"/>
              </a:rPr>
              <a:t>Elbow PC selection</a:t>
            </a:r>
            <a:endParaRPr lang="en-US" sz="1800" dirty="0"/>
          </a:p>
          <a:p>
            <a:pPr marL="285750" indent="-285750">
              <a:buFont typeface="Arial" panose="020B0604020202020204" pitchFamily="34" charset="0"/>
              <a:buChar char="•"/>
            </a:pPr>
            <a:r>
              <a:rPr lang="en-US" sz="1800" dirty="0">
                <a:latin typeface="Calibri" pitchFamily="34" charset="0"/>
                <a:ea typeface="Calibri" pitchFamily="34" charset="-122"/>
                <a:cs typeface="Calibri" pitchFamily="34" charset="-120"/>
              </a:rPr>
              <a:t>10% balance rule per subtype</a:t>
            </a:r>
            <a:endParaRPr lang="en-US" sz="1800" dirty="0"/>
          </a:p>
        </p:txBody>
      </p:sp>
      <p:sp>
        <p:nvSpPr>
          <p:cNvPr id="10" name="TextBox 9">
            <a:extLst>
              <a:ext uri="{FF2B5EF4-FFF2-40B4-BE49-F238E27FC236}">
                <a16:creationId xmlns:a16="http://schemas.microsoft.com/office/drawing/2014/main" id="{7B0B2EAA-5E7F-09A8-D3FD-2605131AABF7}"/>
              </a:ext>
            </a:extLst>
          </p:cNvPr>
          <p:cNvSpPr txBox="1"/>
          <p:nvPr/>
        </p:nvSpPr>
        <p:spPr>
          <a:xfrm>
            <a:off x="7191375" y="2461825"/>
            <a:ext cx="2047875" cy="2031325"/>
          </a:xfrm>
          <a:prstGeom prst="rect">
            <a:avLst/>
          </a:prstGeom>
          <a:noFill/>
          <a:ln>
            <a:solidFill>
              <a:srgbClr val="DA002F"/>
            </a:solidFill>
          </a:ln>
        </p:spPr>
        <p:txBody>
          <a:bodyPr wrap="square">
            <a:spAutoFit/>
          </a:bodyPr>
          <a:lstStyle/>
          <a:p>
            <a:pPr marL="0" indent="0" algn="ctr">
              <a:buNone/>
            </a:pPr>
            <a:r>
              <a:rPr lang="en-US" sz="1800" dirty="0">
                <a:latin typeface="Calibri" pitchFamily="34" charset="0"/>
                <a:ea typeface="Calibri" pitchFamily="34" charset="-122"/>
                <a:cs typeface="Calibri" pitchFamily="34" charset="-120"/>
              </a:rPr>
              <a:t>DESeq2 differential expression</a:t>
            </a:r>
          </a:p>
          <a:p>
            <a:pPr marL="285750" indent="-285750" algn="ctr">
              <a:buFont typeface="Arial" panose="020B0604020202020204" pitchFamily="34" charset="0"/>
              <a:buChar char="•"/>
            </a:pPr>
            <a:r>
              <a:rPr lang="en-US" dirty="0">
                <a:latin typeface="Calibri" pitchFamily="34" charset="0"/>
                <a:ea typeface="Calibri" pitchFamily="34" charset="-122"/>
                <a:cs typeface="Calibri" pitchFamily="34" charset="-120"/>
              </a:rPr>
              <a:t>Normal-cluster based</a:t>
            </a:r>
          </a:p>
          <a:p>
            <a:pPr marL="285750" indent="-285750" algn="ctr">
              <a:buFont typeface="Arial" panose="020B0604020202020204" pitchFamily="34" charset="0"/>
              <a:buChar char="•"/>
            </a:pPr>
            <a:r>
              <a:rPr lang="en-US" sz="1800" dirty="0">
                <a:latin typeface="Calibri" pitchFamily="34" charset="0"/>
                <a:ea typeface="Calibri" pitchFamily="34" charset="-122"/>
                <a:cs typeface="Calibri" pitchFamily="34" charset="-120"/>
              </a:rPr>
              <a:t>Other subtypes-cytotoxic gene groups</a:t>
            </a:r>
            <a:endParaRPr lang="en-US" sz="1800" dirty="0"/>
          </a:p>
        </p:txBody>
      </p:sp>
      <p:sp>
        <p:nvSpPr>
          <p:cNvPr id="11" name="TextBox 10">
            <a:extLst>
              <a:ext uri="{FF2B5EF4-FFF2-40B4-BE49-F238E27FC236}">
                <a16:creationId xmlns:a16="http://schemas.microsoft.com/office/drawing/2014/main" id="{7B0B2EAA-5E7F-09A8-D3FD-2605131AABF7}"/>
              </a:ext>
            </a:extLst>
          </p:cNvPr>
          <p:cNvSpPr txBox="1"/>
          <p:nvPr/>
        </p:nvSpPr>
        <p:spPr>
          <a:xfrm>
            <a:off x="9496425" y="2461825"/>
            <a:ext cx="2047875" cy="1200329"/>
          </a:xfrm>
          <a:prstGeom prst="rect">
            <a:avLst/>
          </a:prstGeom>
          <a:noFill/>
          <a:ln>
            <a:solidFill>
              <a:srgbClr val="FF907A"/>
            </a:solidFill>
          </a:ln>
        </p:spPr>
        <p:txBody>
          <a:bodyPr wrap="square">
            <a:spAutoFit/>
          </a:bodyPr>
          <a:lstStyle/>
          <a:p>
            <a:pPr algn="ctr"/>
            <a:r>
              <a:rPr lang="en-US" dirty="0" err="1">
                <a:latin typeface="Calibri" pitchFamily="34" charset="0"/>
                <a:ea typeface="Calibri" pitchFamily="34" charset="-122"/>
                <a:cs typeface="Calibri" pitchFamily="34" charset="-120"/>
              </a:rPr>
              <a:t>Fgsea</a:t>
            </a:r>
            <a:r>
              <a:rPr lang="en-US" dirty="0">
                <a:latin typeface="Calibri" pitchFamily="34" charset="0"/>
                <a:ea typeface="Calibri" pitchFamily="34" charset="-122"/>
                <a:cs typeface="Calibri" pitchFamily="34" charset="-120"/>
              </a:rPr>
              <a:t>: Hallmark + </a:t>
            </a:r>
            <a:r>
              <a:rPr lang="en-US" dirty="0" err="1">
                <a:latin typeface="Calibri" pitchFamily="34" charset="0"/>
                <a:ea typeface="Calibri" pitchFamily="34" charset="-122"/>
                <a:cs typeface="Calibri" pitchFamily="34" charset="-120"/>
              </a:rPr>
              <a:t>Reactome</a:t>
            </a:r>
            <a:endParaRPr lang="en-US" dirty="0"/>
          </a:p>
          <a:p>
            <a:pPr algn="ctr"/>
            <a:r>
              <a:rPr lang="en-US" dirty="0">
                <a:latin typeface="Calibri" pitchFamily="34" charset="0"/>
                <a:ea typeface="Calibri" pitchFamily="34" charset="-122"/>
                <a:cs typeface="Calibri" pitchFamily="34" charset="-120"/>
              </a:rPr>
              <a:t>18,568 genes tested</a:t>
            </a:r>
            <a:endParaRPr lang="en-US" dirty="0"/>
          </a:p>
        </p:txBody>
      </p:sp>
    </p:spTree>
    <p:extLst>
      <p:ext uri="{BB962C8B-B14F-4D97-AF65-F5344CB8AC3E}">
        <p14:creationId xmlns:p14="http://schemas.microsoft.com/office/powerpoint/2010/main" val="1681446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C42D1-1C9F-0324-7207-B571C22CB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A8825-3A9F-5513-902E-8CD8F1468BD6}"/>
              </a:ext>
            </a:extLst>
          </p:cNvPr>
          <p:cNvSpPr>
            <a:spLocks noGrp="1"/>
          </p:cNvSpPr>
          <p:nvPr>
            <p:ph type="title"/>
          </p:nvPr>
        </p:nvSpPr>
        <p:spPr>
          <a:xfrm>
            <a:off x="941832" y="155447"/>
            <a:ext cx="10241280" cy="920877"/>
          </a:xfrm>
        </p:spPr>
        <p:txBody>
          <a:bodyPr>
            <a:normAutofit fontScale="90000"/>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How was the immune microenvironment measured?</a:t>
            </a:r>
          </a:p>
        </p:txBody>
      </p:sp>
      <p:sp>
        <p:nvSpPr>
          <p:cNvPr id="3" name="Shape 3">
            <a:extLst>
              <a:ext uri="{FF2B5EF4-FFF2-40B4-BE49-F238E27FC236}">
                <a16:creationId xmlns:a16="http://schemas.microsoft.com/office/drawing/2014/main" id="{EE3E7491-8E6B-5D06-0718-044FF79C1C98}"/>
              </a:ext>
            </a:extLst>
          </p:cNvPr>
          <p:cNvSpPr/>
          <p:nvPr/>
        </p:nvSpPr>
        <p:spPr>
          <a:xfrm>
            <a:off x="310514" y="1195198"/>
            <a:ext cx="5475404" cy="1406270"/>
          </a:xfrm>
          <a:prstGeom prst="rect">
            <a:avLst/>
          </a:prstGeom>
          <a:solidFill>
            <a:srgbClr val="FFFFFF"/>
          </a:solidFill>
          <a:ln w="12700">
            <a:solidFill>
              <a:schemeClr val="tx2">
                <a:lumMod val="10000"/>
                <a:lumOff val="90000"/>
              </a:schemeClr>
            </a:solidFill>
            <a:prstDash val="solid"/>
          </a:ln>
          <a:effectLst>
            <a:outerShdw blurRad="127000" dist="38100" dir="8100000" algn="bl" rotWithShape="0">
              <a:srgbClr val="000000">
                <a:alpha val="10000"/>
              </a:srgbClr>
            </a:outerShdw>
          </a:effectLst>
        </p:spPr>
        <p:txBody>
          <a:bodyPr/>
          <a:lstStyle/>
          <a:p>
            <a:endParaRPr lang="en-CA" sz="2800" dirty="0"/>
          </a:p>
        </p:txBody>
      </p:sp>
      <p:sp>
        <p:nvSpPr>
          <p:cNvPr id="4" name="Shape 4">
            <a:extLst>
              <a:ext uri="{FF2B5EF4-FFF2-40B4-BE49-F238E27FC236}">
                <a16:creationId xmlns:a16="http://schemas.microsoft.com/office/drawing/2014/main" id="{912510BA-19F1-A047-4085-C92BFB8BD011}"/>
              </a:ext>
            </a:extLst>
          </p:cNvPr>
          <p:cNvSpPr/>
          <p:nvPr/>
        </p:nvSpPr>
        <p:spPr>
          <a:xfrm>
            <a:off x="310515" y="1195198"/>
            <a:ext cx="1161234" cy="1176500"/>
          </a:xfrm>
          <a:prstGeom prst="rect">
            <a:avLst/>
          </a:prstGeom>
          <a:solidFill>
            <a:schemeClr val="accent2">
              <a:lumMod val="40000"/>
              <a:lumOff val="60000"/>
            </a:schemeClr>
          </a:solidFill>
          <a:ln w="12700">
            <a:solidFill>
              <a:schemeClr val="accent2">
                <a:lumMod val="40000"/>
                <a:lumOff val="60000"/>
              </a:schemeClr>
            </a:solidFill>
            <a:prstDash val="solid"/>
          </a:ln>
        </p:spPr>
        <p:txBody>
          <a:bodyPr/>
          <a:lstStyle/>
          <a:p>
            <a:endParaRPr lang="en-CA">
              <a:solidFill>
                <a:schemeClr val="accent2">
                  <a:lumMod val="40000"/>
                  <a:lumOff val="60000"/>
                </a:schemeClr>
              </a:solidFill>
            </a:endParaRPr>
          </a:p>
        </p:txBody>
      </p:sp>
      <p:sp>
        <p:nvSpPr>
          <p:cNvPr id="5" name="Text 5">
            <a:extLst>
              <a:ext uri="{FF2B5EF4-FFF2-40B4-BE49-F238E27FC236}">
                <a16:creationId xmlns:a16="http://schemas.microsoft.com/office/drawing/2014/main" id="{0FFFA19F-8F1C-27FA-C7D5-DEC00B1C3D4C}"/>
              </a:ext>
            </a:extLst>
          </p:cNvPr>
          <p:cNvSpPr/>
          <p:nvPr/>
        </p:nvSpPr>
        <p:spPr>
          <a:xfrm>
            <a:off x="310515" y="1441133"/>
            <a:ext cx="1161234" cy="703135"/>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GSVA</a:t>
            </a:r>
            <a:endParaRPr lang="en-US" sz="2800" dirty="0"/>
          </a:p>
        </p:txBody>
      </p:sp>
      <p:sp>
        <p:nvSpPr>
          <p:cNvPr id="6" name="Text 6">
            <a:extLst>
              <a:ext uri="{FF2B5EF4-FFF2-40B4-BE49-F238E27FC236}">
                <a16:creationId xmlns:a16="http://schemas.microsoft.com/office/drawing/2014/main" id="{1BACDC4C-4E68-0F97-2131-4FAE2C676062}"/>
              </a:ext>
            </a:extLst>
          </p:cNvPr>
          <p:cNvSpPr/>
          <p:nvPr/>
        </p:nvSpPr>
        <p:spPr>
          <a:xfrm>
            <a:off x="1548764" y="1303540"/>
            <a:ext cx="4781550" cy="485802"/>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Gene Set Variation Analysis</a:t>
            </a:r>
            <a:endParaRPr lang="en-US" sz="2000" dirty="0"/>
          </a:p>
        </p:txBody>
      </p:sp>
      <p:sp>
        <p:nvSpPr>
          <p:cNvPr id="7" name="Text 7">
            <a:extLst>
              <a:ext uri="{FF2B5EF4-FFF2-40B4-BE49-F238E27FC236}">
                <a16:creationId xmlns:a16="http://schemas.microsoft.com/office/drawing/2014/main" id="{9C1789C2-9F98-B9EA-470C-A8F1B6A50179}"/>
              </a:ext>
            </a:extLst>
          </p:cNvPr>
          <p:cNvSpPr/>
          <p:nvPr/>
        </p:nvSpPr>
        <p:spPr>
          <a:xfrm>
            <a:off x="1548764" y="1632724"/>
            <a:ext cx="4781550" cy="38352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Gene set enrichment (-1 to +1 score)</a:t>
            </a:r>
            <a:endParaRPr lang="en-US" sz="1400" dirty="0"/>
          </a:p>
        </p:txBody>
      </p:sp>
      <p:sp>
        <p:nvSpPr>
          <p:cNvPr id="8" name="Text 8">
            <a:extLst>
              <a:ext uri="{FF2B5EF4-FFF2-40B4-BE49-F238E27FC236}">
                <a16:creationId xmlns:a16="http://schemas.microsoft.com/office/drawing/2014/main" id="{54B45EC4-B961-39A0-EBFD-E431B08CC22F}"/>
              </a:ext>
            </a:extLst>
          </p:cNvPr>
          <p:cNvSpPr/>
          <p:nvPr/>
        </p:nvSpPr>
        <p:spPr>
          <a:xfrm>
            <a:off x="1548764" y="1914324"/>
            <a:ext cx="4781550" cy="357960"/>
          </a:xfrm>
          <a:prstGeom prst="rect">
            <a:avLst/>
          </a:prstGeom>
          <a:noFill/>
          <a:ln/>
        </p:spPr>
        <p:txBody>
          <a:bodyPr wrap="square" rtlCol="0" anchor="ctr"/>
          <a:lstStyle/>
          <a:p>
            <a:pPr marL="0" indent="0">
              <a:buNone/>
            </a:pPr>
            <a:r>
              <a:rPr lang="en-US" sz="1400" b="1" dirty="0">
                <a:solidFill>
                  <a:schemeClr val="accent2">
                    <a:lumMod val="40000"/>
                    <a:lumOff val="60000"/>
                  </a:schemeClr>
                </a:solidFill>
                <a:latin typeface="Calibri" pitchFamily="34" charset="0"/>
                <a:ea typeface="Calibri" pitchFamily="34" charset="-122"/>
                <a:cs typeface="Calibri" pitchFamily="34" charset="-120"/>
              </a:rPr>
              <a:t>✓ Pathway-level immune signatures</a:t>
            </a:r>
            <a:endParaRPr lang="en-US" sz="1400" dirty="0">
              <a:solidFill>
                <a:schemeClr val="accent2">
                  <a:lumMod val="40000"/>
                  <a:lumOff val="60000"/>
                </a:schemeClr>
              </a:solidFill>
            </a:endParaRPr>
          </a:p>
        </p:txBody>
      </p:sp>
      <p:sp>
        <p:nvSpPr>
          <p:cNvPr id="9" name="Shape 9">
            <a:extLst>
              <a:ext uri="{FF2B5EF4-FFF2-40B4-BE49-F238E27FC236}">
                <a16:creationId xmlns:a16="http://schemas.microsoft.com/office/drawing/2014/main" id="{F773211D-8DF1-1273-6DDE-202E77CF5ED4}"/>
              </a:ext>
            </a:extLst>
          </p:cNvPr>
          <p:cNvSpPr/>
          <p:nvPr/>
        </p:nvSpPr>
        <p:spPr>
          <a:xfrm>
            <a:off x="5785917" y="1195198"/>
            <a:ext cx="5475404" cy="1406270"/>
          </a:xfrm>
          <a:prstGeom prst="rect">
            <a:avLst/>
          </a:prstGeom>
          <a:solidFill>
            <a:srgbClr val="FFFFFF"/>
          </a:solidFill>
          <a:ln w="12700">
            <a:solidFill>
              <a:schemeClr val="accent6">
                <a:lumMod val="75000"/>
              </a:schemeClr>
            </a:solidFill>
            <a:prstDash val="solid"/>
          </a:ln>
          <a:effectLst>
            <a:outerShdw blurRad="127000" dist="38100" dir="8100000" algn="bl" rotWithShape="0">
              <a:srgbClr val="000000">
                <a:alpha val="10000"/>
              </a:srgbClr>
            </a:outerShdw>
          </a:effectLst>
        </p:spPr>
        <p:txBody>
          <a:bodyPr/>
          <a:lstStyle/>
          <a:p>
            <a:endParaRPr lang="en-CA"/>
          </a:p>
        </p:txBody>
      </p:sp>
      <p:sp>
        <p:nvSpPr>
          <p:cNvPr id="10" name="Shape 10">
            <a:extLst>
              <a:ext uri="{FF2B5EF4-FFF2-40B4-BE49-F238E27FC236}">
                <a16:creationId xmlns:a16="http://schemas.microsoft.com/office/drawing/2014/main" id="{F059633B-6B33-CD33-1532-7019FEF82EC0}"/>
              </a:ext>
            </a:extLst>
          </p:cNvPr>
          <p:cNvSpPr/>
          <p:nvPr/>
        </p:nvSpPr>
        <p:spPr>
          <a:xfrm>
            <a:off x="5785919" y="1185621"/>
            <a:ext cx="1161234" cy="1406270"/>
          </a:xfrm>
          <a:prstGeom prst="rect">
            <a:avLst/>
          </a:prstGeom>
          <a:solidFill>
            <a:schemeClr val="accent6">
              <a:lumMod val="75000"/>
            </a:schemeClr>
          </a:solidFill>
          <a:ln w="12700">
            <a:solidFill>
              <a:schemeClr val="accent6">
                <a:lumMod val="75000"/>
              </a:schemeClr>
            </a:solidFill>
            <a:prstDash val="solid"/>
          </a:ln>
        </p:spPr>
        <p:txBody>
          <a:bodyPr/>
          <a:lstStyle/>
          <a:p>
            <a:endParaRPr lang="en-CA" dirty="0">
              <a:solidFill>
                <a:schemeClr val="bg1"/>
              </a:solidFill>
            </a:endParaRPr>
          </a:p>
          <a:p>
            <a:r>
              <a:rPr lang="en-CA" sz="2800" b="1" dirty="0" err="1">
                <a:solidFill>
                  <a:schemeClr val="bg1"/>
                </a:solidFill>
              </a:rPr>
              <a:t>ssGSEA</a:t>
            </a:r>
            <a:endParaRPr lang="en-CA" sz="2800" b="1" dirty="0">
              <a:solidFill>
                <a:schemeClr val="bg1"/>
              </a:solidFill>
            </a:endParaRPr>
          </a:p>
        </p:txBody>
      </p:sp>
      <p:sp>
        <p:nvSpPr>
          <p:cNvPr id="11" name="Text 11">
            <a:extLst>
              <a:ext uri="{FF2B5EF4-FFF2-40B4-BE49-F238E27FC236}">
                <a16:creationId xmlns:a16="http://schemas.microsoft.com/office/drawing/2014/main" id="{FA2EBDB6-BF91-2AA5-C848-F9F6B31868E6}"/>
              </a:ext>
            </a:extLst>
          </p:cNvPr>
          <p:cNvSpPr/>
          <p:nvPr/>
        </p:nvSpPr>
        <p:spPr>
          <a:xfrm>
            <a:off x="4699635" y="1441133"/>
            <a:ext cx="1161234" cy="703135"/>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ssGSEA</a:t>
            </a:r>
            <a:endParaRPr lang="en-US" sz="1300" dirty="0"/>
          </a:p>
        </p:txBody>
      </p:sp>
      <p:sp>
        <p:nvSpPr>
          <p:cNvPr id="12" name="Text 12">
            <a:extLst>
              <a:ext uri="{FF2B5EF4-FFF2-40B4-BE49-F238E27FC236}">
                <a16:creationId xmlns:a16="http://schemas.microsoft.com/office/drawing/2014/main" id="{A09AC33B-2F42-275A-1ADD-00A992B09890}"/>
              </a:ext>
            </a:extLst>
          </p:cNvPr>
          <p:cNvSpPr/>
          <p:nvPr/>
        </p:nvSpPr>
        <p:spPr>
          <a:xfrm>
            <a:off x="7096606" y="1275384"/>
            <a:ext cx="4781550" cy="485802"/>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Single-sample GSEA</a:t>
            </a:r>
            <a:endParaRPr lang="en-US" sz="2000" dirty="0"/>
          </a:p>
        </p:txBody>
      </p:sp>
      <p:sp>
        <p:nvSpPr>
          <p:cNvPr id="13" name="Text 13">
            <a:extLst>
              <a:ext uri="{FF2B5EF4-FFF2-40B4-BE49-F238E27FC236}">
                <a16:creationId xmlns:a16="http://schemas.microsoft.com/office/drawing/2014/main" id="{CBB25EF6-A9C1-EB64-FABD-9E7E18F41D68}"/>
              </a:ext>
            </a:extLst>
          </p:cNvPr>
          <p:cNvSpPr/>
          <p:nvPr/>
        </p:nvSpPr>
        <p:spPr>
          <a:xfrm>
            <a:off x="7096606" y="1666543"/>
            <a:ext cx="4781550" cy="38352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Per-sample enrichment score</a:t>
            </a:r>
            <a:endParaRPr lang="en-US" sz="1400" dirty="0"/>
          </a:p>
        </p:txBody>
      </p:sp>
      <p:sp>
        <p:nvSpPr>
          <p:cNvPr id="14" name="Text 14">
            <a:extLst>
              <a:ext uri="{FF2B5EF4-FFF2-40B4-BE49-F238E27FC236}">
                <a16:creationId xmlns:a16="http://schemas.microsoft.com/office/drawing/2014/main" id="{707C14C2-BA5F-E0B5-388C-A6453D047ED3}"/>
              </a:ext>
            </a:extLst>
          </p:cNvPr>
          <p:cNvSpPr/>
          <p:nvPr/>
        </p:nvSpPr>
        <p:spPr>
          <a:xfrm>
            <a:off x="7096603" y="1979560"/>
            <a:ext cx="4781550" cy="357960"/>
          </a:xfrm>
          <a:prstGeom prst="rect">
            <a:avLst/>
          </a:prstGeom>
          <a:noFill/>
          <a:ln/>
        </p:spPr>
        <p:txBody>
          <a:bodyPr wrap="square" rtlCol="0" anchor="ctr"/>
          <a:lstStyle/>
          <a:p>
            <a:pPr marL="0" indent="0">
              <a:buNone/>
            </a:pPr>
            <a:r>
              <a:rPr lang="en-US" sz="1400" b="1" dirty="0">
                <a:solidFill>
                  <a:schemeClr val="accent6">
                    <a:lumMod val="75000"/>
                  </a:schemeClr>
                </a:solidFill>
                <a:latin typeface="Calibri" pitchFamily="34" charset="0"/>
                <a:ea typeface="Calibri" pitchFamily="34" charset="-122"/>
                <a:cs typeface="Calibri" pitchFamily="34" charset="-120"/>
              </a:rPr>
              <a:t>✓ Consistent with GSVA, independent</a:t>
            </a:r>
            <a:endParaRPr lang="en-US" sz="1400" dirty="0">
              <a:solidFill>
                <a:schemeClr val="accent6">
                  <a:lumMod val="75000"/>
                </a:schemeClr>
              </a:solidFill>
            </a:endParaRPr>
          </a:p>
        </p:txBody>
      </p:sp>
      <p:sp>
        <p:nvSpPr>
          <p:cNvPr id="15" name="Shape 15">
            <a:extLst>
              <a:ext uri="{FF2B5EF4-FFF2-40B4-BE49-F238E27FC236}">
                <a16:creationId xmlns:a16="http://schemas.microsoft.com/office/drawing/2014/main" id="{5EC6C9AE-3FE7-F810-64C8-BED31220DB3A}"/>
              </a:ext>
            </a:extLst>
          </p:cNvPr>
          <p:cNvSpPr/>
          <p:nvPr/>
        </p:nvSpPr>
        <p:spPr>
          <a:xfrm>
            <a:off x="310514" y="2338198"/>
            <a:ext cx="6216015" cy="1406270"/>
          </a:xfrm>
          <a:prstGeom prst="rect">
            <a:avLst/>
          </a:prstGeom>
          <a:solidFill>
            <a:srgbClr val="FFFFFF"/>
          </a:solidFill>
          <a:ln w="12700">
            <a:solidFill>
              <a:schemeClr val="accent4">
                <a:lumMod val="60000"/>
                <a:lumOff val="40000"/>
              </a:schemeClr>
            </a:solidFill>
            <a:prstDash val="solid"/>
          </a:ln>
          <a:effectLst>
            <a:outerShdw blurRad="127000" dist="38100" dir="8100000" algn="bl" rotWithShape="0">
              <a:srgbClr val="000000">
                <a:alpha val="10000"/>
              </a:srgbClr>
            </a:outerShdw>
          </a:effectLst>
        </p:spPr>
        <p:txBody>
          <a:bodyPr/>
          <a:lstStyle/>
          <a:p>
            <a:endParaRPr lang="en-CA"/>
          </a:p>
        </p:txBody>
      </p:sp>
      <p:sp>
        <p:nvSpPr>
          <p:cNvPr id="16" name="Shape 16">
            <a:extLst>
              <a:ext uri="{FF2B5EF4-FFF2-40B4-BE49-F238E27FC236}">
                <a16:creationId xmlns:a16="http://schemas.microsoft.com/office/drawing/2014/main" id="{6C8669B0-D186-0D37-58C7-9ACE674F92A9}"/>
              </a:ext>
            </a:extLst>
          </p:cNvPr>
          <p:cNvSpPr/>
          <p:nvPr/>
        </p:nvSpPr>
        <p:spPr>
          <a:xfrm>
            <a:off x="310515" y="2338198"/>
            <a:ext cx="1161234" cy="1406270"/>
          </a:xfrm>
          <a:prstGeom prst="rect">
            <a:avLst/>
          </a:prstGeom>
          <a:solidFill>
            <a:schemeClr val="accent4">
              <a:lumMod val="60000"/>
              <a:lumOff val="40000"/>
            </a:schemeClr>
          </a:solidFill>
          <a:ln w="12700">
            <a:solidFill>
              <a:schemeClr val="accent6">
                <a:lumMod val="60000"/>
                <a:lumOff val="40000"/>
              </a:schemeClr>
            </a:solidFill>
            <a:prstDash val="solid"/>
          </a:ln>
        </p:spPr>
        <p:txBody>
          <a:bodyPr/>
          <a:lstStyle/>
          <a:p>
            <a:endParaRPr lang="en-CA" sz="2800" dirty="0"/>
          </a:p>
        </p:txBody>
      </p:sp>
      <p:sp>
        <p:nvSpPr>
          <p:cNvPr id="17" name="Text 17">
            <a:extLst>
              <a:ext uri="{FF2B5EF4-FFF2-40B4-BE49-F238E27FC236}">
                <a16:creationId xmlns:a16="http://schemas.microsoft.com/office/drawing/2014/main" id="{0754EEEA-10C2-5305-C17E-737BA74D89E6}"/>
              </a:ext>
            </a:extLst>
          </p:cNvPr>
          <p:cNvSpPr/>
          <p:nvPr/>
        </p:nvSpPr>
        <p:spPr>
          <a:xfrm>
            <a:off x="310515" y="2584133"/>
            <a:ext cx="1161234" cy="703135"/>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quanTIseq</a:t>
            </a:r>
            <a:endParaRPr lang="en-US" sz="2800" dirty="0"/>
          </a:p>
        </p:txBody>
      </p:sp>
      <p:sp>
        <p:nvSpPr>
          <p:cNvPr id="18" name="Text 18">
            <a:extLst>
              <a:ext uri="{FF2B5EF4-FFF2-40B4-BE49-F238E27FC236}">
                <a16:creationId xmlns:a16="http://schemas.microsoft.com/office/drawing/2014/main" id="{79AE8AD3-2F42-F0D4-2CE0-D506A15736A3}"/>
              </a:ext>
            </a:extLst>
          </p:cNvPr>
          <p:cNvSpPr/>
          <p:nvPr/>
        </p:nvSpPr>
        <p:spPr>
          <a:xfrm>
            <a:off x="1511287" y="2396834"/>
            <a:ext cx="4781550" cy="485802"/>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Quantitative Immune Cell Deconv.</a:t>
            </a:r>
            <a:endParaRPr lang="en-US" sz="2000" dirty="0"/>
          </a:p>
        </p:txBody>
      </p:sp>
      <p:sp>
        <p:nvSpPr>
          <p:cNvPr id="19" name="Text 19">
            <a:extLst>
              <a:ext uri="{FF2B5EF4-FFF2-40B4-BE49-F238E27FC236}">
                <a16:creationId xmlns:a16="http://schemas.microsoft.com/office/drawing/2014/main" id="{6DB6F632-C5D1-0C1F-4055-79980A42239A}"/>
              </a:ext>
            </a:extLst>
          </p:cNvPr>
          <p:cNvSpPr/>
          <p:nvPr/>
        </p:nvSpPr>
        <p:spPr>
          <a:xfrm>
            <a:off x="1548764" y="2725130"/>
            <a:ext cx="4781550" cy="38352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Absolute cell-type fractions (0-1)</a:t>
            </a:r>
            <a:endParaRPr lang="en-US" sz="1400" dirty="0"/>
          </a:p>
        </p:txBody>
      </p:sp>
      <p:sp>
        <p:nvSpPr>
          <p:cNvPr id="20" name="Text 20">
            <a:extLst>
              <a:ext uri="{FF2B5EF4-FFF2-40B4-BE49-F238E27FC236}">
                <a16:creationId xmlns:a16="http://schemas.microsoft.com/office/drawing/2014/main" id="{C47A429C-721B-3F2F-5493-514E6223E256}"/>
              </a:ext>
            </a:extLst>
          </p:cNvPr>
          <p:cNvSpPr/>
          <p:nvPr/>
        </p:nvSpPr>
        <p:spPr>
          <a:xfrm>
            <a:off x="1471749" y="3096736"/>
            <a:ext cx="4781550" cy="357960"/>
          </a:xfrm>
          <a:prstGeom prst="rect">
            <a:avLst/>
          </a:prstGeom>
          <a:noFill/>
          <a:ln/>
        </p:spPr>
        <p:txBody>
          <a:bodyPr wrap="square" rtlCol="0" anchor="ctr"/>
          <a:lstStyle/>
          <a:p>
            <a:pPr marL="0" indent="0">
              <a:buNone/>
            </a:pPr>
            <a:r>
              <a:rPr lang="en-US" sz="1400" b="1" dirty="0">
                <a:solidFill>
                  <a:schemeClr val="accent4">
                    <a:lumMod val="60000"/>
                    <a:lumOff val="40000"/>
                  </a:schemeClr>
                </a:solidFill>
                <a:latin typeface="Calibri" pitchFamily="34" charset="0"/>
                <a:ea typeface="Calibri" pitchFamily="34" charset="-122"/>
                <a:cs typeface="Calibri" pitchFamily="34" charset="-120"/>
              </a:rPr>
              <a:t>✓ Calibrated against cytometry data</a:t>
            </a:r>
            <a:endParaRPr lang="en-US" sz="1400" dirty="0">
              <a:solidFill>
                <a:schemeClr val="accent4">
                  <a:lumMod val="60000"/>
                  <a:lumOff val="40000"/>
                </a:schemeClr>
              </a:solidFill>
            </a:endParaRPr>
          </a:p>
        </p:txBody>
      </p:sp>
      <p:sp>
        <p:nvSpPr>
          <p:cNvPr id="21" name="Shape 21">
            <a:extLst>
              <a:ext uri="{FF2B5EF4-FFF2-40B4-BE49-F238E27FC236}">
                <a16:creationId xmlns:a16="http://schemas.microsoft.com/office/drawing/2014/main" id="{8BA62BFA-8C84-F2E7-C974-F615C312CE42}"/>
              </a:ext>
            </a:extLst>
          </p:cNvPr>
          <p:cNvSpPr/>
          <p:nvPr/>
        </p:nvSpPr>
        <p:spPr>
          <a:xfrm>
            <a:off x="5785916" y="2338198"/>
            <a:ext cx="5475399" cy="1406270"/>
          </a:xfrm>
          <a:prstGeom prst="rect">
            <a:avLst/>
          </a:prstGeom>
          <a:solidFill>
            <a:srgbClr val="FFFFFF"/>
          </a:solidFill>
          <a:ln w="12700">
            <a:solidFill>
              <a:srgbClr val="553C9A"/>
            </a:solidFill>
            <a:prstDash val="solid"/>
          </a:ln>
          <a:effectLst>
            <a:outerShdw blurRad="127000" dist="38100" dir="8100000" algn="bl" rotWithShape="0">
              <a:srgbClr val="000000">
                <a:alpha val="10000"/>
              </a:srgbClr>
            </a:outerShdw>
          </a:effectLst>
        </p:spPr>
        <p:txBody>
          <a:bodyPr/>
          <a:lstStyle/>
          <a:p>
            <a:endParaRPr lang="en-CA"/>
          </a:p>
        </p:txBody>
      </p:sp>
      <p:sp>
        <p:nvSpPr>
          <p:cNvPr id="22" name="Shape 22">
            <a:extLst>
              <a:ext uri="{FF2B5EF4-FFF2-40B4-BE49-F238E27FC236}">
                <a16:creationId xmlns:a16="http://schemas.microsoft.com/office/drawing/2014/main" id="{9B1BDA37-710F-C51F-3375-1E90FDA55D29}"/>
              </a:ext>
            </a:extLst>
          </p:cNvPr>
          <p:cNvSpPr/>
          <p:nvPr/>
        </p:nvSpPr>
        <p:spPr>
          <a:xfrm>
            <a:off x="5785915" y="2338198"/>
            <a:ext cx="1161234" cy="1406270"/>
          </a:xfrm>
          <a:prstGeom prst="rect">
            <a:avLst/>
          </a:prstGeom>
          <a:solidFill>
            <a:srgbClr val="553C9A"/>
          </a:solidFill>
          <a:ln w="12700">
            <a:solidFill>
              <a:srgbClr val="553C9A"/>
            </a:solidFill>
            <a:prstDash val="solid"/>
          </a:ln>
        </p:spPr>
        <p:txBody>
          <a:bodyPr/>
          <a:lstStyle/>
          <a:p>
            <a:endParaRPr lang="en-CA" b="1" dirty="0"/>
          </a:p>
          <a:p>
            <a:r>
              <a:rPr lang="en-CA" b="1" dirty="0"/>
              <a:t>MCP-counter</a:t>
            </a:r>
          </a:p>
        </p:txBody>
      </p:sp>
      <p:sp>
        <p:nvSpPr>
          <p:cNvPr id="23" name="Text 23">
            <a:extLst>
              <a:ext uri="{FF2B5EF4-FFF2-40B4-BE49-F238E27FC236}">
                <a16:creationId xmlns:a16="http://schemas.microsoft.com/office/drawing/2014/main" id="{F05C463C-A071-A7F8-2350-D8C3A011C749}"/>
              </a:ext>
            </a:extLst>
          </p:cNvPr>
          <p:cNvSpPr/>
          <p:nvPr/>
        </p:nvSpPr>
        <p:spPr>
          <a:xfrm>
            <a:off x="4699635" y="2584133"/>
            <a:ext cx="1161234" cy="703135"/>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MCP-counter</a:t>
            </a:r>
            <a:endParaRPr lang="en-US" sz="1300" dirty="0"/>
          </a:p>
        </p:txBody>
      </p:sp>
      <p:sp>
        <p:nvSpPr>
          <p:cNvPr id="24" name="Text 24">
            <a:extLst>
              <a:ext uri="{FF2B5EF4-FFF2-40B4-BE49-F238E27FC236}">
                <a16:creationId xmlns:a16="http://schemas.microsoft.com/office/drawing/2014/main" id="{E59D5782-379B-090D-F839-0F6AB2430767}"/>
              </a:ext>
            </a:extLst>
          </p:cNvPr>
          <p:cNvSpPr/>
          <p:nvPr/>
        </p:nvSpPr>
        <p:spPr>
          <a:xfrm>
            <a:off x="7052933" y="2324305"/>
            <a:ext cx="4781550" cy="485802"/>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Microenvironment Cell Populations</a:t>
            </a:r>
            <a:endParaRPr lang="en-US" sz="2000" dirty="0"/>
          </a:p>
        </p:txBody>
      </p:sp>
      <p:sp>
        <p:nvSpPr>
          <p:cNvPr id="25" name="Text 25">
            <a:extLst>
              <a:ext uri="{FF2B5EF4-FFF2-40B4-BE49-F238E27FC236}">
                <a16:creationId xmlns:a16="http://schemas.microsoft.com/office/drawing/2014/main" id="{B6EB2695-9AEA-9DA1-EF82-F851E3B77D3E}"/>
              </a:ext>
            </a:extLst>
          </p:cNvPr>
          <p:cNvSpPr/>
          <p:nvPr/>
        </p:nvSpPr>
        <p:spPr>
          <a:xfrm>
            <a:off x="7099312" y="2697865"/>
            <a:ext cx="4781550" cy="38352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Marker gene relative enrichment</a:t>
            </a:r>
            <a:endParaRPr lang="en-US" sz="1400" dirty="0"/>
          </a:p>
        </p:txBody>
      </p:sp>
      <p:sp>
        <p:nvSpPr>
          <p:cNvPr id="26" name="Text 26">
            <a:extLst>
              <a:ext uri="{FF2B5EF4-FFF2-40B4-BE49-F238E27FC236}">
                <a16:creationId xmlns:a16="http://schemas.microsoft.com/office/drawing/2014/main" id="{F2B78E9D-8DD4-0163-45FA-D77E232CF784}"/>
              </a:ext>
            </a:extLst>
          </p:cNvPr>
          <p:cNvSpPr/>
          <p:nvPr/>
        </p:nvSpPr>
        <p:spPr>
          <a:xfrm>
            <a:off x="7080499" y="3078688"/>
            <a:ext cx="4781550" cy="357960"/>
          </a:xfrm>
          <a:prstGeom prst="rect">
            <a:avLst/>
          </a:prstGeom>
          <a:noFill/>
          <a:ln/>
        </p:spPr>
        <p:txBody>
          <a:bodyPr wrap="square" rtlCol="0" anchor="ctr"/>
          <a:lstStyle/>
          <a:p>
            <a:pPr marL="0" indent="0">
              <a:buNone/>
            </a:pPr>
            <a:r>
              <a:rPr lang="en-US" sz="1400" b="1" dirty="0">
                <a:solidFill>
                  <a:srgbClr val="553C9A"/>
                </a:solidFill>
                <a:latin typeface="Calibri" pitchFamily="34" charset="0"/>
                <a:ea typeface="Calibri" pitchFamily="34" charset="-122"/>
                <a:cs typeface="Calibri" pitchFamily="34" charset="-120"/>
              </a:rPr>
              <a:t>✓ Reliable for abundant cell types</a:t>
            </a:r>
            <a:endParaRPr lang="en-US" sz="1400" dirty="0"/>
          </a:p>
        </p:txBody>
      </p:sp>
      <p:sp>
        <p:nvSpPr>
          <p:cNvPr id="27" name="Shape 27">
            <a:extLst>
              <a:ext uri="{FF2B5EF4-FFF2-40B4-BE49-F238E27FC236}">
                <a16:creationId xmlns:a16="http://schemas.microsoft.com/office/drawing/2014/main" id="{A9AAAAE5-831A-49E9-3AC4-ADF8034AF595}"/>
              </a:ext>
            </a:extLst>
          </p:cNvPr>
          <p:cNvSpPr/>
          <p:nvPr/>
        </p:nvSpPr>
        <p:spPr>
          <a:xfrm>
            <a:off x="310514" y="3481198"/>
            <a:ext cx="6216015" cy="1406270"/>
          </a:xfrm>
          <a:prstGeom prst="rect">
            <a:avLst/>
          </a:prstGeom>
          <a:solidFill>
            <a:srgbClr val="FFFFFF"/>
          </a:solidFill>
          <a:ln w="12700">
            <a:solidFill>
              <a:schemeClr val="accent5">
                <a:lumMod val="60000"/>
                <a:lumOff val="40000"/>
              </a:schemeClr>
            </a:solidFill>
            <a:prstDash val="solid"/>
          </a:ln>
          <a:effectLst>
            <a:outerShdw blurRad="127000" dist="38100" dir="8100000" algn="bl" rotWithShape="0">
              <a:srgbClr val="000000">
                <a:alpha val="10000"/>
              </a:srgbClr>
            </a:outerShdw>
          </a:effectLst>
        </p:spPr>
        <p:txBody>
          <a:bodyPr/>
          <a:lstStyle/>
          <a:p>
            <a:endParaRPr lang="en-CA"/>
          </a:p>
        </p:txBody>
      </p:sp>
      <p:sp>
        <p:nvSpPr>
          <p:cNvPr id="28" name="Shape 28">
            <a:extLst>
              <a:ext uri="{FF2B5EF4-FFF2-40B4-BE49-F238E27FC236}">
                <a16:creationId xmlns:a16="http://schemas.microsoft.com/office/drawing/2014/main" id="{8ECB84F6-B96C-62C6-93FF-910DD78CE21D}"/>
              </a:ext>
            </a:extLst>
          </p:cNvPr>
          <p:cNvSpPr/>
          <p:nvPr/>
        </p:nvSpPr>
        <p:spPr>
          <a:xfrm>
            <a:off x="310515" y="3481198"/>
            <a:ext cx="1161234" cy="1406270"/>
          </a:xfrm>
          <a:prstGeom prst="rect">
            <a:avLst/>
          </a:prstGeom>
          <a:solidFill>
            <a:schemeClr val="accent5">
              <a:lumMod val="60000"/>
              <a:lumOff val="40000"/>
            </a:schemeClr>
          </a:solidFill>
          <a:ln w="12700">
            <a:solidFill>
              <a:srgbClr val="C05621"/>
            </a:solidFill>
            <a:prstDash val="solid"/>
          </a:ln>
        </p:spPr>
        <p:txBody>
          <a:bodyPr/>
          <a:lstStyle/>
          <a:p>
            <a:endParaRPr lang="en-CA"/>
          </a:p>
        </p:txBody>
      </p:sp>
      <p:sp>
        <p:nvSpPr>
          <p:cNvPr id="29" name="Text 29">
            <a:extLst>
              <a:ext uri="{FF2B5EF4-FFF2-40B4-BE49-F238E27FC236}">
                <a16:creationId xmlns:a16="http://schemas.microsoft.com/office/drawing/2014/main" id="{CE25C4E5-47DD-5DEE-03ED-5241E89409A0}"/>
              </a:ext>
            </a:extLst>
          </p:cNvPr>
          <p:cNvSpPr/>
          <p:nvPr/>
        </p:nvSpPr>
        <p:spPr>
          <a:xfrm>
            <a:off x="310515" y="3727133"/>
            <a:ext cx="1161234" cy="703135"/>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EPIC</a:t>
            </a:r>
            <a:endParaRPr lang="en-US" sz="2800" dirty="0"/>
          </a:p>
        </p:txBody>
      </p:sp>
      <p:sp>
        <p:nvSpPr>
          <p:cNvPr id="30" name="Text 30">
            <a:extLst>
              <a:ext uri="{FF2B5EF4-FFF2-40B4-BE49-F238E27FC236}">
                <a16:creationId xmlns:a16="http://schemas.microsoft.com/office/drawing/2014/main" id="{FCB3915B-BD37-FA5D-B8F5-885E5C9A927F}"/>
              </a:ext>
            </a:extLst>
          </p:cNvPr>
          <p:cNvSpPr/>
          <p:nvPr/>
        </p:nvSpPr>
        <p:spPr>
          <a:xfrm>
            <a:off x="1511287" y="3619003"/>
            <a:ext cx="4781550" cy="485802"/>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Estimating Prop. of Immune Cells</a:t>
            </a:r>
            <a:endParaRPr lang="en-US" sz="2000" dirty="0"/>
          </a:p>
        </p:txBody>
      </p:sp>
      <p:sp>
        <p:nvSpPr>
          <p:cNvPr id="31" name="Text 31">
            <a:extLst>
              <a:ext uri="{FF2B5EF4-FFF2-40B4-BE49-F238E27FC236}">
                <a16:creationId xmlns:a16="http://schemas.microsoft.com/office/drawing/2014/main" id="{04922BB1-D1BA-2511-F396-4211D8CF3D47}"/>
              </a:ext>
            </a:extLst>
          </p:cNvPr>
          <p:cNvSpPr/>
          <p:nvPr/>
        </p:nvSpPr>
        <p:spPr>
          <a:xfrm>
            <a:off x="1548764" y="3974820"/>
            <a:ext cx="4781550" cy="38352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Tumour-purity-aware fractions</a:t>
            </a:r>
            <a:endParaRPr lang="en-US" sz="1400" dirty="0"/>
          </a:p>
        </p:txBody>
      </p:sp>
      <p:sp>
        <p:nvSpPr>
          <p:cNvPr id="32" name="Text 32">
            <a:extLst>
              <a:ext uri="{FF2B5EF4-FFF2-40B4-BE49-F238E27FC236}">
                <a16:creationId xmlns:a16="http://schemas.microsoft.com/office/drawing/2014/main" id="{E9A2120F-BAE0-0A35-08E9-26EED7B2B749}"/>
              </a:ext>
            </a:extLst>
          </p:cNvPr>
          <p:cNvSpPr/>
          <p:nvPr/>
        </p:nvSpPr>
        <p:spPr>
          <a:xfrm>
            <a:off x="1548764" y="4409720"/>
            <a:ext cx="4781550" cy="357960"/>
          </a:xfrm>
          <a:prstGeom prst="rect">
            <a:avLst/>
          </a:prstGeom>
          <a:noFill/>
          <a:ln/>
        </p:spPr>
        <p:txBody>
          <a:bodyPr wrap="square" rtlCol="0" anchor="ctr"/>
          <a:lstStyle/>
          <a:p>
            <a:pPr marL="0" indent="0">
              <a:buNone/>
            </a:pPr>
            <a:r>
              <a:rPr lang="en-US" sz="1400" b="1" dirty="0">
                <a:solidFill>
                  <a:schemeClr val="accent5">
                    <a:lumMod val="60000"/>
                    <a:lumOff val="40000"/>
                  </a:schemeClr>
                </a:solidFill>
                <a:latin typeface="Calibri" pitchFamily="34" charset="0"/>
                <a:ea typeface="Calibri" pitchFamily="34" charset="-122"/>
                <a:cs typeface="Calibri" pitchFamily="34" charset="-120"/>
              </a:rPr>
              <a:t>✓ Handles stromal/cancer cells well</a:t>
            </a:r>
            <a:endParaRPr lang="en-US" sz="1400" dirty="0">
              <a:solidFill>
                <a:schemeClr val="accent5">
                  <a:lumMod val="60000"/>
                  <a:lumOff val="40000"/>
                </a:schemeClr>
              </a:solidFill>
            </a:endParaRPr>
          </a:p>
        </p:txBody>
      </p:sp>
      <p:sp>
        <p:nvSpPr>
          <p:cNvPr id="33" name="Shape 33">
            <a:extLst>
              <a:ext uri="{FF2B5EF4-FFF2-40B4-BE49-F238E27FC236}">
                <a16:creationId xmlns:a16="http://schemas.microsoft.com/office/drawing/2014/main" id="{5B01A488-8B60-0B85-BB74-325C54C36AEE}"/>
              </a:ext>
            </a:extLst>
          </p:cNvPr>
          <p:cNvSpPr/>
          <p:nvPr/>
        </p:nvSpPr>
        <p:spPr>
          <a:xfrm>
            <a:off x="5785908" y="3481198"/>
            <a:ext cx="5475404" cy="1406270"/>
          </a:xfrm>
          <a:prstGeom prst="rect">
            <a:avLst/>
          </a:prstGeom>
          <a:solidFill>
            <a:srgbClr val="FFFFFF"/>
          </a:solidFill>
          <a:ln w="12700">
            <a:solidFill>
              <a:srgbClr val="B45309"/>
            </a:solidFill>
            <a:prstDash val="solid"/>
          </a:ln>
          <a:effectLst>
            <a:outerShdw blurRad="127000" dist="38100" dir="8100000" algn="bl" rotWithShape="0">
              <a:srgbClr val="000000">
                <a:alpha val="10000"/>
              </a:srgbClr>
            </a:outerShdw>
          </a:effectLst>
        </p:spPr>
        <p:txBody>
          <a:bodyPr/>
          <a:lstStyle/>
          <a:p>
            <a:endParaRPr lang="en-CA"/>
          </a:p>
        </p:txBody>
      </p:sp>
      <p:sp>
        <p:nvSpPr>
          <p:cNvPr id="34" name="Shape 34">
            <a:extLst>
              <a:ext uri="{FF2B5EF4-FFF2-40B4-BE49-F238E27FC236}">
                <a16:creationId xmlns:a16="http://schemas.microsoft.com/office/drawing/2014/main" id="{015102A2-737A-D3C4-F8E9-39ED18408F6B}"/>
              </a:ext>
            </a:extLst>
          </p:cNvPr>
          <p:cNvSpPr/>
          <p:nvPr/>
        </p:nvSpPr>
        <p:spPr>
          <a:xfrm>
            <a:off x="5785908" y="3471621"/>
            <a:ext cx="1161241" cy="1406270"/>
          </a:xfrm>
          <a:prstGeom prst="rect">
            <a:avLst/>
          </a:prstGeom>
          <a:solidFill>
            <a:srgbClr val="B45309"/>
          </a:solidFill>
          <a:ln w="12700">
            <a:solidFill>
              <a:srgbClr val="B45309"/>
            </a:solidFill>
            <a:prstDash val="solid"/>
          </a:ln>
        </p:spPr>
        <p:txBody>
          <a:bodyPr/>
          <a:lstStyle/>
          <a:p>
            <a:endParaRPr lang="en-CA" dirty="0"/>
          </a:p>
          <a:p>
            <a:r>
              <a:rPr lang="en-CA" b="1" dirty="0" err="1"/>
              <a:t>xCell</a:t>
            </a:r>
            <a:endParaRPr lang="en-CA" b="1" dirty="0"/>
          </a:p>
        </p:txBody>
      </p:sp>
      <p:sp>
        <p:nvSpPr>
          <p:cNvPr id="35" name="Text 35">
            <a:extLst>
              <a:ext uri="{FF2B5EF4-FFF2-40B4-BE49-F238E27FC236}">
                <a16:creationId xmlns:a16="http://schemas.microsoft.com/office/drawing/2014/main" id="{188924F2-0370-426D-D36A-902D02B2CFE1}"/>
              </a:ext>
            </a:extLst>
          </p:cNvPr>
          <p:cNvSpPr/>
          <p:nvPr/>
        </p:nvSpPr>
        <p:spPr>
          <a:xfrm>
            <a:off x="4699635" y="3727133"/>
            <a:ext cx="1161234" cy="703135"/>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xCell</a:t>
            </a:r>
            <a:endParaRPr lang="en-US" sz="1300" dirty="0"/>
          </a:p>
        </p:txBody>
      </p:sp>
      <p:sp>
        <p:nvSpPr>
          <p:cNvPr id="36" name="Text 36">
            <a:extLst>
              <a:ext uri="{FF2B5EF4-FFF2-40B4-BE49-F238E27FC236}">
                <a16:creationId xmlns:a16="http://schemas.microsoft.com/office/drawing/2014/main" id="{90D83F63-A7DE-1A75-F8C1-0BA094468F67}"/>
              </a:ext>
            </a:extLst>
          </p:cNvPr>
          <p:cNvSpPr/>
          <p:nvPr/>
        </p:nvSpPr>
        <p:spPr>
          <a:xfrm>
            <a:off x="7198233" y="3512834"/>
            <a:ext cx="4781550" cy="485802"/>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Cell-type Enrichment Analysis</a:t>
            </a:r>
            <a:endParaRPr lang="en-US" sz="2000" dirty="0"/>
          </a:p>
        </p:txBody>
      </p:sp>
      <p:sp>
        <p:nvSpPr>
          <p:cNvPr id="37" name="Text 37">
            <a:extLst>
              <a:ext uri="{FF2B5EF4-FFF2-40B4-BE49-F238E27FC236}">
                <a16:creationId xmlns:a16="http://schemas.microsoft.com/office/drawing/2014/main" id="{ECAEB705-1F0A-41A3-01F0-86F037AC7471}"/>
              </a:ext>
            </a:extLst>
          </p:cNvPr>
          <p:cNvSpPr/>
          <p:nvPr/>
        </p:nvSpPr>
        <p:spPr>
          <a:xfrm>
            <a:off x="7324095" y="3966659"/>
            <a:ext cx="4781550" cy="38352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64 cell-type enrichment scores</a:t>
            </a:r>
            <a:endParaRPr lang="en-US" sz="1400" dirty="0"/>
          </a:p>
        </p:txBody>
      </p:sp>
      <p:sp>
        <p:nvSpPr>
          <p:cNvPr id="38" name="Text 38">
            <a:extLst>
              <a:ext uri="{FF2B5EF4-FFF2-40B4-BE49-F238E27FC236}">
                <a16:creationId xmlns:a16="http://schemas.microsoft.com/office/drawing/2014/main" id="{3EE133F9-507B-8DDA-CC24-C08481637E35}"/>
              </a:ext>
            </a:extLst>
          </p:cNvPr>
          <p:cNvSpPr/>
          <p:nvPr/>
        </p:nvSpPr>
        <p:spPr>
          <a:xfrm>
            <a:off x="7261252" y="4366520"/>
            <a:ext cx="4781550" cy="357960"/>
          </a:xfrm>
          <a:prstGeom prst="rect">
            <a:avLst/>
          </a:prstGeom>
          <a:noFill/>
          <a:ln/>
        </p:spPr>
        <p:txBody>
          <a:bodyPr wrap="square"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 Broadest cell-type coverage</a:t>
            </a:r>
            <a:endParaRPr lang="en-US" sz="1400" dirty="0"/>
          </a:p>
        </p:txBody>
      </p:sp>
      <p:sp>
        <p:nvSpPr>
          <p:cNvPr id="40" name="Text 40">
            <a:extLst>
              <a:ext uri="{FF2B5EF4-FFF2-40B4-BE49-F238E27FC236}">
                <a16:creationId xmlns:a16="http://schemas.microsoft.com/office/drawing/2014/main" id="{9AF5BDCE-9A89-3493-F9DC-3DD2C050455D}"/>
              </a:ext>
            </a:extLst>
          </p:cNvPr>
          <p:cNvSpPr/>
          <p:nvPr/>
        </p:nvSpPr>
        <p:spPr>
          <a:xfrm>
            <a:off x="634501" y="5318909"/>
            <a:ext cx="10452736" cy="801570"/>
          </a:xfrm>
          <a:prstGeom prst="rect">
            <a:avLst/>
          </a:prstGeom>
          <a:solidFill>
            <a:schemeClr val="tx2">
              <a:lumMod val="90000"/>
              <a:lumOff val="10000"/>
            </a:schemeClr>
          </a:solidFill>
          <a:ln/>
        </p:spPr>
        <p:txBody>
          <a:bodyPr wrap="square" rtlCol="0" anchor="ctr"/>
          <a:lstStyle/>
          <a:p>
            <a:pPr marL="0" indent="0" algn="ctr">
              <a:buNone/>
            </a:pPr>
            <a:r>
              <a:rPr lang="en-US" sz="2800" b="1" i="1" dirty="0">
                <a:solidFill>
                  <a:schemeClr val="bg1"/>
                </a:solidFill>
                <a:latin typeface="Calibri" pitchFamily="34" charset="0"/>
                <a:ea typeface="Calibri" pitchFamily="34" charset="-122"/>
                <a:cs typeface="Calibri" pitchFamily="34" charset="-120"/>
              </a:rPr>
              <a:t>CIBERSORT (7th method) withheld as an independent validation tool</a:t>
            </a:r>
            <a:endParaRPr lang="en-US" sz="2800" dirty="0">
              <a:solidFill>
                <a:schemeClr val="bg1"/>
              </a:solidFill>
            </a:endParaRPr>
          </a:p>
        </p:txBody>
      </p:sp>
    </p:spTree>
    <p:extLst>
      <p:ext uri="{BB962C8B-B14F-4D97-AF65-F5344CB8AC3E}">
        <p14:creationId xmlns:p14="http://schemas.microsoft.com/office/powerpoint/2010/main" val="276143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929-6C0A-3954-8EC5-E4F748B5A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EDCA8-47AD-A3B4-DB0D-BF1AB35137AD}"/>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Meta Data</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2158C20-3835-7B04-9EA2-88BCE3BEF622}"/>
              </a:ext>
            </a:extLst>
          </p:cNvPr>
          <p:cNvPicPr>
            <a:picLocks noChangeAspect="1"/>
          </p:cNvPicPr>
          <p:nvPr/>
        </p:nvPicPr>
        <p:blipFill>
          <a:blip r:embed="rId3"/>
          <a:stretch>
            <a:fillRect/>
          </a:stretch>
        </p:blipFill>
        <p:spPr>
          <a:xfrm>
            <a:off x="1440556" y="1043782"/>
            <a:ext cx="8651875" cy="5191125"/>
          </a:xfrm>
          <a:prstGeom prst="rect">
            <a:avLst/>
          </a:prstGeom>
        </p:spPr>
      </p:pic>
      <p:sp>
        <p:nvSpPr>
          <p:cNvPr id="5" name="TextBox 4">
            <a:extLst>
              <a:ext uri="{FF2B5EF4-FFF2-40B4-BE49-F238E27FC236}">
                <a16:creationId xmlns:a16="http://schemas.microsoft.com/office/drawing/2014/main" id="{D7FE14A8-6E9A-492C-E908-857D89518A74}"/>
              </a:ext>
            </a:extLst>
          </p:cNvPr>
          <p:cNvSpPr txBox="1"/>
          <p:nvPr/>
        </p:nvSpPr>
        <p:spPr>
          <a:xfrm>
            <a:off x="3114675" y="1447800"/>
            <a:ext cx="638175" cy="307777"/>
          </a:xfrm>
          <a:prstGeom prst="rect">
            <a:avLst/>
          </a:prstGeom>
          <a:noFill/>
        </p:spPr>
        <p:txBody>
          <a:bodyPr wrap="square" rtlCol="0">
            <a:spAutoFit/>
          </a:bodyPr>
          <a:lstStyle/>
          <a:p>
            <a:r>
              <a:rPr lang="en-CA" sz="1400" b="1" dirty="0"/>
              <a:t>523</a:t>
            </a:r>
          </a:p>
        </p:txBody>
      </p:sp>
      <p:sp>
        <p:nvSpPr>
          <p:cNvPr id="3" name="QCSummary">
            <a:extLst>
              <a:ext uri="{FF2B5EF4-FFF2-40B4-BE49-F238E27FC236}">
                <a16:creationId xmlns:a16="http://schemas.microsoft.com/office/drawing/2014/main" id="{E9FD192A-6EEC-5D48-CC29-E44A927B9CED}"/>
              </a:ext>
            </a:extLst>
          </p:cNvPr>
          <p:cNvSpPr txBox="1"/>
          <p:nvPr/>
        </p:nvSpPr>
        <p:spPr>
          <a:xfrm>
            <a:off x="7751443" y="623093"/>
            <a:ext cx="4218883" cy="2585323"/>
          </a:xfrm>
          <a:prstGeom prst="rect">
            <a:avLst/>
          </a:prstGeom>
          <a:solidFill>
            <a:srgbClr val="F5F0FF"/>
          </a:solidFill>
          <a:ln w="19050">
            <a:solidFill>
              <a:schemeClr val="tx2">
                <a:lumMod val="50000"/>
                <a:lumOff val="50000"/>
              </a:schemeClr>
            </a:solidFill>
          </a:ln>
        </p:spPr>
        <p:txBody>
          <a:bodyPr wrap="square" rtlCol="0">
            <a:spAutoFit/>
          </a:bodyPr>
          <a:lstStyle/>
          <a:p>
            <a:pPr marL="0" indent="0">
              <a:buNone/>
            </a:pPr>
            <a:r>
              <a:rPr lang="en-US" b="1" dirty="0">
                <a:solidFill>
                  <a:srgbClr val="7D0245"/>
                </a:solidFill>
                <a:latin typeface="Calibri" pitchFamily="34" charset="0"/>
              </a:rPr>
              <a:t>Data &amp; QC Summary</a:t>
            </a:r>
          </a:p>
          <a:p>
            <a:r>
              <a:rPr lang="en-US" dirty="0">
                <a:solidFill>
                  <a:srgbClr val="334155"/>
                </a:solidFill>
                <a:latin typeface="Calibri" pitchFamily="34" charset="0"/>
              </a:rPr>
              <a:t>Source: TCGA-BRCA (GDC portal)</a:t>
            </a:r>
          </a:p>
          <a:p>
            <a:r>
              <a:rPr lang="en-US" dirty="0">
                <a:solidFill>
                  <a:srgbClr val="334155"/>
                </a:solidFill>
                <a:latin typeface="Calibri" pitchFamily="34" charset="0"/>
              </a:rPr>
              <a:t>Pipeline: STAR-Counts (harmonised)</a:t>
            </a:r>
          </a:p>
          <a:p>
            <a:r>
              <a:rPr lang="en-US" dirty="0">
                <a:solidFill>
                  <a:srgbClr val="334155"/>
                </a:solidFill>
                <a:latin typeface="Calibri" pitchFamily="34" charset="0"/>
              </a:rPr>
              <a:t>Started: 1,111 samples downloaded</a:t>
            </a:r>
          </a:p>
          <a:p>
            <a:r>
              <a:rPr lang="en-US" dirty="0">
                <a:solidFill>
                  <a:srgbClr val="334155"/>
                </a:solidFill>
                <a:latin typeface="Calibri" pitchFamily="34" charset="0"/>
              </a:rPr>
              <a:t>After deduplication: 1,095 patients</a:t>
            </a:r>
          </a:p>
          <a:p>
            <a:r>
              <a:rPr lang="en-US" dirty="0">
                <a:solidFill>
                  <a:srgbClr val="334155"/>
                </a:solidFill>
                <a:latin typeface="Calibri" pitchFamily="34" charset="0"/>
              </a:rPr>
              <a:t>After clinical QC: 1,014 patients</a:t>
            </a:r>
          </a:p>
          <a:p>
            <a:r>
              <a:rPr lang="en-US" b="1" dirty="0">
                <a:solidFill>
                  <a:srgbClr val="047857"/>
                </a:solidFill>
                <a:latin typeface="Calibri" pitchFamily="34" charset="0"/>
              </a:rPr>
              <a:t>Final: n = 1,013 (1 QC outlier removed)</a:t>
            </a:r>
          </a:p>
          <a:p>
            <a:r>
              <a:rPr lang="en-US" dirty="0">
                <a:solidFill>
                  <a:srgbClr val="334155"/>
                </a:solidFill>
                <a:latin typeface="Calibri" pitchFamily="34" charset="0"/>
              </a:rPr>
              <a:t>Genes: 60,660 → 23,059 (TPM&gt;1 in ≥10%)</a:t>
            </a:r>
          </a:p>
          <a:p>
            <a:r>
              <a:rPr lang="en-US" dirty="0">
                <a:solidFill>
                  <a:srgbClr val="334155"/>
                </a:solidFill>
                <a:latin typeface="Calibri" pitchFamily="34" charset="0"/>
              </a:rPr>
              <a:t>Normalisation: DESeq2 VST (primary)</a:t>
            </a:r>
          </a:p>
        </p:txBody>
      </p:sp>
    </p:spTree>
    <p:extLst>
      <p:ext uri="{BB962C8B-B14F-4D97-AF65-F5344CB8AC3E}">
        <p14:creationId xmlns:p14="http://schemas.microsoft.com/office/powerpoint/2010/main" val="388629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81C5-AB43-4743-4CC9-4C12A4463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F9EC0-8606-D7D4-22BF-6474DE14C778}"/>
              </a:ext>
            </a:extLst>
          </p:cNvPr>
          <p:cNvSpPr>
            <a:spLocks noGrp="1"/>
          </p:cNvSpPr>
          <p:nvPr>
            <p:ph type="title"/>
          </p:nvPr>
        </p:nvSpPr>
        <p:spPr>
          <a:xfrm>
            <a:off x="941832" y="155448"/>
            <a:ext cx="10241280" cy="1101852"/>
          </a:xfrm>
        </p:spPr>
        <p:txBody>
          <a:bodyPr>
            <a:normAutofit/>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Immune deconvolution &amp; consensus clustering </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646A19C-8CCE-4E93-B265-8438A567AB70}"/>
              </a:ext>
            </a:extLst>
          </p:cNvPr>
          <p:cNvSpPr txBox="1"/>
          <p:nvPr/>
        </p:nvSpPr>
        <p:spPr>
          <a:xfrm>
            <a:off x="211831" y="1523136"/>
            <a:ext cx="5541269" cy="523220"/>
          </a:xfrm>
          <a:prstGeom prst="rect">
            <a:avLst/>
          </a:prstGeom>
          <a:solidFill>
            <a:schemeClr val="accent2">
              <a:lumMod val="40000"/>
              <a:lumOff val="60000"/>
            </a:schemeClr>
          </a:solidFill>
        </p:spPr>
        <p:txBody>
          <a:bodyPr wrap="square">
            <a:spAutoFit/>
          </a:bodyPr>
          <a:lstStyle/>
          <a:p>
            <a:pPr marL="0" indent="0" algn="ctr">
              <a:buNone/>
            </a:pPr>
            <a:r>
              <a:rPr lang="en-US" sz="2800" b="1" dirty="0">
                <a:latin typeface="Calibri" pitchFamily="34" charset="0"/>
                <a:ea typeface="Calibri" pitchFamily="34" charset="-122"/>
                <a:cs typeface="Calibri" pitchFamily="34" charset="-120"/>
              </a:rPr>
              <a:t>159  immune features per sample</a:t>
            </a:r>
            <a:endParaRPr lang="en-US" sz="2800" b="1" dirty="0"/>
          </a:p>
        </p:txBody>
      </p:sp>
      <p:sp>
        <p:nvSpPr>
          <p:cNvPr id="5" name="Text 3">
            <a:extLst>
              <a:ext uri="{FF2B5EF4-FFF2-40B4-BE49-F238E27FC236}">
                <a16:creationId xmlns:a16="http://schemas.microsoft.com/office/drawing/2014/main" id="{1CB1CFC4-0C59-DBF8-50F3-A5CF17A6624F}"/>
              </a:ext>
            </a:extLst>
          </p:cNvPr>
          <p:cNvSpPr/>
          <p:nvPr/>
        </p:nvSpPr>
        <p:spPr>
          <a:xfrm>
            <a:off x="118871" y="4393765"/>
            <a:ext cx="5541269" cy="1545217"/>
          </a:xfrm>
          <a:prstGeom prst="rect">
            <a:avLst/>
          </a:prstGeom>
          <a:solidFill>
            <a:schemeClr val="accent1">
              <a:lumMod val="75000"/>
            </a:schemeClr>
          </a:solidFill>
          <a:ln/>
        </p:spPr>
        <p:txBody>
          <a:bodyPr wrap="square" rtlCol="0" anchor="ctr"/>
          <a:lstStyle/>
          <a:p>
            <a:pPr marL="0" indent="0" algn="ctr">
              <a:buNone/>
            </a:pPr>
            <a:r>
              <a:rPr lang="en-US" sz="2800" b="1" dirty="0">
                <a:solidFill>
                  <a:schemeClr val="bg1"/>
                </a:solidFill>
                <a:latin typeface="Calibri" pitchFamily="34" charset="0"/>
                <a:ea typeface="Calibri" pitchFamily="34" charset="-122"/>
                <a:cs typeface="Calibri" pitchFamily="34" charset="-120"/>
              </a:rPr>
              <a:t>Only Normal-like subtype → genuine IC1 / IC2 immune subgroups</a:t>
            </a:r>
            <a:endParaRPr lang="en-US" sz="2800" dirty="0">
              <a:solidFill>
                <a:schemeClr val="bg1"/>
              </a:solidFill>
            </a:endParaRPr>
          </a:p>
        </p:txBody>
      </p:sp>
      <p:pic>
        <p:nvPicPr>
          <p:cNvPr id="92" name="Picture 91">
            <a:extLst>
              <a:ext uri="{FF2B5EF4-FFF2-40B4-BE49-F238E27FC236}">
                <a16:creationId xmlns:a16="http://schemas.microsoft.com/office/drawing/2014/main" id="{7A517C88-E6BF-CBFF-1747-7CB8768A4447}"/>
              </a:ext>
            </a:extLst>
          </p:cNvPr>
          <p:cNvPicPr>
            <a:picLocks noChangeAspect="1"/>
          </p:cNvPicPr>
          <p:nvPr/>
        </p:nvPicPr>
        <p:blipFill>
          <a:blip r:embed="rId3"/>
          <a:stretch>
            <a:fillRect/>
          </a:stretch>
        </p:blipFill>
        <p:spPr>
          <a:xfrm>
            <a:off x="6129530" y="1784746"/>
            <a:ext cx="5943599" cy="4457699"/>
          </a:xfrm>
          <a:prstGeom prst="rect">
            <a:avLst/>
          </a:prstGeom>
        </p:spPr>
      </p:pic>
      <p:sp>
        <p:nvSpPr>
          <p:cNvPr id="3" name="ClusterResults">
            <a:extLst>
              <a:ext uri="{FF2B5EF4-FFF2-40B4-BE49-F238E27FC236}">
                <a16:creationId xmlns:a16="http://schemas.microsoft.com/office/drawing/2014/main" id="{C2E300C7-2DF5-253D-855A-DB5E5C588CD7}"/>
              </a:ext>
            </a:extLst>
          </p:cNvPr>
          <p:cNvSpPr txBox="1"/>
          <p:nvPr/>
        </p:nvSpPr>
        <p:spPr>
          <a:xfrm>
            <a:off x="211831" y="2148980"/>
            <a:ext cx="4940526" cy="1938992"/>
          </a:xfrm>
          <a:prstGeom prst="rect">
            <a:avLst/>
          </a:prstGeom>
          <a:solidFill>
            <a:srgbClr val="F5F0FF"/>
          </a:solidFill>
          <a:ln w="19050">
            <a:solidFill>
              <a:schemeClr val="tx2">
                <a:lumMod val="50000"/>
                <a:lumOff val="50000"/>
              </a:schemeClr>
            </a:solidFill>
          </a:ln>
        </p:spPr>
        <p:txBody>
          <a:bodyPr wrap="square" rtlCol="0">
            <a:spAutoFit/>
          </a:bodyPr>
          <a:lstStyle/>
          <a:p>
            <a:pPr marL="0" indent="0">
              <a:buNone/>
            </a:pPr>
            <a:r>
              <a:rPr lang="en-US" sz="2000" b="1" dirty="0">
                <a:solidFill>
                  <a:srgbClr val="7D0245"/>
                </a:solidFill>
                <a:latin typeface="Calibri" pitchFamily="34" charset="0"/>
              </a:rPr>
              <a:t>Clustering Results (10% Balance Rule)</a:t>
            </a:r>
          </a:p>
          <a:p>
            <a:r>
              <a:rPr lang="en-US" sz="2000" dirty="0">
                <a:solidFill>
                  <a:srgbClr val="334155"/>
                </a:solidFill>
                <a:latin typeface="Calibri" pitchFamily="34" charset="0"/>
              </a:rPr>
              <a:t>Basal (n=182): 166/16 | 8.8% | FAIL</a:t>
            </a:r>
          </a:p>
          <a:p>
            <a:r>
              <a:rPr lang="en-US" sz="2000" dirty="0">
                <a:solidFill>
                  <a:srgbClr val="334155"/>
                </a:solidFill>
                <a:latin typeface="Calibri" pitchFamily="34" charset="0"/>
              </a:rPr>
              <a:t>Her2   (n=72):  66/6  | 8.3% | FAIL</a:t>
            </a:r>
          </a:p>
          <a:p>
            <a:r>
              <a:rPr lang="en-US" sz="2000" dirty="0">
                <a:solidFill>
                  <a:srgbClr val="334155"/>
                </a:solidFill>
                <a:latin typeface="Calibri" pitchFamily="34" charset="0"/>
              </a:rPr>
              <a:t>LumA   (n=523): 520/3 | 0.6% | FAIL</a:t>
            </a:r>
          </a:p>
          <a:p>
            <a:r>
              <a:rPr lang="en-US" sz="2000" dirty="0">
                <a:solidFill>
                  <a:srgbClr val="334155"/>
                </a:solidFill>
                <a:latin typeface="Calibri" pitchFamily="34" charset="0"/>
              </a:rPr>
              <a:t>LumB   (n=199): 191/8 | 4.0% | FAIL</a:t>
            </a:r>
          </a:p>
          <a:p>
            <a:r>
              <a:rPr lang="en-US" sz="2000" b="1" dirty="0">
                <a:solidFill>
                  <a:srgbClr val="047857"/>
                </a:solidFill>
                <a:latin typeface="Calibri" pitchFamily="34" charset="0"/>
              </a:rPr>
              <a:t>Normal (n=37):  24/13 | 35.1% | PASS ✓</a:t>
            </a:r>
          </a:p>
        </p:txBody>
      </p:sp>
    </p:spTree>
    <p:extLst>
      <p:ext uri="{BB962C8B-B14F-4D97-AF65-F5344CB8AC3E}">
        <p14:creationId xmlns:p14="http://schemas.microsoft.com/office/powerpoint/2010/main" val="3220913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A0D36-E1B9-ECBE-3FB2-DBDB8611E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14378-B7FB-B45E-D47A-BD093B17C51B}"/>
              </a:ext>
            </a:extLst>
          </p:cNvPr>
          <p:cNvSpPr>
            <a:spLocks noGrp="1"/>
          </p:cNvSpPr>
          <p:nvPr>
            <p:ph type="title"/>
          </p:nvPr>
        </p:nvSpPr>
        <p:spPr>
          <a:xfrm>
            <a:off x="941832" y="155448"/>
            <a:ext cx="10241280" cy="1116906"/>
          </a:xfrm>
        </p:spPr>
        <p:txBody>
          <a:bodyPr>
            <a:normAutofit/>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Normal-like:IC1 vs IC2 Biological characterization</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hape 2">
            <a:extLst>
              <a:ext uri="{FF2B5EF4-FFF2-40B4-BE49-F238E27FC236}">
                <a16:creationId xmlns:a16="http://schemas.microsoft.com/office/drawing/2014/main" id="{0B10B416-F5C0-132E-E7CF-8165080326BF}"/>
              </a:ext>
            </a:extLst>
          </p:cNvPr>
          <p:cNvSpPr/>
          <p:nvPr/>
        </p:nvSpPr>
        <p:spPr>
          <a:xfrm>
            <a:off x="398145" y="2454214"/>
            <a:ext cx="4770120" cy="266071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pPr marL="342900" indent="-342900">
              <a:buSzPct val="100000"/>
              <a:buChar char="•"/>
            </a:pPr>
            <a:r>
              <a:rPr lang="en-US" sz="2000" dirty="0">
                <a:latin typeface="Calibri" panose="020F0502020204030204" pitchFamily="34" charset="0"/>
                <a:ea typeface="Calibri" panose="020F0502020204030204" pitchFamily="34" charset="0"/>
                <a:cs typeface="Calibri" panose="020F0502020204030204" pitchFamily="34" charset="0"/>
              </a:rPr>
              <a:t>Low immune infiltration across all methods</a:t>
            </a:r>
          </a:p>
          <a:p>
            <a:pPr marL="342900" indent="-342900">
              <a:buSzPct val="1000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Stromal genes upregulated (ACSM1, PEBP4)</a:t>
            </a:r>
          </a:p>
          <a:p>
            <a:pPr marL="342900" indent="-342900">
              <a:buSzPct val="1000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No T cell activation markers</a:t>
            </a:r>
          </a:p>
          <a:p>
            <a:pPr marL="342900" indent="-342900">
              <a:buSzPct val="1000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Immune-excluded phenotype (M2-mediated)</a:t>
            </a:r>
          </a:p>
          <a:p>
            <a:pPr marL="342900" indent="-342900">
              <a:buSzPct val="100000"/>
              <a:buFontTx/>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SzPct val="100000"/>
              <a:buFontTx/>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SzPct val="10000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SzPct val="10000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4">
            <a:extLst>
              <a:ext uri="{FF2B5EF4-FFF2-40B4-BE49-F238E27FC236}">
                <a16:creationId xmlns:a16="http://schemas.microsoft.com/office/drawing/2014/main" id="{62B83193-C2DF-65B0-CF96-00865296EC7B}"/>
              </a:ext>
            </a:extLst>
          </p:cNvPr>
          <p:cNvSpPr/>
          <p:nvPr/>
        </p:nvSpPr>
        <p:spPr>
          <a:xfrm>
            <a:off x="398145" y="1458281"/>
            <a:ext cx="4770120" cy="995932"/>
          </a:xfrm>
          <a:prstGeom prst="rect">
            <a:avLst/>
          </a:prstGeom>
          <a:solidFill>
            <a:schemeClr val="accent6">
              <a:lumMod val="50000"/>
            </a:schemeClr>
          </a:solid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IC1: Immune-Cold  (n = 24)</a:t>
            </a:r>
            <a:endParaRPr lang="en-US" sz="2800" dirty="0"/>
          </a:p>
        </p:txBody>
      </p:sp>
      <p:sp>
        <p:nvSpPr>
          <p:cNvPr id="6" name="Text 5">
            <a:extLst>
              <a:ext uri="{FF2B5EF4-FFF2-40B4-BE49-F238E27FC236}">
                <a16:creationId xmlns:a16="http://schemas.microsoft.com/office/drawing/2014/main" id="{299779C4-43A8-732D-0F49-4BD41BC85A2C}"/>
              </a:ext>
            </a:extLst>
          </p:cNvPr>
          <p:cNvSpPr/>
          <p:nvPr/>
        </p:nvSpPr>
        <p:spPr>
          <a:xfrm>
            <a:off x="1464945" y="2993517"/>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7" name="Text 6">
            <a:extLst>
              <a:ext uri="{FF2B5EF4-FFF2-40B4-BE49-F238E27FC236}">
                <a16:creationId xmlns:a16="http://schemas.microsoft.com/office/drawing/2014/main" id="{9EF22AF7-A37E-ACD4-6853-CCAAF4E1E88B}"/>
              </a:ext>
            </a:extLst>
          </p:cNvPr>
          <p:cNvSpPr/>
          <p:nvPr/>
        </p:nvSpPr>
        <p:spPr>
          <a:xfrm>
            <a:off x="1464945" y="3423285"/>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8" name="Text 7">
            <a:extLst>
              <a:ext uri="{FF2B5EF4-FFF2-40B4-BE49-F238E27FC236}">
                <a16:creationId xmlns:a16="http://schemas.microsoft.com/office/drawing/2014/main" id="{E28E233D-79F9-1FFF-C7EA-8CD1867D3D61}"/>
              </a:ext>
            </a:extLst>
          </p:cNvPr>
          <p:cNvSpPr/>
          <p:nvPr/>
        </p:nvSpPr>
        <p:spPr>
          <a:xfrm>
            <a:off x="1464945" y="3853053"/>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9" name="Text 8">
            <a:extLst>
              <a:ext uri="{FF2B5EF4-FFF2-40B4-BE49-F238E27FC236}">
                <a16:creationId xmlns:a16="http://schemas.microsoft.com/office/drawing/2014/main" id="{13E21643-2C02-CB9E-7B37-6154532D17E8}"/>
              </a:ext>
            </a:extLst>
          </p:cNvPr>
          <p:cNvSpPr/>
          <p:nvPr/>
        </p:nvSpPr>
        <p:spPr>
          <a:xfrm>
            <a:off x="1464945" y="4282821"/>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10" name="Text 9">
            <a:extLst>
              <a:ext uri="{FF2B5EF4-FFF2-40B4-BE49-F238E27FC236}">
                <a16:creationId xmlns:a16="http://schemas.microsoft.com/office/drawing/2014/main" id="{22E5EADD-8AEA-D218-DBAA-A2002ACF8EEE}"/>
              </a:ext>
            </a:extLst>
          </p:cNvPr>
          <p:cNvSpPr/>
          <p:nvPr/>
        </p:nvSpPr>
        <p:spPr>
          <a:xfrm>
            <a:off x="1464945" y="4712589"/>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11" name="Shape 10">
            <a:extLst>
              <a:ext uri="{FF2B5EF4-FFF2-40B4-BE49-F238E27FC236}">
                <a16:creationId xmlns:a16="http://schemas.microsoft.com/office/drawing/2014/main" id="{6420CBDC-26CF-8BCA-5182-AFB095A9806E}"/>
              </a:ext>
            </a:extLst>
          </p:cNvPr>
          <p:cNvSpPr/>
          <p:nvPr/>
        </p:nvSpPr>
        <p:spPr>
          <a:xfrm>
            <a:off x="6692265" y="2411163"/>
            <a:ext cx="4861560" cy="270376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pPr marL="342900" indent="-342900">
              <a:buSzPct val="100000"/>
              <a:buChar char="•"/>
            </a:pPr>
            <a:r>
              <a:rPr lang="en-US" sz="2000" dirty="0">
                <a:latin typeface="Calibri" panose="020F0502020204030204" pitchFamily="34" charset="0"/>
                <a:ea typeface="Calibri" panose="020F0502020204030204" pitchFamily="34" charset="0"/>
                <a:cs typeface="Calibri" panose="020F0502020204030204" pitchFamily="34" charset="0"/>
              </a:rPr>
              <a:t>TCR variable genes: TRBV5-1, TRAV8-2  → clonal expansion</a:t>
            </a:r>
          </a:p>
          <a:p>
            <a:pPr marL="342900" indent="-342900">
              <a:buSzPct val="1000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CD8A, GZMB, PRF1, IFNG  → cytotoxic killing</a:t>
            </a:r>
          </a:p>
          <a:p>
            <a:pPr marL="342900" indent="-342900">
              <a:buSzPct val="1000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PDCD1, CD274, LAG3, TIGIT  → checkpoint activation</a:t>
            </a:r>
          </a:p>
          <a:p>
            <a:pPr marL="342900" indent="-342900">
              <a:buSzPct val="1000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MS4A1, PRKCB  → B cell presence confirmed</a:t>
            </a:r>
          </a:p>
          <a:p>
            <a:pPr marL="342900" indent="-342900">
              <a:buSzPct val="100000"/>
              <a:buFontTx/>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SzPct val="100000"/>
              <a:buFontTx/>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SzPct val="10000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12">
            <a:extLst>
              <a:ext uri="{FF2B5EF4-FFF2-40B4-BE49-F238E27FC236}">
                <a16:creationId xmlns:a16="http://schemas.microsoft.com/office/drawing/2014/main" id="{AD2709B7-4E5B-AFC0-46E7-427D84450836}"/>
              </a:ext>
            </a:extLst>
          </p:cNvPr>
          <p:cNvSpPr/>
          <p:nvPr/>
        </p:nvSpPr>
        <p:spPr>
          <a:xfrm>
            <a:off x="6692265" y="1396178"/>
            <a:ext cx="4861560" cy="1014985"/>
          </a:xfrm>
          <a:prstGeom prst="rect">
            <a:avLst/>
          </a:prstGeom>
          <a:solidFill>
            <a:schemeClr val="tx2">
              <a:lumMod val="75000"/>
              <a:lumOff val="25000"/>
            </a:schemeClr>
          </a:solid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IC2: Immune-Inflamed  (n = 13)</a:t>
            </a:r>
            <a:endParaRPr lang="en-US" sz="2800" dirty="0"/>
          </a:p>
        </p:txBody>
      </p:sp>
      <p:sp>
        <p:nvSpPr>
          <p:cNvPr id="14" name="Text 13">
            <a:extLst>
              <a:ext uri="{FF2B5EF4-FFF2-40B4-BE49-F238E27FC236}">
                <a16:creationId xmlns:a16="http://schemas.microsoft.com/office/drawing/2014/main" id="{8CAE9D74-63C5-C03A-677F-01CAA7696FAB}"/>
              </a:ext>
            </a:extLst>
          </p:cNvPr>
          <p:cNvSpPr/>
          <p:nvPr/>
        </p:nvSpPr>
        <p:spPr>
          <a:xfrm>
            <a:off x="6036945" y="2993517"/>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15" name="Text 14">
            <a:extLst>
              <a:ext uri="{FF2B5EF4-FFF2-40B4-BE49-F238E27FC236}">
                <a16:creationId xmlns:a16="http://schemas.microsoft.com/office/drawing/2014/main" id="{998BFD52-34E6-E961-E294-F52041465457}"/>
              </a:ext>
            </a:extLst>
          </p:cNvPr>
          <p:cNvSpPr/>
          <p:nvPr/>
        </p:nvSpPr>
        <p:spPr>
          <a:xfrm>
            <a:off x="6036945" y="3423285"/>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16" name="Text 15">
            <a:extLst>
              <a:ext uri="{FF2B5EF4-FFF2-40B4-BE49-F238E27FC236}">
                <a16:creationId xmlns:a16="http://schemas.microsoft.com/office/drawing/2014/main" id="{8C8DB552-D4F1-39F7-2CE7-C4CEB5694CD9}"/>
              </a:ext>
            </a:extLst>
          </p:cNvPr>
          <p:cNvSpPr/>
          <p:nvPr/>
        </p:nvSpPr>
        <p:spPr>
          <a:xfrm>
            <a:off x="6036945" y="3853053"/>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18" name="Text 17">
            <a:extLst>
              <a:ext uri="{FF2B5EF4-FFF2-40B4-BE49-F238E27FC236}">
                <a16:creationId xmlns:a16="http://schemas.microsoft.com/office/drawing/2014/main" id="{64718E4E-FD54-B503-AB0F-E711FF611C76}"/>
              </a:ext>
            </a:extLst>
          </p:cNvPr>
          <p:cNvSpPr/>
          <p:nvPr/>
        </p:nvSpPr>
        <p:spPr>
          <a:xfrm>
            <a:off x="6036945" y="4712589"/>
            <a:ext cx="3566160" cy="402336"/>
          </a:xfrm>
          <a:prstGeom prst="rect">
            <a:avLst/>
          </a:prstGeom>
          <a:noFill/>
          <a:ln/>
        </p:spPr>
        <p:txBody>
          <a:bodyPr wrap="square" rtlCol="0" anchor="ctr"/>
          <a:lstStyle/>
          <a:p>
            <a:pPr marL="342900" indent="-342900">
              <a:buSzPct val="100000"/>
              <a:buChar char="•"/>
            </a:pPr>
            <a:endParaRPr lang="en-US" sz="1100" dirty="0"/>
          </a:p>
        </p:txBody>
      </p:sp>
      <p:sp>
        <p:nvSpPr>
          <p:cNvPr id="19" name="Shape 18">
            <a:extLst>
              <a:ext uri="{FF2B5EF4-FFF2-40B4-BE49-F238E27FC236}">
                <a16:creationId xmlns:a16="http://schemas.microsoft.com/office/drawing/2014/main" id="{5A853E7B-0F40-5B22-EEA1-9E4A1F0AC947}"/>
              </a:ext>
            </a:extLst>
          </p:cNvPr>
          <p:cNvSpPr/>
          <p:nvPr/>
        </p:nvSpPr>
        <p:spPr>
          <a:xfrm>
            <a:off x="5633085" y="3194304"/>
            <a:ext cx="731520" cy="731520"/>
          </a:xfrm>
          <a:prstGeom prst="ellipse">
            <a:avLst/>
          </a:prstGeom>
          <a:solidFill>
            <a:srgbClr val="0F2A4A"/>
          </a:solidFill>
          <a:ln w="12700">
            <a:solidFill>
              <a:srgbClr val="0F2A4A"/>
            </a:solidFill>
            <a:prstDash val="solid"/>
          </a:ln>
        </p:spPr>
        <p:txBody>
          <a:bodyPr/>
          <a:lstStyle/>
          <a:p>
            <a:endParaRPr lang="en-CA" sz="2800"/>
          </a:p>
        </p:txBody>
      </p:sp>
      <p:sp>
        <p:nvSpPr>
          <p:cNvPr id="20" name="Text 19">
            <a:extLst>
              <a:ext uri="{FF2B5EF4-FFF2-40B4-BE49-F238E27FC236}">
                <a16:creationId xmlns:a16="http://schemas.microsoft.com/office/drawing/2014/main" id="{AEF7DD03-473D-0B1B-4556-4FF8E9E98DF5}"/>
              </a:ext>
            </a:extLst>
          </p:cNvPr>
          <p:cNvSpPr/>
          <p:nvPr/>
        </p:nvSpPr>
        <p:spPr>
          <a:xfrm>
            <a:off x="5633085" y="3222308"/>
            <a:ext cx="731520" cy="7315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VS</a:t>
            </a:r>
            <a:endParaRPr lang="en-US" sz="2800" dirty="0"/>
          </a:p>
        </p:txBody>
      </p:sp>
      <p:sp>
        <p:nvSpPr>
          <p:cNvPr id="22" name="Text 21">
            <a:extLst>
              <a:ext uri="{FF2B5EF4-FFF2-40B4-BE49-F238E27FC236}">
                <a16:creationId xmlns:a16="http://schemas.microsoft.com/office/drawing/2014/main" id="{F5A0250E-A52F-F11B-8AB0-96DC966D85C4}"/>
              </a:ext>
            </a:extLst>
          </p:cNvPr>
          <p:cNvSpPr/>
          <p:nvPr/>
        </p:nvSpPr>
        <p:spPr>
          <a:xfrm>
            <a:off x="1344930" y="5315712"/>
            <a:ext cx="9502140" cy="1161288"/>
          </a:xfrm>
          <a:prstGeom prst="rect">
            <a:avLst/>
          </a:prstGeom>
          <a:noFill/>
          <a:ln/>
        </p:spPr>
        <p:txBody>
          <a:bodyPr wrap="square" rtlCol="0" anchor="ctr"/>
          <a:lstStyle/>
          <a:p>
            <a:pPr marL="0" indent="0" algn="ctr">
              <a:buNone/>
            </a:pPr>
            <a:r>
              <a:rPr lang="en-US" sz="2400" b="1" dirty="0">
                <a:solidFill>
                  <a:srgbClr val="7D0245"/>
                </a:solidFill>
                <a:latin typeface="Calibri" pitchFamily="34" charset="0"/>
                <a:ea typeface="Calibri" pitchFamily="34" charset="-122"/>
                <a:cs typeface="Calibri" pitchFamily="34" charset="-120"/>
              </a:rPr>
              <a:t>✓ CIBERSORT independent validation: B cell memory significantly higher in IC2 (p &lt; 0.01) -&gt; cross-method confirmation</a:t>
            </a:r>
            <a:endParaRPr lang="en-US" sz="2400" dirty="0">
              <a:solidFill>
                <a:srgbClr val="7D0245"/>
              </a:solidFill>
            </a:endParaRPr>
          </a:p>
        </p:txBody>
      </p:sp>
    </p:spTree>
    <p:extLst>
      <p:ext uri="{BB962C8B-B14F-4D97-AF65-F5344CB8AC3E}">
        <p14:creationId xmlns:p14="http://schemas.microsoft.com/office/powerpoint/2010/main" val="3956803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19CF1-5AA9-8E78-83B0-D64D4AE22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97FE2-F91E-DF52-38C7-DA41AFB291B1}"/>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Differential expression results</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46" name="Picture 45">
            <a:extLst>
              <a:ext uri="{FF2B5EF4-FFF2-40B4-BE49-F238E27FC236}">
                <a16:creationId xmlns:a16="http://schemas.microsoft.com/office/drawing/2014/main" id="{705A7980-6EA7-780F-8D25-413779D9CA46}"/>
              </a:ext>
            </a:extLst>
          </p:cNvPr>
          <p:cNvPicPr>
            <a:picLocks noChangeAspect="1"/>
          </p:cNvPicPr>
          <p:nvPr/>
        </p:nvPicPr>
        <p:blipFill>
          <a:blip r:embed="rId3"/>
          <a:stretch>
            <a:fillRect/>
          </a:stretch>
        </p:blipFill>
        <p:spPr>
          <a:xfrm>
            <a:off x="0" y="1026973"/>
            <a:ext cx="6473667" cy="4315778"/>
          </a:xfrm>
          <a:prstGeom prst="rect">
            <a:avLst/>
          </a:prstGeom>
        </p:spPr>
      </p:pic>
      <p:pic>
        <p:nvPicPr>
          <p:cNvPr id="53" name="Picture 52">
            <a:extLst>
              <a:ext uri="{FF2B5EF4-FFF2-40B4-BE49-F238E27FC236}">
                <a16:creationId xmlns:a16="http://schemas.microsoft.com/office/drawing/2014/main" id="{F39C0537-FF83-7518-072C-7753F931886B}"/>
              </a:ext>
            </a:extLst>
          </p:cNvPr>
          <p:cNvPicPr>
            <a:picLocks noChangeAspect="1"/>
          </p:cNvPicPr>
          <p:nvPr/>
        </p:nvPicPr>
        <p:blipFill>
          <a:blip r:embed="rId4"/>
          <a:stretch>
            <a:fillRect/>
          </a:stretch>
        </p:blipFill>
        <p:spPr>
          <a:xfrm>
            <a:off x="6473667" y="1251612"/>
            <a:ext cx="5718333" cy="4002833"/>
          </a:xfrm>
          <a:prstGeom prst="rect">
            <a:avLst/>
          </a:prstGeom>
        </p:spPr>
      </p:pic>
      <p:sp>
        <p:nvSpPr>
          <p:cNvPr id="55" name="Text 43">
            <a:extLst>
              <a:ext uri="{FF2B5EF4-FFF2-40B4-BE49-F238E27FC236}">
                <a16:creationId xmlns:a16="http://schemas.microsoft.com/office/drawing/2014/main" id="{FF6D83A3-CF53-DB44-FAF1-352B9CBFBD54}"/>
              </a:ext>
            </a:extLst>
          </p:cNvPr>
          <p:cNvSpPr/>
          <p:nvPr/>
        </p:nvSpPr>
        <p:spPr>
          <a:xfrm>
            <a:off x="467464" y="5342751"/>
            <a:ext cx="11404854" cy="982572"/>
          </a:xfrm>
          <a:prstGeom prst="rect">
            <a:avLst/>
          </a:prstGeom>
          <a:solidFill>
            <a:schemeClr val="accent1">
              <a:lumMod val="20000"/>
              <a:lumOff val="80000"/>
            </a:schemeClr>
          </a:solidFill>
          <a:ln>
            <a:solidFill>
              <a:schemeClr val="tx2">
                <a:lumMod val="10000"/>
                <a:lumOff val="90000"/>
              </a:schemeClr>
            </a:solidFill>
          </a:ln>
        </p:spPr>
        <p:txBody>
          <a:bodyPr wrap="square" rtlCol="0" anchor="ctr"/>
          <a:lstStyle/>
          <a:p>
            <a:pPr marL="0" indent="0">
              <a:buNone/>
            </a:pPr>
            <a:r>
              <a:rPr lang="en-US" sz="2000" b="1" dirty="0">
                <a:solidFill>
                  <a:srgbClr val="AC0694"/>
                </a:solidFill>
                <a:latin typeface="Calibri" panose="020F0502020204030204" pitchFamily="34" charset="0"/>
                <a:ea typeface="Calibri" panose="020F0502020204030204" pitchFamily="34" charset="0"/>
                <a:cs typeface="Calibri" panose="020F0502020204030204" pitchFamily="34" charset="0"/>
              </a:rPr>
              <a:t>Universal UP genes across 4 subtypes: </a:t>
            </a:r>
            <a:r>
              <a:rPr lang="en-US" sz="2000" dirty="0">
                <a:latin typeface="Calibri" panose="020F0502020204030204" pitchFamily="34" charset="0"/>
                <a:ea typeface="Calibri" panose="020F0502020204030204" pitchFamily="34" charset="0"/>
                <a:cs typeface="Calibri" panose="020F0502020204030204" pitchFamily="34" charset="0"/>
              </a:rPr>
              <a:t>NKG7, CD247, CD8A, TBX21, CD2, GZMA </a:t>
            </a:r>
            <a:r>
              <a:rPr lang="en-US" sz="20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-&gt;</a:t>
            </a:r>
            <a:r>
              <a:rPr lang="en-US" sz="2000" dirty="0">
                <a:latin typeface="Calibri" panose="020F0502020204030204" pitchFamily="34" charset="0"/>
                <a:ea typeface="Calibri" panose="020F0502020204030204" pitchFamily="34" charset="0"/>
                <a:cs typeface="Calibri" panose="020F0502020204030204" pitchFamily="34" charset="0"/>
              </a:rPr>
              <a:t> canonical cytotoxic T cell</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a:solidFill>
                  <a:srgbClr val="334155"/>
                </a:solidFill>
                <a:latin typeface="Calibri" panose="020F0502020204030204" pitchFamily="34" charset="0"/>
                <a:ea typeface="Calibri" panose="020F0502020204030204" pitchFamily="34" charset="0"/>
                <a:cs typeface="Calibri" panose="020F0502020204030204" pitchFamily="34" charset="0"/>
              </a:rPr>
              <a:t>
</a:t>
            </a:r>
            <a:r>
              <a:rPr lang="en-US" sz="2000" b="1" dirty="0">
                <a:solidFill>
                  <a:srgbClr val="9B59B6"/>
                </a:solidFill>
                <a:latin typeface="Calibri" panose="020F0502020204030204" pitchFamily="34" charset="0"/>
                <a:ea typeface="Calibri" panose="020F0502020204030204" pitchFamily="34" charset="0"/>
                <a:cs typeface="Calibri" panose="020F0502020204030204" pitchFamily="34" charset="0"/>
              </a:rPr>
              <a:t>Normal-unique: </a:t>
            </a:r>
            <a:r>
              <a:rPr lang="en-US" sz="2000" dirty="0">
                <a:latin typeface="Calibri" panose="020F0502020204030204" pitchFamily="34" charset="0"/>
                <a:ea typeface="Calibri" panose="020F0502020204030204" pitchFamily="34" charset="0"/>
                <a:cs typeface="Calibri" panose="020F0502020204030204" pitchFamily="34" charset="0"/>
              </a:rPr>
              <a:t>TRBV5-1, TRAV8-2 </a:t>
            </a:r>
            <a:r>
              <a:rPr lang="en-US" sz="20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-&gt;</a:t>
            </a:r>
            <a:r>
              <a:rPr lang="en-US" sz="2000" dirty="0">
                <a:latin typeface="Calibri" panose="020F0502020204030204" pitchFamily="34" charset="0"/>
                <a:ea typeface="Calibri" panose="020F0502020204030204" pitchFamily="34" charset="0"/>
                <a:cs typeface="Calibri" panose="020F0502020204030204" pitchFamily="34" charset="0"/>
              </a:rPr>
              <a:t> TCR variable genes indicating antigen-specific clonal expansion</a:t>
            </a:r>
          </a:p>
        </p:txBody>
      </p:sp>
    </p:spTree>
    <p:extLst>
      <p:ext uri="{BB962C8B-B14F-4D97-AF65-F5344CB8AC3E}">
        <p14:creationId xmlns:p14="http://schemas.microsoft.com/office/powerpoint/2010/main" val="2754754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3124E-2F59-AD06-8B38-DEC77AFB6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5BAB0-1336-AFBA-854E-38BA8069B890}"/>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Pathway analysis</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444C829-9EC6-E9AF-51D6-77329F4624E6}"/>
              </a:ext>
            </a:extLst>
          </p:cNvPr>
          <p:cNvPicPr>
            <a:picLocks noChangeAspect="1"/>
          </p:cNvPicPr>
          <p:nvPr/>
        </p:nvPicPr>
        <p:blipFill>
          <a:blip r:embed="rId3"/>
          <a:stretch>
            <a:fillRect/>
          </a:stretch>
        </p:blipFill>
        <p:spPr>
          <a:xfrm>
            <a:off x="0" y="1009650"/>
            <a:ext cx="6785881" cy="3653936"/>
          </a:xfrm>
          <a:prstGeom prst="rect">
            <a:avLst/>
          </a:prstGeom>
        </p:spPr>
      </p:pic>
      <p:pic>
        <p:nvPicPr>
          <p:cNvPr id="6" name="Picture 5">
            <a:extLst>
              <a:ext uri="{FF2B5EF4-FFF2-40B4-BE49-F238E27FC236}">
                <a16:creationId xmlns:a16="http://schemas.microsoft.com/office/drawing/2014/main" id="{69214F8D-7CCB-A296-4BBB-2ED6FF3E55EA}"/>
              </a:ext>
            </a:extLst>
          </p:cNvPr>
          <p:cNvPicPr>
            <a:picLocks noChangeAspect="1"/>
          </p:cNvPicPr>
          <p:nvPr/>
        </p:nvPicPr>
        <p:blipFill>
          <a:blip r:embed="rId4"/>
          <a:stretch>
            <a:fillRect/>
          </a:stretch>
        </p:blipFill>
        <p:spPr>
          <a:xfrm>
            <a:off x="6667500" y="1241180"/>
            <a:ext cx="5524500" cy="3422406"/>
          </a:xfrm>
          <a:prstGeom prst="rect">
            <a:avLst/>
          </a:prstGeom>
        </p:spPr>
      </p:pic>
      <p:sp>
        <p:nvSpPr>
          <p:cNvPr id="3" name="PathwayNote">
            <a:extLst>
              <a:ext uri="{FF2B5EF4-FFF2-40B4-BE49-F238E27FC236}">
                <a16:creationId xmlns:a16="http://schemas.microsoft.com/office/drawing/2014/main" id="{6FA4FFAC-2051-FFC3-4345-5206D7976284}"/>
              </a:ext>
            </a:extLst>
          </p:cNvPr>
          <p:cNvSpPr txBox="1"/>
          <p:nvPr/>
        </p:nvSpPr>
        <p:spPr>
          <a:xfrm>
            <a:off x="381000" y="4878156"/>
            <a:ext cx="11430000" cy="1477328"/>
          </a:xfrm>
          <a:prstGeom prst="rect">
            <a:avLst/>
          </a:prstGeom>
          <a:solidFill>
            <a:srgbClr val="FFF0F5"/>
          </a:solidFill>
          <a:ln w="19050">
            <a:solidFill>
              <a:srgbClr val="9D174D"/>
            </a:solidFill>
          </a:ln>
        </p:spPr>
        <p:txBody>
          <a:bodyPr wrap="square" rtlCol="0" anchor="ctr">
            <a:spAutoFit/>
          </a:bodyPr>
          <a:lstStyle/>
          <a:p>
            <a:pPr marL="0" indent="0">
              <a:buNone/>
            </a:pPr>
            <a:r>
              <a:rPr lang="en-US" b="1" dirty="0">
                <a:solidFill>
                  <a:srgbClr val="9D174D"/>
                </a:solidFill>
                <a:latin typeface="Calibri" pitchFamily="34" charset="0"/>
              </a:rPr>
              <a:t>NES &gt; 0 = enriched in IC2 (immune-active)  |  NES &lt; 0 = enriched in IC1 (immune-cold)  |  Dot size = leading edge genes  |  Colour = significance (-log10 </a:t>
            </a:r>
            <a:r>
              <a:rPr lang="en-US" b="1" dirty="0" err="1">
                <a:solidFill>
                  <a:srgbClr val="9D174D"/>
                </a:solidFill>
                <a:latin typeface="Calibri" pitchFamily="34" charset="0"/>
              </a:rPr>
              <a:t>padj</a:t>
            </a:r>
            <a:r>
              <a:rPr lang="en-US" b="1" dirty="0">
                <a:solidFill>
                  <a:srgbClr val="9D174D"/>
                </a:solidFill>
                <a:latin typeface="Calibri" pitchFamily="34" charset="0"/>
              </a:rPr>
              <a:t>)</a:t>
            </a:r>
          </a:p>
          <a:p>
            <a:pPr marL="0" indent="0">
              <a:buNone/>
            </a:pPr>
            <a:endParaRPr lang="en-US" b="1" dirty="0">
              <a:solidFill>
                <a:srgbClr val="9D174D"/>
              </a:solidFill>
              <a:latin typeface="Calibri" pitchFamily="34" charset="0"/>
            </a:endParaRPr>
          </a:p>
          <a:p>
            <a:r>
              <a:rPr lang="en-US" dirty="0">
                <a:latin typeface="Calibri" pitchFamily="34" charset="0"/>
              </a:rPr>
              <a:t>Universal (all 5 subtypes): HALLMARK_ALLOGRAFT_REJECTION + HALLMARK_INTERFERON_GAMMA_RESPONSE </a:t>
            </a:r>
            <a:r>
              <a:rPr lang="en-US" b="1" dirty="0">
                <a:solidFill>
                  <a:schemeClr val="accent1">
                    <a:lumMod val="75000"/>
                  </a:schemeClr>
                </a:solidFill>
                <a:latin typeface="Calibri" pitchFamily="34" charset="0"/>
              </a:rPr>
              <a:t>-&gt;</a:t>
            </a:r>
            <a:r>
              <a:rPr lang="en-US" dirty="0">
                <a:latin typeface="Calibri" pitchFamily="34" charset="0"/>
              </a:rPr>
              <a:t> core cytotoxic T/NK programme active in ALL PAM50 subtypes when immune infiltration is high.</a:t>
            </a:r>
          </a:p>
        </p:txBody>
      </p:sp>
    </p:spTree>
    <p:extLst>
      <p:ext uri="{BB962C8B-B14F-4D97-AF65-F5344CB8AC3E}">
        <p14:creationId xmlns:p14="http://schemas.microsoft.com/office/powerpoint/2010/main" val="171976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928CA-5289-B5EB-DE58-17743E48E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0D100-9290-D433-971E-D163897C3F41}"/>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Key findings</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hape 2">
            <a:extLst>
              <a:ext uri="{FF2B5EF4-FFF2-40B4-BE49-F238E27FC236}">
                <a16:creationId xmlns:a16="http://schemas.microsoft.com/office/drawing/2014/main" id="{86663C6D-E1EA-B132-AF07-E62B044BFEE1}"/>
              </a:ext>
            </a:extLst>
          </p:cNvPr>
          <p:cNvSpPr/>
          <p:nvPr/>
        </p:nvSpPr>
        <p:spPr>
          <a:xfrm>
            <a:off x="320039" y="1051560"/>
            <a:ext cx="6082665" cy="2041130"/>
          </a:xfrm>
          <a:prstGeom prst="rect">
            <a:avLst/>
          </a:prstGeom>
          <a:solidFill>
            <a:schemeClr val="accent1">
              <a:lumMod val="20000"/>
              <a:lumOff val="80000"/>
            </a:schemeClr>
          </a:solidFill>
          <a:ln w="12700">
            <a:solidFill>
              <a:srgbClr val="0D9488"/>
            </a:solidFill>
            <a:prstDash val="solid"/>
          </a:ln>
          <a:effectLst>
            <a:outerShdw blurRad="101600" dist="38100" dir="8100000" algn="bl" rotWithShape="0">
              <a:srgbClr val="000000">
                <a:alpha val="12000"/>
              </a:srgbClr>
            </a:outerShdw>
          </a:effectLst>
        </p:spPr>
        <p:txBody>
          <a:bodyPr/>
          <a:lstStyle/>
          <a:p>
            <a:endParaRPr lang="en-CA"/>
          </a:p>
        </p:txBody>
      </p:sp>
      <p:sp>
        <p:nvSpPr>
          <p:cNvPr id="4" name="Shape 3">
            <a:extLst>
              <a:ext uri="{FF2B5EF4-FFF2-40B4-BE49-F238E27FC236}">
                <a16:creationId xmlns:a16="http://schemas.microsoft.com/office/drawing/2014/main" id="{26857209-A6D0-534C-C544-7F6FFDB02C3D}"/>
              </a:ext>
            </a:extLst>
          </p:cNvPr>
          <p:cNvSpPr/>
          <p:nvPr/>
        </p:nvSpPr>
        <p:spPr>
          <a:xfrm>
            <a:off x="457199" y="1216151"/>
            <a:ext cx="608267" cy="682463"/>
          </a:xfrm>
          <a:prstGeom prst="ellipse">
            <a:avLst/>
          </a:prstGeom>
          <a:solidFill>
            <a:schemeClr val="accent2">
              <a:lumMod val="75000"/>
            </a:schemeClr>
          </a:solidFill>
          <a:ln w="12700">
            <a:solidFill>
              <a:srgbClr val="7D0245"/>
            </a:solidFill>
            <a:prstDash val="solid"/>
          </a:ln>
        </p:spPr>
        <p:txBody>
          <a:bodyPr/>
          <a:lstStyle/>
          <a:p>
            <a:endParaRPr lang="en-CA"/>
          </a:p>
        </p:txBody>
      </p:sp>
      <p:sp>
        <p:nvSpPr>
          <p:cNvPr id="5" name="Text 4">
            <a:extLst>
              <a:ext uri="{FF2B5EF4-FFF2-40B4-BE49-F238E27FC236}">
                <a16:creationId xmlns:a16="http://schemas.microsoft.com/office/drawing/2014/main" id="{5DCD2B40-8CE7-355E-8DAE-2F67CE6F3C37}"/>
              </a:ext>
            </a:extLst>
          </p:cNvPr>
          <p:cNvSpPr/>
          <p:nvPr/>
        </p:nvSpPr>
        <p:spPr>
          <a:xfrm>
            <a:off x="457199" y="1216151"/>
            <a:ext cx="608267" cy="682463"/>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5">
            <a:extLst>
              <a:ext uri="{FF2B5EF4-FFF2-40B4-BE49-F238E27FC236}">
                <a16:creationId xmlns:a16="http://schemas.microsoft.com/office/drawing/2014/main" id="{D379ED30-E946-7D25-E429-8793583FC3A2}"/>
              </a:ext>
            </a:extLst>
          </p:cNvPr>
          <p:cNvSpPr/>
          <p:nvPr/>
        </p:nvSpPr>
        <p:spPr>
          <a:xfrm>
            <a:off x="1277036" y="1122971"/>
            <a:ext cx="4933717" cy="834121"/>
          </a:xfrm>
          <a:prstGeom prst="rect">
            <a:avLst/>
          </a:prstGeom>
          <a:noFill/>
          <a:ln/>
        </p:spPr>
        <p:txBody>
          <a:bodyPr wrap="square" rtlCol="0" anchor="ctr"/>
          <a:lstStyle/>
          <a:p>
            <a:pPr marL="0" indent="0">
              <a:buNone/>
            </a:pPr>
            <a:r>
              <a:rPr lang="en-US" sz="2800" b="1" dirty="0">
                <a:solidFill>
                  <a:srgbClr val="7030A0"/>
                </a:solidFill>
                <a:latin typeface="Calibri" pitchFamily="34" charset="0"/>
                <a:ea typeface="Calibri" pitchFamily="34" charset="-122"/>
                <a:cs typeface="Calibri" pitchFamily="34" charset="-120"/>
              </a:rPr>
              <a:t>Only Normal-like has genuine immune subgroups</a:t>
            </a:r>
            <a:endParaRPr lang="en-US" sz="2800" dirty="0">
              <a:solidFill>
                <a:srgbClr val="7030A0"/>
              </a:solidFill>
            </a:endParaRPr>
          </a:p>
        </p:txBody>
      </p:sp>
      <p:sp>
        <p:nvSpPr>
          <p:cNvPr id="8" name="Shape 7">
            <a:extLst>
              <a:ext uri="{FF2B5EF4-FFF2-40B4-BE49-F238E27FC236}">
                <a16:creationId xmlns:a16="http://schemas.microsoft.com/office/drawing/2014/main" id="{CD56D609-C293-3D14-1066-5CD769FA6B78}"/>
              </a:ext>
            </a:extLst>
          </p:cNvPr>
          <p:cNvSpPr/>
          <p:nvPr/>
        </p:nvSpPr>
        <p:spPr>
          <a:xfrm>
            <a:off x="6408325" y="1051560"/>
            <a:ext cx="5541984" cy="2011680"/>
          </a:xfrm>
          <a:prstGeom prst="rect">
            <a:avLst/>
          </a:prstGeom>
          <a:solidFill>
            <a:srgbClr val="FFF5F5"/>
          </a:solidFill>
          <a:ln w="12700">
            <a:solidFill>
              <a:srgbClr val="E53E3E"/>
            </a:solidFill>
            <a:prstDash val="solid"/>
          </a:ln>
          <a:effectLst>
            <a:outerShdw blurRad="101600" dist="38100" dir="8100000" algn="bl" rotWithShape="0">
              <a:srgbClr val="000000">
                <a:alpha val="12000"/>
              </a:srgbClr>
            </a:outerShdw>
          </a:effectLst>
        </p:spPr>
        <p:txBody>
          <a:bodyPr/>
          <a:lstStyle/>
          <a:p>
            <a:endParaRPr lang="en-CA"/>
          </a:p>
        </p:txBody>
      </p:sp>
      <p:sp>
        <p:nvSpPr>
          <p:cNvPr id="9" name="Shape 8">
            <a:extLst>
              <a:ext uri="{FF2B5EF4-FFF2-40B4-BE49-F238E27FC236}">
                <a16:creationId xmlns:a16="http://schemas.microsoft.com/office/drawing/2014/main" id="{901F8FB9-C84C-2654-20C5-A284D6E17557}"/>
              </a:ext>
            </a:extLst>
          </p:cNvPr>
          <p:cNvSpPr/>
          <p:nvPr/>
        </p:nvSpPr>
        <p:spPr>
          <a:xfrm>
            <a:off x="6492729" y="1138107"/>
            <a:ext cx="608267" cy="682463"/>
          </a:xfrm>
          <a:prstGeom prst="ellipse">
            <a:avLst/>
          </a:prstGeom>
          <a:solidFill>
            <a:srgbClr val="E53E3E"/>
          </a:solidFill>
          <a:ln w="12700">
            <a:solidFill>
              <a:srgbClr val="E53E3E"/>
            </a:solidFill>
            <a:prstDash val="solid"/>
          </a:ln>
        </p:spPr>
        <p:txBody>
          <a:bodyPr/>
          <a:lstStyle/>
          <a:p>
            <a:r>
              <a:rPr lang="en-CA" sz="2800" b="1" dirty="0">
                <a:solidFill>
                  <a:schemeClr val="bg1"/>
                </a:solidFill>
                <a:latin typeface="Calibri" panose="020F0502020204030204" pitchFamily="34" charset="0"/>
                <a:ea typeface="Calibri" panose="020F0502020204030204" pitchFamily="34" charset="0"/>
                <a:cs typeface="Calibri" panose="020F0502020204030204" pitchFamily="34" charset="0"/>
              </a:rPr>
              <a:t>2</a:t>
            </a:r>
          </a:p>
        </p:txBody>
      </p:sp>
      <p:sp>
        <p:nvSpPr>
          <p:cNvPr id="11" name="Text 10">
            <a:extLst>
              <a:ext uri="{FF2B5EF4-FFF2-40B4-BE49-F238E27FC236}">
                <a16:creationId xmlns:a16="http://schemas.microsoft.com/office/drawing/2014/main" id="{E8AAD3BF-925F-FA48-C716-425B5713980E}"/>
              </a:ext>
            </a:extLst>
          </p:cNvPr>
          <p:cNvSpPr/>
          <p:nvPr/>
        </p:nvSpPr>
        <p:spPr>
          <a:xfrm>
            <a:off x="7167750" y="1140321"/>
            <a:ext cx="4933717" cy="834121"/>
          </a:xfrm>
          <a:prstGeom prst="rect">
            <a:avLst/>
          </a:prstGeom>
          <a:noFill/>
          <a:ln/>
        </p:spPr>
        <p:txBody>
          <a:bodyPr wrap="square" rtlCol="0" anchor="ctr"/>
          <a:lstStyle/>
          <a:p>
            <a:pPr marL="0" indent="0">
              <a:buNone/>
            </a:pPr>
            <a:r>
              <a:rPr lang="en-US" sz="2800" b="1" dirty="0">
                <a:solidFill>
                  <a:srgbClr val="E53E3E"/>
                </a:solidFill>
                <a:latin typeface="Calibri" pitchFamily="34" charset="0"/>
                <a:ea typeface="Calibri" pitchFamily="34" charset="-122"/>
                <a:cs typeface="Calibri" pitchFamily="34" charset="-120"/>
              </a:rPr>
              <a:t>Clonal T cell expansion in Normal IC2</a:t>
            </a:r>
            <a:endParaRPr lang="en-US" sz="2800" dirty="0"/>
          </a:p>
        </p:txBody>
      </p:sp>
      <p:sp>
        <p:nvSpPr>
          <p:cNvPr id="13" name="Shape 12">
            <a:extLst>
              <a:ext uri="{FF2B5EF4-FFF2-40B4-BE49-F238E27FC236}">
                <a16:creationId xmlns:a16="http://schemas.microsoft.com/office/drawing/2014/main" id="{ECDFCCFB-28C1-7084-E9BF-96A44E0CE3FD}"/>
              </a:ext>
            </a:extLst>
          </p:cNvPr>
          <p:cNvSpPr/>
          <p:nvPr/>
        </p:nvSpPr>
        <p:spPr>
          <a:xfrm>
            <a:off x="320039" y="3063240"/>
            <a:ext cx="6082665" cy="2469342"/>
          </a:xfrm>
          <a:prstGeom prst="rect">
            <a:avLst/>
          </a:prstGeom>
          <a:solidFill>
            <a:schemeClr val="accent4">
              <a:lumMod val="60000"/>
              <a:lumOff val="40000"/>
            </a:schemeClr>
          </a:solidFill>
          <a:ln w="12700">
            <a:solidFill>
              <a:srgbClr val="F6AD55"/>
            </a:solidFill>
            <a:prstDash val="solid"/>
          </a:ln>
          <a:effectLst>
            <a:outerShdw blurRad="101600" dist="38100" dir="8100000" algn="bl" rotWithShape="0">
              <a:srgbClr val="000000">
                <a:alpha val="12000"/>
              </a:srgbClr>
            </a:outerShdw>
          </a:effectLst>
        </p:spPr>
        <p:txBody>
          <a:bodyPr/>
          <a:lstStyle/>
          <a:p>
            <a:endParaRPr lang="en-CA" sz="1400" dirty="0"/>
          </a:p>
        </p:txBody>
      </p:sp>
      <p:sp>
        <p:nvSpPr>
          <p:cNvPr id="14" name="Shape 13">
            <a:extLst>
              <a:ext uri="{FF2B5EF4-FFF2-40B4-BE49-F238E27FC236}">
                <a16:creationId xmlns:a16="http://schemas.microsoft.com/office/drawing/2014/main" id="{1910FBC0-7497-E20B-3230-F184A301F1D3}"/>
              </a:ext>
            </a:extLst>
          </p:cNvPr>
          <p:cNvSpPr/>
          <p:nvPr/>
        </p:nvSpPr>
        <p:spPr>
          <a:xfrm>
            <a:off x="457199" y="3227831"/>
            <a:ext cx="608267" cy="682463"/>
          </a:xfrm>
          <a:prstGeom prst="ellipse">
            <a:avLst/>
          </a:prstGeom>
          <a:solidFill>
            <a:srgbClr val="F6AD55"/>
          </a:solidFill>
          <a:ln w="12700">
            <a:solidFill>
              <a:srgbClr val="F6AD55"/>
            </a:solidFill>
            <a:prstDash val="solid"/>
          </a:ln>
        </p:spPr>
        <p:txBody>
          <a:bodyPr/>
          <a:lstStyle/>
          <a:p>
            <a:endParaRPr lang="en-CA"/>
          </a:p>
        </p:txBody>
      </p:sp>
      <p:sp>
        <p:nvSpPr>
          <p:cNvPr id="15" name="Text 14">
            <a:extLst>
              <a:ext uri="{FF2B5EF4-FFF2-40B4-BE49-F238E27FC236}">
                <a16:creationId xmlns:a16="http://schemas.microsoft.com/office/drawing/2014/main" id="{E7767DF9-9405-CC0D-7324-20330FB0CDE9}"/>
              </a:ext>
            </a:extLst>
          </p:cNvPr>
          <p:cNvSpPr/>
          <p:nvPr/>
        </p:nvSpPr>
        <p:spPr>
          <a:xfrm>
            <a:off x="457199" y="3227831"/>
            <a:ext cx="608267" cy="682463"/>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8" name="Shape 17">
            <a:extLst>
              <a:ext uri="{FF2B5EF4-FFF2-40B4-BE49-F238E27FC236}">
                <a16:creationId xmlns:a16="http://schemas.microsoft.com/office/drawing/2014/main" id="{9F56EA01-EFC2-E40C-B8FB-E9C5283A0E65}"/>
              </a:ext>
            </a:extLst>
          </p:cNvPr>
          <p:cNvSpPr/>
          <p:nvPr/>
        </p:nvSpPr>
        <p:spPr>
          <a:xfrm>
            <a:off x="6387920" y="3063240"/>
            <a:ext cx="5541984" cy="2469342"/>
          </a:xfrm>
          <a:prstGeom prst="rect">
            <a:avLst/>
          </a:prstGeom>
          <a:solidFill>
            <a:schemeClr val="accent1">
              <a:lumMod val="40000"/>
              <a:lumOff val="60000"/>
            </a:schemeClr>
          </a:solidFill>
          <a:ln w="12700">
            <a:solidFill>
              <a:schemeClr val="tx2">
                <a:lumMod val="50000"/>
                <a:lumOff val="50000"/>
              </a:schemeClr>
            </a:solidFill>
            <a:prstDash val="solid"/>
          </a:ln>
          <a:effectLst>
            <a:outerShdw blurRad="101600" dist="38100" dir="8100000" algn="bl" rotWithShape="0">
              <a:srgbClr val="000000">
                <a:alpha val="12000"/>
              </a:srgbClr>
            </a:outerShdw>
          </a:effectLst>
        </p:spPr>
        <p:txBody>
          <a:bodyPr/>
          <a:lstStyle/>
          <a:p>
            <a:endParaRPr lang="en-CA"/>
          </a:p>
        </p:txBody>
      </p:sp>
      <p:sp>
        <p:nvSpPr>
          <p:cNvPr id="19" name="Shape 18">
            <a:extLst>
              <a:ext uri="{FF2B5EF4-FFF2-40B4-BE49-F238E27FC236}">
                <a16:creationId xmlns:a16="http://schemas.microsoft.com/office/drawing/2014/main" id="{44D49D82-6B8F-8EA4-6A81-C3492F503271}"/>
              </a:ext>
            </a:extLst>
          </p:cNvPr>
          <p:cNvSpPr/>
          <p:nvPr/>
        </p:nvSpPr>
        <p:spPr>
          <a:xfrm>
            <a:off x="6607588" y="3124690"/>
            <a:ext cx="608267" cy="682463"/>
          </a:xfrm>
          <a:prstGeom prst="ellipse">
            <a:avLst/>
          </a:prstGeom>
          <a:solidFill>
            <a:schemeClr val="tx2">
              <a:lumMod val="50000"/>
              <a:lumOff val="50000"/>
            </a:schemeClr>
          </a:solidFill>
          <a:ln w="12700">
            <a:solidFill>
              <a:schemeClr val="tx2">
                <a:lumMod val="50000"/>
                <a:lumOff val="50000"/>
              </a:schemeClr>
            </a:solidFill>
            <a:prstDash val="solid"/>
          </a:ln>
        </p:spPr>
        <p:txBody>
          <a:bodyPr/>
          <a:lstStyle/>
          <a:p>
            <a:r>
              <a:rPr lang="en-CA" sz="2800" b="1" dirty="0">
                <a:solidFill>
                  <a:schemeClr val="bg1"/>
                </a:solidFill>
                <a:latin typeface="Calibri" panose="020F0502020204030204" pitchFamily="34" charset="0"/>
                <a:ea typeface="Calibri" panose="020F0502020204030204" pitchFamily="34" charset="0"/>
                <a:cs typeface="Calibri" panose="020F0502020204030204" pitchFamily="34" charset="0"/>
              </a:rPr>
              <a:t>4</a:t>
            </a:r>
          </a:p>
        </p:txBody>
      </p:sp>
      <p:sp>
        <p:nvSpPr>
          <p:cNvPr id="21" name="Text 20">
            <a:extLst>
              <a:ext uri="{FF2B5EF4-FFF2-40B4-BE49-F238E27FC236}">
                <a16:creationId xmlns:a16="http://schemas.microsoft.com/office/drawing/2014/main" id="{150B30D1-1659-6C88-675D-21073D896859}"/>
              </a:ext>
            </a:extLst>
          </p:cNvPr>
          <p:cNvSpPr/>
          <p:nvPr/>
        </p:nvSpPr>
        <p:spPr>
          <a:xfrm>
            <a:off x="7348064" y="3111162"/>
            <a:ext cx="4410704" cy="834121"/>
          </a:xfrm>
          <a:prstGeom prst="rect">
            <a:avLst/>
          </a:prstGeom>
          <a:noFill/>
          <a:ln/>
        </p:spPr>
        <p:txBody>
          <a:bodyPr wrap="square" rtlCol="0" anchor="ctr"/>
          <a:lstStyle/>
          <a:p>
            <a:pPr marL="0" indent="0">
              <a:buNone/>
            </a:pPr>
            <a:r>
              <a:rPr lang="en-US" sz="2800" b="1" dirty="0">
                <a:solidFill>
                  <a:schemeClr val="accent1">
                    <a:lumMod val="75000"/>
                  </a:schemeClr>
                </a:solidFill>
                <a:latin typeface="Calibri" pitchFamily="34" charset="0"/>
                <a:ea typeface="Calibri" pitchFamily="34" charset="-122"/>
                <a:cs typeface="Calibri" pitchFamily="34" charset="-120"/>
              </a:rPr>
              <a:t>Universal cytotoxic T cell programme</a:t>
            </a:r>
            <a:endParaRPr lang="en-US" sz="2800" dirty="0">
              <a:solidFill>
                <a:schemeClr val="accent1">
                  <a:lumMod val="75000"/>
                </a:schemeClr>
              </a:solidFill>
            </a:endParaRPr>
          </a:p>
        </p:txBody>
      </p:sp>
      <p:sp>
        <p:nvSpPr>
          <p:cNvPr id="16" name="TextBox 15">
            <a:extLst>
              <a:ext uri="{FF2B5EF4-FFF2-40B4-BE49-F238E27FC236}">
                <a16:creationId xmlns:a16="http://schemas.microsoft.com/office/drawing/2014/main" id="{798C9A24-C646-C770-F177-048D23F4E5A0}"/>
              </a:ext>
            </a:extLst>
          </p:cNvPr>
          <p:cNvSpPr txBox="1"/>
          <p:nvPr/>
        </p:nvSpPr>
        <p:spPr>
          <a:xfrm>
            <a:off x="1065466" y="3145480"/>
            <a:ext cx="5070976" cy="954107"/>
          </a:xfrm>
          <a:prstGeom prst="rect">
            <a:avLst/>
          </a:prstGeom>
          <a:noFill/>
        </p:spPr>
        <p:txBody>
          <a:bodyPr wrap="square">
            <a:spAutoFit/>
          </a:bodyPr>
          <a:lstStyle/>
          <a:p>
            <a:pPr marL="0" indent="0">
              <a:buNone/>
            </a:pPr>
            <a:r>
              <a:rPr lang="en-US" sz="2800" b="1" dirty="0">
                <a:solidFill>
                  <a:schemeClr val="accent6">
                    <a:lumMod val="50000"/>
                  </a:schemeClr>
                </a:solidFill>
                <a:latin typeface="Calibri" pitchFamily="34" charset="0"/>
              </a:rPr>
              <a:t>Stromal content as the primary immune axis</a:t>
            </a:r>
          </a:p>
        </p:txBody>
      </p:sp>
    </p:spTree>
    <p:extLst>
      <p:ext uri="{BB962C8B-B14F-4D97-AF65-F5344CB8AC3E}">
        <p14:creationId xmlns:p14="http://schemas.microsoft.com/office/powerpoint/2010/main" val="3215265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F8965-59EE-4260-2373-260B0C458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5C9E5-A911-A42F-A17D-85342B4A4D53}"/>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Conclusion &amp; clinical relevance</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3417164A-98DC-537C-6C3E-274CF3015434}"/>
              </a:ext>
            </a:extLst>
          </p:cNvPr>
          <p:cNvSpPr txBox="1"/>
          <p:nvPr/>
        </p:nvSpPr>
        <p:spPr>
          <a:xfrm>
            <a:off x="341745" y="833437"/>
            <a:ext cx="11092873" cy="4832092"/>
          </a:xfrm>
          <a:prstGeom prst="rect">
            <a:avLst/>
          </a:prstGeom>
          <a:solidFill>
            <a:schemeClr val="bg1"/>
          </a:solidFill>
          <a:ln w="57150">
            <a:solidFill>
              <a:schemeClr val="accent1">
                <a:lumMod val="75000"/>
              </a:schemeClr>
            </a:solidFill>
          </a:ln>
        </p:spPr>
        <p:txBody>
          <a:bodyPr wrap="square" rtlCol="0">
            <a:spAutoFit/>
          </a:bodyPr>
          <a:lstStyle/>
          <a:p>
            <a:pPr marL="285750" indent="-285750">
              <a:buFont typeface="Arial" panose="020B0604020202020204" pitchFamily="34" charset="0"/>
              <a:buChar char="•"/>
            </a:pPr>
            <a:endParaRPr lang="en-US" sz="2800" dirty="0">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800" dirty="0">
                <a:latin typeface="Calibri" pitchFamily="34" charset="0"/>
                <a:ea typeface="Calibri" pitchFamily="34" charset="-122"/>
                <a:cs typeface="Calibri" pitchFamily="34" charset="-120"/>
              </a:rPr>
              <a:t>Normal-like IC2 tumors express immune checkpoints alongside cytotoxic T cells </a:t>
            </a:r>
            <a:r>
              <a:rPr lang="en-US" sz="2800" b="1" dirty="0">
                <a:solidFill>
                  <a:srgbClr val="7D0245"/>
                </a:solidFill>
                <a:latin typeface="Calibri" pitchFamily="34" charset="0"/>
                <a:ea typeface="Calibri" pitchFamily="34" charset="-122"/>
                <a:cs typeface="Calibri" pitchFamily="34" charset="-120"/>
              </a:rPr>
              <a:t>-&gt;</a:t>
            </a:r>
            <a:r>
              <a:rPr lang="en-US" sz="2800" dirty="0">
                <a:latin typeface="Calibri" pitchFamily="34" charset="0"/>
                <a:ea typeface="Calibri" pitchFamily="34" charset="-122"/>
                <a:cs typeface="Calibri" pitchFamily="34" charset="-120"/>
              </a:rPr>
              <a:t> potential candidates for checkpoint blockade therapy.</a:t>
            </a:r>
          </a:p>
          <a:p>
            <a:pPr marL="342900" indent="-342900">
              <a:buFont typeface="Arial" panose="020B0604020202020204" pitchFamily="34" charset="0"/>
              <a:buChar char="•"/>
            </a:pPr>
            <a:endParaRPr lang="en-US" sz="2800" dirty="0">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2800" dirty="0">
                <a:latin typeface="Calibri" pitchFamily="34" charset="0"/>
                <a:ea typeface="Calibri" pitchFamily="34" charset="-122"/>
                <a:cs typeface="Calibri" pitchFamily="34" charset="-120"/>
              </a:rPr>
              <a:t>The cytotoxic T cells are universal across all PAM50 subtypes, suggesting immunotherapy targets apply across breast cancer subtype classifications.</a:t>
            </a:r>
          </a:p>
          <a:p>
            <a:pPr marL="342900" indent="-342900">
              <a:buFont typeface="Arial" panose="020B0604020202020204" pitchFamily="34" charset="0"/>
              <a:buChar char="•"/>
            </a:pPr>
            <a:endParaRPr lang="en-US" sz="2800" dirty="0">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2800" dirty="0">
                <a:latin typeface="Calibri" pitchFamily="34" charset="0"/>
                <a:ea typeface="Calibri" pitchFamily="34" charset="-122"/>
                <a:cs typeface="Calibri" pitchFamily="34" charset="-120"/>
              </a:rPr>
              <a:t>Normal-like PAM50 classification likely reflects stromal gene dilution </a:t>
            </a:r>
            <a:r>
              <a:rPr lang="en-US" sz="2800" b="1" dirty="0">
                <a:solidFill>
                  <a:srgbClr val="7D0245"/>
                </a:solidFill>
                <a:latin typeface="Calibri" pitchFamily="34" charset="0"/>
                <a:ea typeface="Calibri" pitchFamily="34" charset="-122"/>
                <a:cs typeface="Calibri" pitchFamily="34" charset="-120"/>
              </a:rPr>
              <a:t>-&gt;</a:t>
            </a:r>
            <a:r>
              <a:rPr lang="en-US" sz="2800" dirty="0">
                <a:latin typeface="Calibri" pitchFamily="34" charset="0"/>
                <a:ea typeface="Calibri" pitchFamily="34" charset="-122"/>
                <a:cs typeface="Calibri" pitchFamily="34" charset="-120"/>
              </a:rPr>
              <a:t> clinical reclassification may be warranted for this subgroup.</a:t>
            </a:r>
            <a:endParaRPr lang="en-US" sz="2800" dirty="0"/>
          </a:p>
          <a:p>
            <a:pPr marL="342900" indent="-342900">
              <a:buFont typeface="Arial" panose="020B0604020202020204" pitchFamily="34" charset="0"/>
              <a:buChar char="•"/>
            </a:pPr>
            <a:endParaRPr lang="en-US" sz="2800" dirty="0"/>
          </a:p>
        </p:txBody>
      </p:sp>
      <p:pic>
        <p:nvPicPr>
          <p:cNvPr id="2050" name="Picture 2" descr="Breast Cancer Awareness Stock Photo ...">
            <a:extLst>
              <a:ext uri="{FF2B5EF4-FFF2-40B4-BE49-F238E27FC236}">
                <a16:creationId xmlns:a16="http://schemas.microsoft.com/office/drawing/2014/main" id="{37900CC3-03C8-659E-2E6C-F2A7B9C85F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0618" y="5033875"/>
            <a:ext cx="2277887" cy="18241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571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BD71-0F1C-FE78-B038-E44416802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2FFAE-1817-EEF2-3533-4EAF1CA08A2F}"/>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References</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158C35C-6678-E015-8AED-653AC1B15E02}"/>
              </a:ext>
            </a:extLst>
          </p:cNvPr>
          <p:cNvSpPr txBox="1"/>
          <p:nvPr/>
        </p:nvSpPr>
        <p:spPr>
          <a:xfrm>
            <a:off x="338327" y="795528"/>
            <a:ext cx="11333719" cy="5355312"/>
          </a:xfrm>
          <a:prstGeom prst="rect">
            <a:avLst/>
          </a:prstGeom>
          <a:noFill/>
        </p:spPr>
        <p:txBody>
          <a:bodyPr wrap="square" rtlCol="0">
            <a:spAutoFit/>
          </a:bodyPr>
          <a:lstStyle/>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WHO (2022). Breast cancer fact sheet. </a:t>
            </a:r>
            <a:r>
              <a:rPr lang="en-CA" dirty="0">
                <a:solidFill>
                  <a:srgbClr val="CA71E4"/>
                </a:solidFill>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https://www.who.int/news-room/fact-sheets/detail/</a:t>
            </a:r>
            <a:r>
              <a:rPr lang="en-CA"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breast-cancer</a:t>
            </a:r>
            <a:endParaRPr lang="en-CA"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GLOBOCAN/IARC (2022). Global Cancer Observatory. </a:t>
            </a:r>
            <a:r>
              <a:rPr lang="en-CA" dirty="0">
                <a:solidFill>
                  <a:srgbClr val="CA71E4"/>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https://gco.iarc.fr</a:t>
            </a:r>
            <a:r>
              <a:rPr lang="en-CA"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a:t>
            </a:r>
            <a:endParaRPr lang="en-CA"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Parker JS et al. (2009). Supervised risk predictor of breast cancer based on intrinsic subtypes. J Clin Oncol 27:1160-1167.</a:t>
            </a: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Perou CM et al. (2000). Molecular portraits of human breast tumours. Nature 406:747-752.</a:t>
            </a:r>
          </a:p>
          <a:p>
            <a:pPr marL="228600" indent="-228600">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The Cancer Genome Atlas Network. Comprehensive molecular portraits of human breast </a:t>
            </a:r>
            <a:r>
              <a:rPr lang="en-US" dirty="0" err="1">
                <a:latin typeface="Calibri" panose="020F0502020204030204" pitchFamily="34" charset="0"/>
                <a:ea typeface="Calibri" panose="020F0502020204030204" pitchFamily="34" charset="0"/>
                <a:cs typeface="Calibri" panose="020F0502020204030204" pitchFamily="34" charset="0"/>
              </a:rPr>
              <a:t>tumours</a:t>
            </a:r>
            <a:r>
              <a:rPr lang="en-US" dirty="0">
                <a:latin typeface="Calibri" panose="020F0502020204030204" pitchFamily="34" charset="0"/>
                <a:ea typeface="Calibri" panose="020F0502020204030204" pitchFamily="34" charset="0"/>
                <a:cs typeface="Calibri" panose="020F0502020204030204" pitchFamily="34" charset="0"/>
              </a:rPr>
              <a:t>. Nature 490, 61–70 (2012). </a:t>
            </a:r>
            <a:r>
              <a:rPr lang="en-US"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hlinkClick r:id="rId4"/>
              </a:rPr>
              <a:t>https://doi.org/10.1038/nature11412</a:t>
            </a:r>
            <a:endParaRPr lang="en-CA"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Chen DS &amp; Mellman I (2017). Elements of cancer immunity and the cancer-immune set point. Nature 541:321-330.</a:t>
            </a: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 Hanahan D (2022). Hallmarks of Cancer: New </a:t>
            </a:r>
            <a:r>
              <a:rPr lang="en-CA" dirty="0" err="1">
                <a:latin typeface="Calibri" panose="020F0502020204030204" pitchFamily="34" charset="0"/>
                <a:ea typeface="Calibri" panose="020F0502020204030204" pitchFamily="34" charset="0"/>
                <a:cs typeface="Calibri" panose="020F0502020204030204" pitchFamily="34" charset="0"/>
              </a:rPr>
              <a:t>Dimensions.Cancer</a:t>
            </a:r>
            <a:r>
              <a:rPr lang="en-CA" dirty="0">
                <a:latin typeface="Calibri" panose="020F0502020204030204" pitchFamily="34" charset="0"/>
                <a:ea typeface="Calibri" panose="020F0502020204030204" pitchFamily="34" charset="0"/>
                <a:cs typeface="Calibri" panose="020F0502020204030204" pitchFamily="34" charset="0"/>
              </a:rPr>
              <a:t> Discovery 12:31-46.</a:t>
            </a: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Schmid P et al. (2018). Atezolizumab and nab-paclitaxel in advanced triple-negative breast cancer (IMpassion130). NEJM 379:2108-2121.</a:t>
            </a:r>
          </a:p>
          <a:p>
            <a:pPr marL="228600" indent="-228600">
              <a:buFont typeface="+mj-lt"/>
              <a:buAutoNum type="arabicPeriod"/>
            </a:pPr>
            <a:r>
              <a:rPr lang="en-CA" dirty="0" err="1">
                <a:latin typeface="Calibri" panose="020F0502020204030204" pitchFamily="34" charset="0"/>
                <a:ea typeface="Calibri" panose="020F0502020204030204" pitchFamily="34" charset="0"/>
                <a:cs typeface="Calibri" panose="020F0502020204030204" pitchFamily="34" charset="0"/>
              </a:rPr>
              <a:t>Denkert</a:t>
            </a:r>
            <a:r>
              <a:rPr lang="en-CA" dirty="0">
                <a:latin typeface="Calibri" panose="020F0502020204030204" pitchFamily="34" charset="0"/>
                <a:ea typeface="Calibri" panose="020F0502020204030204" pitchFamily="34" charset="0"/>
                <a:cs typeface="Calibri" panose="020F0502020204030204" pitchFamily="34" charset="0"/>
              </a:rPr>
              <a:t> C et al. (2018). Tumour-infiltrating lymphocytes and prognosis in different subtypes of breast cancer: a pooled analysis of 3771 patients. Lancet Oncol19(1):40-50.</a:t>
            </a:r>
          </a:p>
          <a:p>
            <a:pPr marL="228600" indent="-228600">
              <a:buFont typeface="+mj-lt"/>
              <a:buAutoNum type="arabicPeriod"/>
            </a:pPr>
            <a:r>
              <a:rPr lang="en-CA" dirty="0" err="1">
                <a:latin typeface="Calibri" panose="020F0502020204030204" pitchFamily="34" charset="0"/>
                <a:ea typeface="Calibri" panose="020F0502020204030204" pitchFamily="34" charset="0"/>
                <a:cs typeface="Calibri" panose="020F0502020204030204" pitchFamily="34" charset="0"/>
              </a:rPr>
              <a:t>Hänzelmann</a:t>
            </a:r>
            <a:r>
              <a:rPr lang="en-CA" dirty="0">
                <a:latin typeface="Calibri" panose="020F0502020204030204" pitchFamily="34" charset="0"/>
                <a:ea typeface="Calibri" panose="020F0502020204030204" pitchFamily="34" charset="0"/>
                <a:cs typeface="Calibri" panose="020F0502020204030204" pitchFamily="34" charset="0"/>
              </a:rPr>
              <a:t> S et al. (2013). GSVA: gene set variation analysis. BMC Bioinformatics 14:7.</a:t>
            </a:r>
          </a:p>
          <a:p>
            <a:pPr marL="228600" indent="-228600">
              <a:buFont typeface="+mj-lt"/>
              <a:buAutoNum type="arabicPeriod"/>
            </a:pPr>
            <a:r>
              <a:rPr lang="en-CA" dirty="0" err="1">
                <a:latin typeface="Calibri" panose="020F0502020204030204" pitchFamily="34" charset="0"/>
                <a:ea typeface="Calibri" panose="020F0502020204030204" pitchFamily="34" charset="0"/>
                <a:cs typeface="Calibri" panose="020F0502020204030204" pitchFamily="34" charset="0"/>
              </a:rPr>
              <a:t>Finotello</a:t>
            </a:r>
            <a:r>
              <a:rPr lang="en-CA" dirty="0">
                <a:latin typeface="Calibri" panose="020F0502020204030204" pitchFamily="34" charset="0"/>
                <a:ea typeface="Calibri" panose="020F0502020204030204" pitchFamily="34" charset="0"/>
                <a:cs typeface="Calibri" panose="020F0502020204030204" pitchFamily="34" charset="0"/>
              </a:rPr>
              <a:t> F et al. (2019). </a:t>
            </a:r>
            <a:r>
              <a:rPr lang="en-CA" dirty="0" err="1">
                <a:latin typeface="Calibri" panose="020F0502020204030204" pitchFamily="34" charset="0"/>
                <a:ea typeface="Calibri" panose="020F0502020204030204" pitchFamily="34" charset="0"/>
                <a:cs typeface="Calibri" panose="020F0502020204030204" pitchFamily="34" charset="0"/>
              </a:rPr>
              <a:t>quanTIseq</a:t>
            </a:r>
            <a:r>
              <a:rPr lang="en-CA" dirty="0">
                <a:latin typeface="Calibri" panose="020F0502020204030204" pitchFamily="34" charset="0"/>
                <a:ea typeface="Calibri" panose="020F0502020204030204" pitchFamily="34" charset="0"/>
                <a:cs typeface="Calibri" panose="020F0502020204030204" pitchFamily="34" charset="0"/>
              </a:rPr>
              <a:t>. Genome Medicine 11:34.</a:t>
            </a: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Becht E et al. (2016). MCP-counter. Genome Biology 17:218.</a:t>
            </a:r>
          </a:p>
          <a:p>
            <a:pPr marL="228600" indent="-228600">
              <a:buFont typeface="+mj-lt"/>
              <a:buAutoNum type="arabicPeriod"/>
            </a:pPr>
            <a:r>
              <a:rPr lang="en-CA" dirty="0" err="1">
                <a:latin typeface="Calibri" panose="020F0502020204030204" pitchFamily="34" charset="0"/>
                <a:ea typeface="Calibri" panose="020F0502020204030204" pitchFamily="34" charset="0"/>
                <a:cs typeface="Calibri" panose="020F0502020204030204" pitchFamily="34" charset="0"/>
              </a:rPr>
              <a:t>Racle</a:t>
            </a:r>
            <a:r>
              <a:rPr lang="en-CA" dirty="0">
                <a:latin typeface="Calibri" panose="020F0502020204030204" pitchFamily="34" charset="0"/>
                <a:ea typeface="Calibri" panose="020F0502020204030204" pitchFamily="34" charset="0"/>
                <a:cs typeface="Calibri" panose="020F0502020204030204" pitchFamily="34" charset="0"/>
              </a:rPr>
              <a:t> J et al. (2017). EPIC. </a:t>
            </a:r>
            <a:r>
              <a:rPr lang="en-CA" dirty="0" err="1">
                <a:latin typeface="Calibri" panose="020F0502020204030204" pitchFamily="34" charset="0"/>
                <a:ea typeface="Calibri" panose="020F0502020204030204" pitchFamily="34" charset="0"/>
                <a:cs typeface="Calibri" panose="020F0502020204030204" pitchFamily="34" charset="0"/>
              </a:rPr>
              <a:t>eLife</a:t>
            </a:r>
            <a:r>
              <a:rPr lang="en-CA" dirty="0">
                <a:latin typeface="Calibri" panose="020F0502020204030204" pitchFamily="34" charset="0"/>
                <a:ea typeface="Calibri" panose="020F0502020204030204" pitchFamily="34" charset="0"/>
                <a:cs typeface="Calibri" panose="020F0502020204030204" pitchFamily="34" charset="0"/>
              </a:rPr>
              <a:t> 6:e26476.</a:t>
            </a: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Aran D et al. (2017). </a:t>
            </a:r>
            <a:r>
              <a:rPr lang="en-CA" dirty="0" err="1">
                <a:latin typeface="Calibri" panose="020F0502020204030204" pitchFamily="34" charset="0"/>
                <a:ea typeface="Calibri" panose="020F0502020204030204" pitchFamily="34" charset="0"/>
                <a:cs typeface="Calibri" panose="020F0502020204030204" pitchFamily="34" charset="0"/>
              </a:rPr>
              <a:t>xCell</a:t>
            </a:r>
            <a:r>
              <a:rPr lang="en-CA" dirty="0">
                <a:latin typeface="Calibri" panose="020F0502020204030204" pitchFamily="34" charset="0"/>
                <a:ea typeface="Calibri" panose="020F0502020204030204" pitchFamily="34" charset="0"/>
                <a:cs typeface="Calibri" panose="020F0502020204030204" pitchFamily="34" charset="0"/>
              </a:rPr>
              <a:t>. Genome Biology 18:220.</a:t>
            </a:r>
          </a:p>
          <a:p>
            <a:pPr marL="228600" indent="-228600">
              <a:buFont typeface="+mj-lt"/>
              <a:buAutoNum type="arabicPeriod"/>
            </a:pPr>
            <a:r>
              <a:rPr lang="en-CA" dirty="0">
                <a:latin typeface="Calibri" panose="020F0502020204030204" pitchFamily="34" charset="0"/>
                <a:ea typeface="Calibri" panose="020F0502020204030204" pitchFamily="34" charset="0"/>
                <a:cs typeface="Calibri" panose="020F0502020204030204" pitchFamily="34" charset="0"/>
              </a:rPr>
              <a:t>Newman AM et al. (2015). CIBERSORT. Nature Methods 12:453-457.</a:t>
            </a:r>
          </a:p>
        </p:txBody>
      </p:sp>
    </p:spTree>
    <p:extLst>
      <p:ext uri="{BB962C8B-B14F-4D97-AF65-F5344CB8AC3E}">
        <p14:creationId xmlns:p14="http://schemas.microsoft.com/office/powerpoint/2010/main" val="21868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331425-EACC-030B-C894-93FDDA89A7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58277E02-8052-4DAB-9140-864FC3F81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72C212A-975C-8FF7-914B-7F3DEBF05DEE}"/>
              </a:ext>
            </a:extLst>
          </p:cNvPr>
          <p:cNvPicPr>
            <a:picLocks noChangeAspect="1"/>
          </p:cNvPicPr>
          <p:nvPr/>
        </p:nvPicPr>
        <p:blipFill>
          <a:blip r:embed="rId3"/>
          <a:srcRect r="4881" b="1"/>
          <a:stretch>
            <a:fillRect/>
          </a:stretch>
        </p:blipFill>
        <p:spPr>
          <a:xfrm>
            <a:off x="-1" y="1"/>
            <a:ext cx="12192002" cy="6408742"/>
          </a:xfrm>
          <a:prstGeom prst="rect">
            <a:avLst/>
          </a:prstGeom>
        </p:spPr>
      </p:pic>
      <p:sp>
        <p:nvSpPr>
          <p:cNvPr id="17" name="Rectangle 16">
            <a:extLst>
              <a:ext uri="{FF2B5EF4-FFF2-40B4-BE49-F238E27FC236}">
                <a16:creationId xmlns:a16="http://schemas.microsoft.com/office/drawing/2014/main" id="{F7A8738A-7386-464C-98EF-9EB4F856E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4A98402-3932-4318-B57D-2E10D76DDF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0734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9535-9D05-5DF2-B0BD-368D1654CFDB}"/>
              </a:ext>
            </a:extLst>
          </p:cNvPr>
          <p:cNvSpPr>
            <a:spLocks noGrp="1"/>
          </p:cNvSpPr>
          <p:nvPr>
            <p:ph type="title"/>
          </p:nvPr>
        </p:nvSpPr>
        <p:spPr/>
        <p:txBody>
          <a:bodyPr/>
          <a:lstStyle/>
          <a:p>
            <a:r>
              <a:rPr lang="en-CA" dirty="0"/>
              <a:t>limitations</a:t>
            </a:r>
          </a:p>
        </p:txBody>
      </p:sp>
      <p:sp>
        <p:nvSpPr>
          <p:cNvPr id="3" name="Content Placeholder 2">
            <a:extLst>
              <a:ext uri="{FF2B5EF4-FFF2-40B4-BE49-F238E27FC236}">
                <a16:creationId xmlns:a16="http://schemas.microsoft.com/office/drawing/2014/main" id="{D1E628C0-AA12-45CD-02FF-029BCD6B1E2B}"/>
              </a:ext>
            </a:extLst>
          </p:cNvPr>
          <p:cNvSpPr>
            <a:spLocks noGrp="1"/>
          </p:cNvSpPr>
          <p:nvPr>
            <p:ph idx="1"/>
          </p:nvPr>
        </p:nvSpPr>
        <p:spPr/>
        <p:txBody>
          <a:bodyPr>
            <a:normAutofit fontScale="92500" lnSpcReduction="10000"/>
          </a:bodyPr>
          <a:lstStyle/>
          <a:p>
            <a:r>
              <a:rPr lang="en-US" dirty="0"/>
              <a:t>1. Bulk RNA-seq cannot distinguish between cell types within a </a:t>
            </a:r>
            <a:r>
              <a:rPr lang="en-US" dirty="0" err="1"/>
              <a:t>tumour</a:t>
            </a:r>
            <a:r>
              <a:rPr lang="en-US" dirty="0"/>
              <a:t> — it measures </a:t>
            </a:r>
            <a:r>
              <a:rPr lang="en-US"/>
              <a:t>the mixture-only </a:t>
            </a:r>
            <a:r>
              <a:rPr lang="en-US" dirty="0"/>
              <a:t>spatial transcriptomics or single-cell RNA-seq can resolve this.</a:t>
            </a:r>
          </a:p>
          <a:p>
            <a:r>
              <a:rPr lang="en-US" dirty="0"/>
              <a:t>2. The Normal-like subgroup is very small (n=37 total, IC2 n=13). Validation in larger independent cohorts is essential before clinical application.</a:t>
            </a:r>
          </a:p>
          <a:p>
            <a:r>
              <a:rPr lang="en-US" dirty="0"/>
              <a:t>3. This is a retrospective analysis of archived TCGA data — we have no prospective treatment or immunotherapy response data to directly validate the clinical predictions.</a:t>
            </a:r>
          </a:p>
          <a:p>
            <a:r>
              <a:rPr lang="en-US" dirty="0"/>
              <a:t>4. Survival analysis (Script 07) was planned but not presented here — the association between immune scores and patient outcomes requires further analysis.</a:t>
            </a:r>
          </a:p>
          <a:p>
            <a:r>
              <a:rPr lang="en-US" dirty="0"/>
              <a:t>5. The clustering was performed within each PAM50 subtype independently — we may have missed cross-subtype immune phenotypes that span multiple subtypes.</a:t>
            </a:r>
          </a:p>
          <a:p>
            <a:endParaRPr lang="en-CA" dirty="0"/>
          </a:p>
        </p:txBody>
      </p:sp>
    </p:spTree>
    <p:extLst>
      <p:ext uri="{BB962C8B-B14F-4D97-AF65-F5344CB8AC3E}">
        <p14:creationId xmlns:p14="http://schemas.microsoft.com/office/powerpoint/2010/main" val="713985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5B608C-E90D-A720-100B-ECD31C2ED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D067-1F16-2764-16C8-73988EB31744}"/>
              </a:ext>
            </a:extLst>
          </p:cNvPr>
          <p:cNvSpPr>
            <a:spLocks noGrp="1"/>
          </p:cNvSpPr>
          <p:nvPr>
            <p:ph type="title"/>
          </p:nvPr>
        </p:nvSpPr>
        <p:spPr>
          <a:xfrm>
            <a:off x="941832" y="155448"/>
            <a:ext cx="10241280" cy="621792"/>
          </a:xfrm>
        </p:spPr>
        <p:txBody>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clinical problem</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9" name="Shape 2">
            <a:extLst>
              <a:ext uri="{FF2B5EF4-FFF2-40B4-BE49-F238E27FC236}">
                <a16:creationId xmlns:a16="http://schemas.microsoft.com/office/drawing/2014/main" id="{E67AA356-CC76-1A27-3769-606A9E7F4BD3}"/>
              </a:ext>
            </a:extLst>
          </p:cNvPr>
          <p:cNvSpPr/>
          <p:nvPr/>
        </p:nvSpPr>
        <p:spPr>
          <a:xfrm>
            <a:off x="228981" y="1060704"/>
            <a:ext cx="5399532"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p>
        </p:txBody>
      </p:sp>
      <p:sp>
        <p:nvSpPr>
          <p:cNvPr id="10" name="Shape 3">
            <a:extLst>
              <a:ext uri="{FF2B5EF4-FFF2-40B4-BE49-F238E27FC236}">
                <a16:creationId xmlns:a16="http://schemas.microsoft.com/office/drawing/2014/main" id="{F50F3805-DAE8-33AF-BA7E-8FD38EB68F3E}"/>
              </a:ext>
            </a:extLst>
          </p:cNvPr>
          <p:cNvSpPr/>
          <p:nvPr/>
        </p:nvSpPr>
        <p:spPr>
          <a:xfrm>
            <a:off x="228981" y="1060704"/>
            <a:ext cx="128016" cy="841248"/>
          </a:xfrm>
          <a:prstGeom prst="rect">
            <a:avLst/>
          </a:prstGeom>
          <a:solidFill>
            <a:schemeClr val="accent5">
              <a:lumMod val="40000"/>
              <a:lumOff val="60000"/>
            </a:schemeClr>
          </a:solidFill>
          <a:ln w="12700">
            <a:solidFill>
              <a:schemeClr val="accent1">
                <a:lumMod val="20000"/>
                <a:lumOff val="80000"/>
              </a:schemeClr>
            </a:solidFill>
            <a:prstDash val="solid"/>
          </a:ln>
        </p:spPr>
        <p:txBody>
          <a:bodyPr/>
          <a:lstStyle/>
          <a:p>
            <a:endParaRPr lang="en-CA"/>
          </a:p>
        </p:txBody>
      </p:sp>
      <p:sp>
        <p:nvSpPr>
          <p:cNvPr id="11" name="Text 4">
            <a:extLst>
              <a:ext uri="{FF2B5EF4-FFF2-40B4-BE49-F238E27FC236}">
                <a16:creationId xmlns:a16="http://schemas.microsoft.com/office/drawing/2014/main" id="{D974F0E6-EBB0-9A10-C992-A1187D8D7467}"/>
              </a:ext>
            </a:extLst>
          </p:cNvPr>
          <p:cNvSpPr/>
          <p:nvPr/>
        </p:nvSpPr>
        <p:spPr>
          <a:xfrm>
            <a:off x="1106805" y="1113282"/>
            <a:ext cx="1371600" cy="411480"/>
          </a:xfrm>
          <a:prstGeom prst="rect">
            <a:avLst/>
          </a:prstGeom>
          <a:noFill/>
          <a:ln/>
        </p:spPr>
        <p:txBody>
          <a:bodyPr wrap="square" rtlCol="0" anchor="ctr"/>
          <a:lstStyle/>
          <a:p>
            <a:pPr marL="0" indent="0">
              <a:buNone/>
            </a:pPr>
            <a:r>
              <a:rPr lang="en-US" sz="3200" b="1" dirty="0">
                <a:solidFill>
                  <a:schemeClr val="accent5">
                    <a:lumMod val="60000"/>
                    <a:lumOff val="40000"/>
                  </a:schemeClr>
                </a:solidFill>
                <a:latin typeface="Calibri" pitchFamily="34" charset="0"/>
                <a:ea typeface="Calibri" pitchFamily="34" charset="-122"/>
                <a:cs typeface="Calibri" pitchFamily="34" charset="-120"/>
              </a:rPr>
              <a:t>2.3M</a:t>
            </a:r>
            <a:endParaRPr lang="en-US" sz="3200" dirty="0">
              <a:solidFill>
                <a:schemeClr val="accent5">
                  <a:lumMod val="60000"/>
                  <a:lumOff val="40000"/>
                </a:schemeClr>
              </a:solidFill>
            </a:endParaRPr>
          </a:p>
        </p:txBody>
      </p:sp>
      <p:sp>
        <p:nvSpPr>
          <p:cNvPr id="12" name="Text 5">
            <a:extLst>
              <a:ext uri="{FF2B5EF4-FFF2-40B4-BE49-F238E27FC236}">
                <a16:creationId xmlns:a16="http://schemas.microsoft.com/office/drawing/2014/main" id="{785422A9-CC99-02A9-D6BE-F6B106323C6A}"/>
              </a:ext>
            </a:extLst>
          </p:cNvPr>
          <p:cNvSpPr/>
          <p:nvPr/>
        </p:nvSpPr>
        <p:spPr>
          <a:xfrm>
            <a:off x="457581" y="1499616"/>
            <a:ext cx="3566160" cy="228600"/>
          </a:xfrm>
          <a:prstGeom prst="rect">
            <a:avLst/>
          </a:prstGeom>
          <a:noFill/>
          <a:ln/>
        </p:spPr>
        <p:txBody>
          <a:bodyPr wrap="square" rtlCol="0" anchor="ctr"/>
          <a:lstStyle/>
          <a:p>
            <a:pPr marL="0" indent="0">
              <a:buNone/>
            </a:pPr>
            <a:r>
              <a:rPr lang="en-US" b="1" dirty="0">
                <a:solidFill>
                  <a:srgbClr val="1E293B"/>
                </a:solidFill>
                <a:latin typeface="Calibri" pitchFamily="34" charset="0"/>
                <a:ea typeface="Calibri" pitchFamily="34" charset="-122"/>
                <a:cs typeface="Calibri" pitchFamily="34" charset="-120"/>
              </a:rPr>
              <a:t>New cases worldwide per year</a:t>
            </a:r>
            <a:endParaRPr lang="en-US" dirty="0"/>
          </a:p>
        </p:txBody>
      </p:sp>
      <p:sp>
        <p:nvSpPr>
          <p:cNvPr id="13" name="Text 6">
            <a:extLst>
              <a:ext uri="{FF2B5EF4-FFF2-40B4-BE49-F238E27FC236}">
                <a16:creationId xmlns:a16="http://schemas.microsoft.com/office/drawing/2014/main" id="{F56318B8-79B9-B06D-0DE4-0FA435DB3AC1}"/>
              </a:ext>
            </a:extLst>
          </p:cNvPr>
          <p:cNvSpPr/>
          <p:nvPr/>
        </p:nvSpPr>
        <p:spPr>
          <a:xfrm>
            <a:off x="3575685" y="1216152"/>
            <a:ext cx="2103120" cy="384048"/>
          </a:xfrm>
          <a:prstGeom prst="rect">
            <a:avLst/>
          </a:prstGeom>
          <a:noFill/>
          <a:ln/>
        </p:spPr>
        <p:txBody>
          <a:bodyPr wrap="square" rtlCol="0" anchor="ctr"/>
          <a:lstStyle/>
          <a:p>
            <a:pPr marL="0" indent="0">
              <a:buNone/>
            </a:pPr>
            <a:r>
              <a:rPr lang="en-US" i="1" dirty="0">
                <a:solidFill>
                  <a:srgbClr val="475569"/>
                </a:solidFill>
                <a:latin typeface="Calibri" pitchFamily="34" charset="0"/>
                <a:ea typeface="Calibri" pitchFamily="34" charset="-122"/>
                <a:cs typeface="Calibri" pitchFamily="34" charset="-120"/>
              </a:rPr>
              <a:t>most common cancer in women</a:t>
            </a:r>
            <a:endParaRPr lang="en-US" dirty="0"/>
          </a:p>
        </p:txBody>
      </p:sp>
      <p:sp>
        <p:nvSpPr>
          <p:cNvPr id="14" name="Shape 7">
            <a:extLst>
              <a:ext uri="{FF2B5EF4-FFF2-40B4-BE49-F238E27FC236}">
                <a16:creationId xmlns:a16="http://schemas.microsoft.com/office/drawing/2014/main" id="{C2762627-1179-AAE6-1E2F-A313EB4E3077}"/>
              </a:ext>
            </a:extLst>
          </p:cNvPr>
          <p:cNvSpPr/>
          <p:nvPr/>
        </p:nvSpPr>
        <p:spPr>
          <a:xfrm>
            <a:off x="228981" y="2359152"/>
            <a:ext cx="5399532"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p>
        </p:txBody>
      </p:sp>
      <p:sp>
        <p:nvSpPr>
          <p:cNvPr id="15" name="Shape 8">
            <a:extLst>
              <a:ext uri="{FF2B5EF4-FFF2-40B4-BE49-F238E27FC236}">
                <a16:creationId xmlns:a16="http://schemas.microsoft.com/office/drawing/2014/main" id="{19E7F80F-986A-FBFA-F1FD-D8A2D3406073}"/>
              </a:ext>
            </a:extLst>
          </p:cNvPr>
          <p:cNvSpPr/>
          <p:nvPr/>
        </p:nvSpPr>
        <p:spPr>
          <a:xfrm>
            <a:off x="228980" y="2359152"/>
            <a:ext cx="175799" cy="841248"/>
          </a:xfrm>
          <a:prstGeom prst="rect">
            <a:avLst/>
          </a:prstGeom>
          <a:solidFill>
            <a:schemeClr val="accent1">
              <a:lumMod val="40000"/>
              <a:lumOff val="60000"/>
            </a:schemeClr>
          </a:solidFill>
          <a:ln w="12700">
            <a:solidFill>
              <a:schemeClr val="accent1">
                <a:lumMod val="40000"/>
                <a:lumOff val="60000"/>
              </a:schemeClr>
            </a:solidFill>
            <a:prstDash val="solid"/>
          </a:ln>
        </p:spPr>
        <p:txBody>
          <a:bodyPr/>
          <a:lstStyle/>
          <a:p>
            <a:endParaRPr lang="en-CA"/>
          </a:p>
        </p:txBody>
      </p:sp>
      <p:sp>
        <p:nvSpPr>
          <p:cNvPr id="16" name="Text 9">
            <a:extLst>
              <a:ext uri="{FF2B5EF4-FFF2-40B4-BE49-F238E27FC236}">
                <a16:creationId xmlns:a16="http://schemas.microsoft.com/office/drawing/2014/main" id="{8CA4BBA9-9FF6-48FC-EDD8-DB8B928D179B}"/>
              </a:ext>
            </a:extLst>
          </p:cNvPr>
          <p:cNvSpPr/>
          <p:nvPr/>
        </p:nvSpPr>
        <p:spPr>
          <a:xfrm>
            <a:off x="1056459" y="2491740"/>
            <a:ext cx="1883558" cy="411480"/>
          </a:xfrm>
          <a:prstGeom prst="rect">
            <a:avLst/>
          </a:prstGeom>
          <a:noFill/>
          <a:ln/>
        </p:spPr>
        <p:txBody>
          <a:bodyPr wrap="square" rtlCol="0" anchor="ctr"/>
          <a:lstStyle/>
          <a:p>
            <a:pPr marL="0" indent="0">
              <a:buNone/>
            </a:pPr>
            <a:r>
              <a:rPr lang="en-US" sz="3200" b="1" dirty="0">
                <a:solidFill>
                  <a:schemeClr val="accent1">
                    <a:lumMod val="40000"/>
                    <a:lumOff val="60000"/>
                  </a:schemeClr>
                </a:solidFill>
                <a:latin typeface="Calibri" pitchFamily="34" charset="0"/>
                <a:ea typeface="Calibri" pitchFamily="34" charset="-122"/>
                <a:cs typeface="Calibri" pitchFamily="34" charset="-120"/>
              </a:rPr>
              <a:t>685K</a:t>
            </a:r>
            <a:endParaRPr lang="en-US" sz="3200" dirty="0">
              <a:solidFill>
                <a:schemeClr val="accent1">
                  <a:lumMod val="40000"/>
                  <a:lumOff val="60000"/>
                </a:schemeClr>
              </a:solidFill>
            </a:endParaRPr>
          </a:p>
        </p:txBody>
      </p:sp>
      <p:sp>
        <p:nvSpPr>
          <p:cNvPr id="17" name="Text 10">
            <a:extLst>
              <a:ext uri="{FF2B5EF4-FFF2-40B4-BE49-F238E27FC236}">
                <a16:creationId xmlns:a16="http://schemas.microsoft.com/office/drawing/2014/main" id="{95AE89FE-B1AA-7572-1764-EF6D3E9B2669}"/>
              </a:ext>
            </a:extLst>
          </p:cNvPr>
          <p:cNvSpPr/>
          <p:nvPr/>
        </p:nvSpPr>
        <p:spPr>
          <a:xfrm>
            <a:off x="404779" y="2944368"/>
            <a:ext cx="4897250" cy="228600"/>
          </a:xfrm>
          <a:prstGeom prst="rect">
            <a:avLst/>
          </a:prstGeom>
          <a:noFill/>
          <a:ln/>
        </p:spPr>
        <p:txBody>
          <a:bodyPr wrap="square" rtlCol="0" anchor="ctr"/>
          <a:lstStyle/>
          <a:p>
            <a:pPr marL="0" indent="0">
              <a:buNone/>
            </a:pPr>
            <a:r>
              <a:rPr lang="en-US" b="1" dirty="0">
                <a:solidFill>
                  <a:srgbClr val="1E293B"/>
                </a:solidFill>
                <a:latin typeface="Calibri" pitchFamily="34" charset="0"/>
                <a:ea typeface="Calibri" pitchFamily="34" charset="-122"/>
                <a:cs typeface="Calibri" pitchFamily="34" charset="-120"/>
              </a:rPr>
              <a:t>Deaths annually worldwide</a:t>
            </a:r>
            <a:endParaRPr lang="en-US" dirty="0"/>
          </a:p>
        </p:txBody>
      </p:sp>
      <p:sp>
        <p:nvSpPr>
          <p:cNvPr id="18" name="Text 11">
            <a:extLst>
              <a:ext uri="{FF2B5EF4-FFF2-40B4-BE49-F238E27FC236}">
                <a16:creationId xmlns:a16="http://schemas.microsoft.com/office/drawing/2014/main" id="{9C7D5136-B6B1-A2D5-66BC-370711316968}"/>
              </a:ext>
            </a:extLst>
          </p:cNvPr>
          <p:cNvSpPr/>
          <p:nvPr/>
        </p:nvSpPr>
        <p:spPr>
          <a:xfrm>
            <a:off x="2940017" y="2450592"/>
            <a:ext cx="2888122" cy="384048"/>
          </a:xfrm>
          <a:prstGeom prst="rect">
            <a:avLst/>
          </a:prstGeom>
          <a:noFill/>
          <a:ln/>
        </p:spPr>
        <p:txBody>
          <a:bodyPr wrap="square" rtlCol="0" anchor="ctr"/>
          <a:lstStyle/>
          <a:p>
            <a:pPr marL="0" indent="0">
              <a:buNone/>
            </a:pPr>
            <a:r>
              <a:rPr lang="en-US" i="1" dirty="0">
                <a:solidFill>
                  <a:srgbClr val="475569"/>
                </a:solidFill>
                <a:latin typeface="Calibri" pitchFamily="34" charset="0"/>
                <a:ea typeface="Calibri" pitchFamily="34" charset="-122"/>
                <a:cs typeface="Calibri" pitchFamily="34" charset="-120"/>
              </a:rPr>
              <a:t>2nd leading cause of cancer death in women</a:t>
            </a:r>
            <a:endParaRPr lang="en-US" dirty="0"/>
          </a:p>
        </p:txBody>
      </p:sp>
      <p:sp>
        <p:nvSpPr>
          <p:cNvPr id="19" name="Shape 12">
            <a:extLst>
              <a:ext uri="{FF2B5EF4-FFF2-40B4-BE49-F238E27FC236}">
                <a16:creationId xmlns:a16="http://schemas.microsoft.com/office/drawing/2014/main" id="{21CA1AA2-3208-9ACC-179A-1ACD3CB40432}"/>
              </a:ext>
            </a:extLst>
          </p:cNvPr>
          <p:cNvSpPr/>
          <p:nvPr/>
        </p:nvSpPr>
        <p:spPr>
          <a:xfrm>
            <a:off x="228982" y="3749040"/>
            <a:ext cx="5399532"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solidFill>
                <a:schemeClr val="accent1">
                  <a:lumMod val="60000"/>
                  <a:lumOff val="40000"/>
                </a:schemeClr>
              </a:solidFill>
            </a:endParaRPr>
          </a:p>
        </p:txBody>
      </p:sp>
      <p:sp>
        <p:nvSpPr>
          <p:cNvPr id="20" name="Shape 13">
            <a:extLst>
              <a:ext uri="{FF2B5EF4-FFF2-40B4-BE49-F238E27FC236}">
                <a16:creationId xmlns:a16="http://schemas.microsoft.com/office/drawing/2014/main" id="{339CBB5A-3914-67FC-EE9E-8B76F317644E}"/>
              </a:ext>
            </a:extLst>
          </p:cNvPr>
          <p:cNvSpPr/>
          <p:nvPr/>
        </p:nvSpPr>
        <p:spPr>
          <a:xfrm>
            <a:off x="228981" y="3749040"/>
            <a:ext cx="175799" cy="841248"/>
          </a:xfrm>
          <a:prstGeom prst="rect">
            <a:avLst/>
          </a:prstGeom>
          <a:solidFill>
            <a:schemeClr val="accent2">
              <a:lumMod val="60000"/>
              <a:lumOff val="40000"/>
            </a:schemeClr>
          </a:solidFill>
          <a:ln w="12700">
            <a:solidFill>
              <a:srgbClr val="B45309"/>
            </a:solidFill>
            <a:prstDash val="solid"/>
          </a:ln>
        </p:spPr>
        <p:txBody>
          <a:bodyPr/>
          <a:lstStyle/>
          <a:p>
            <a:endParaRPr lang="en-CA">
              <a:solidFill>
                <a:schemeClr val="accent1">
                  <a:lumMod val="60000"/>
                  <a:lumOff val="40000"/>
                </a:schemeClr>
              </a:solidFill>
            </a:endParaRPr>
          </a:p>
        </p:txBody>
      </p:sp>
      <p:sp>
        <p:nvSpPr>
          <p:cNvPr id="21" name="Text 14">
            <a:extLst>
              <a:ext uri="{FF2B5EF4-FFF2-40B4-BE49-F238E27FC236}">
                <a16:creationId xmlns:a16="http://schemas.microsoft.com/office/drawing/2014/main" id="{FBC1C27A-9120-6700-B560-FF7B134BBA92}"/>
              </a:ext>
            </a:extLst>
          </p:cNvPr>
          <p:cNvSpPr/>
          <p:nvPr/>
        </p:nvSpPr>
        <p:spPr>
          <a:xfrm>
            <a:off x="1170867" y="3813048"/>
            <a:ext cx="1883558" cy="411480"/>
          </a:xfrm>
          <a:prstGeom prst="rect">
            <a:avLst/>
          </a:prstGeom>
          <a:noFill/>
          <a:ln/>
        </p:spPr>
        <p:txBody>
          <a:bodyPr wrap="square" rtlCol="0" anchor="ctr"/>
          <a:lstStyle/>
          <a:p>
            <a:pPr marL="0" indent="0">
              <a:buNone/>
            </a:pPr>
            <a:r>
              <a:rPr lang="en-US" sz="3200" b="1" dirty="0">
                <a:solidFill>
                  <a:schemeClr val="tx2">
                    <a:lumMod val="50000"/>
                    <a:lumOff val="50000"/>
                  </a:schemeClr>
                </a:solidFill>
                <a:latin typeface="Calibri" pitchFamily="34" charset="0"/>
                <a:ea typeface="Calibri" pitchFamily="34" charset="-122"/>
                <a:cs typeface="Calibri" pitchFamily="34" charset="-120"/>
              </a:rPr>
              <a:t>30%</a:t>
            </a:r>
            <a:endParaRPr lang="en-US" sz="3200" dirty="0">
              <a:solidFill>
                <a:schemeClr val="tx2">
                  <a:lumMod val="50000"/>
                  <a:lumOff val="50000"/>
                </a:schemeClr>
              </a:solidFill>
            </a:endParaRPr>
          </a:p>
        </p:txBody>
      </p:sp>
      <p:sp>
        <p:nvSpPr>
          <p:cNvPr id="22" name="Text 15">
            <a:extLst>
              <a:ext uri="{FF2B5EF4-FFF2-40B4-BE49-F238E27FC236}">
                <a16:creationId xmlns:a16="http://schemas.microsoft.com/office/drawing/2014/main" id="{7165EF78-BE9F-09DF-6FF9-DD696E260C91}"/>
              </a:ext>
            </a:extLst>
          </p:cNvPr>
          <p:cNvSpPr/>
          <p:nvPr/>
        </p:nvSpPr>
        <p:spPr>
          <a:xfrm>
            <a:off x="404780" y="4311396"/>
            <a:ext cx="4897250" cy="228600"/>
          </a:xfrm>
          <a:prstGeom prst="rect">
            <a:avLst/>
          </a:prstGeom>
          <a:noFill/>
          <a:ln/>
        </p:spPr>
        <p:txBody>
          <a:bodyPr wrap="square" rtlCol="0" anchor="ctr"/>
          <a:lstStyle/>
          <a:p>
            <a:pPr marL="0" indent="0">
              <a:buNone/>
            </a:pPr>
            <a:r>
              <a:rPr lang="en-US" b="1" dirty="0">
                <a:solidFill>
                  <a:srgbClr val="1E293B"/>
                </a:solidFill>
                <a:latin typeface="Calibri" pitchFamily="34" charset="0"/>
                <a:ea typeface="Calibri" pitchFamily="34" charset="-122"/>
                <a:cs typeface="Calibri" pitchFamily="34" charset="-120"/>
              </a:rPr>
              <a:t>of patients eventually relapse</a:t>
            </a:r>
            <a:endParaRPr lang="en-US" dirty="0"/>
          </a:p>
        </p:txBody>
      </p:sp>
      <p:sp>
        <p:nvSpPr>
          <p:cNvPr id="23" name="Text 16">
            <a:extLst>
              <a:ext uri="{FF2B5EF4-FFF2-40B4-BE49-F238E27FC236}">
                <a16:creationId xmlns:a16="http://schemas.microsoft.com/office/drawing/2014/main" id="{83C0677E-5E88-0D8E-45FF-B5BACA6A95BF}"/>
              </a:ext>
            </a:extLst>
          </p:cNvPr>
          <p:cNvSpPr/>
          <p:nvPr/>
        </p:nvSpPr>
        <p:spPr>
          <a:xfrm>
            <a:off x="3015776" y="3854196"/>
            <a:ext cx="2888122" cy="384048"/>
          </a:xfrm>
          <a:prstGeom prst="rect">
            <a:avLst/>
          </a:prstGeom>
          <a:noFill/>
          <a:ln/>
        </p:spPr>
        <p:txBody>
          <a:bodyPr wrap="square" rtlCol="0" anchor="ctr"/>
          <a:lstStyle/>
          <a:p>
            <a:pPr marL="0" indent="0">
              <a:buNone/>
            </a:pPr>
            <a:r>
              <a:rPr lang="en-US" i="1" dirty="0">
                <a:solidFill>
                  <a:srgbClr val="475569"/>
                </a:solidFill>
                <a:latin typeface="Calibri" pitchFamily="34" charset="0"/>
                <a:ea typeface="Calibri" pitchFamily="34" charset="-122"/>
                <a:cs typeface="Calibri" pitchFamily="34" charset="-120"/>
              </a:rPr>
              <a:t>despite initial response to treatment</a:t>
            </a:r>
            <a:endParaRPr lang="en-US" dirty="0"/>
          </a:p>
        </p:txBody>
      </p:sp>
      <p:sp>
        <p:nvSpPr>
          <p:cNvPr id="24" name="Shape 17">
            <a:extLst>
              <a:ext uri="{FF2B5EF4-FFF2-40B4-BE49-F238E27FC236}">
                <a16:creationId xmlns:a16="http://schemas.microsoft.com/office/drawing/2014/main" id="{CA77D9E4-3342-E205-1CC1-F41B594CB844}"/>
              </a:ext>
            </a:extLst>
          </p:cNvPr>
          <p:cNvSpPr/>
          <p:nvPr/>
        </p:nvSpPr>
        <p:spPr>
          <a:xfrm>
            <a:off x="228982" y="5170932"/>
            <a:ext cx="5431696" cy="841248"/>
          </a:xfrm>
          <a:prstGeom prst="rect">
            <a:avLst/>
          </a:prstGeom>
          <a:solidFill>
            <a:srgbClr val="FFFFFF"/>
          </a:solidFill>
          <a:ln w="12700">
            <a:solidFill>
              <a:srgbClr val="94A3B8"/>
            </a:solidFill>
            <a:prstDash val="solid"/>
          </a:ln>
          <a:effectLst>
            <a:outerShdw blurRad="127000" dist="38100" dir="8100000" algn="bl" rotWithShape="0">
              <a:srgbClr val="000000">
                <a:alpha val="10000"/>
              </a:srgbClr>
            </a:outerShdw>
          </a:effectLst>
        </p:spPr>
        <p:txBody>
          <a:bodyPr/>
          <a:lstStyle/>
          <a:p>
            <a:endParaRPr lang="en-CA"/>
          </a:p>
        </p:txBody>
      </p:sp>
      <p:sp>
        <p:nvSpPr>
          <p:cNvPr id="25" name="Shape 18">
            <a:extLst>
              <a:ext uri="{FF2B5EF4-FFF2-40B4-BE49-F238E27FC236}">
                <a16:creationId xmlns:a16="http://schemas.microsoft.com/office/drawing/2014/main" id="{4B785566-BE57-A919-65B2-5F7179D57CF1}"/>
              </a:ext>
            </a:extLst>
          </p:cNvPr>
          <p:cNvSpPr/>
          <p:nvPr/>
        </p:nvSpPr>
        <p:spPr>
          <a:xfrm>
            <a:off x="228982" y="5170932"/>
            <a:ext cx="176846" cy="841248"/>
          </a:xfrm>
          <a:prstGeom prst="rect">
            <a:avLst/>
          </a:prstGeom>
          <a:solidFill>
            <a:srgbClr val="AB0788"/>
          </a:solidFill>
          <a:ln w="12700">
            <a:solidFill>
              <a:schemeClr val="tx2">
                <a:lumMod val="75000"/>
                <a:lumOff val="25000"/>
              </a:schemeClr>
            </a:solidFill>
            <a:prstDash val="solid"/>
          </a:ln>
        </p:spPr>
        <p:txBody>
          <a:bodyPr/>
          <a:lstStyle/>
          <a:p>
            <a:endParaRPr lang="en-CA"/>
          </a:p>
        </p:txBody>
      </p:sp>
      <p:sp>
        <p:nvSpPr>
          <p:cNvPr id="26" name="Text 19">
            <a:extLst>
              <a:ext uri="{FF2B5EF4-FFF2-40B4-BE49-F238E27FC236}">
                <a16:creationId xmlns:a16="http://schemas.microsoft.com/office/drawing/2014/main" id="{9CA8AEC2-6068-AB88-75B0-CED817EEBDD5}"/>
              </a:ext>
            </a:extLst>
          </p:cNvPr>
          <p:cNvSpPr/>
          <p:nvPr/>
        </p:nvSpPr>
        <p:spPr>
          <a:xfrm>
            <a:off x="1435990" y="5212080"/>
            <a:ext cx="493936" cy="411480"/>
          </a:xfrm>
          <a:prstGeom prst="rect">
            <a:avLst/>
          </a:prstGeom>
          <a:noFill/>
          <a:ln/>
        </p:spPr>
        <p:txBody>
          <a:bodyPr wrap="square" rtlCol="0" anchor="ctr"/>
          <a:lstStyle/>
          <a:p>
            <a:pPr marL="0" indent="0">
              <a:buNone/>
            </a:pPr>
            <a:r>
              <a:rPr lang="en-US" sz="3200" b="1" dirty="0">
                <a:solidFill>
                  <a:schemeClr val="tx2">
                    <a:lumMod val="75000"/>
                    <a:lumOff val="25000"/>
                  </a:schemeClr>
                </a:solidFill>
                <a:latin typeface="Calibri" pitchFamily="34" charset="0"/>
                <a:ea typeface="Calibri" pitchFamily="34" charset="-122"/>
                <a:cs typeface="Calibri" pitchFamily="34" charset="-120"/>
              </a:rPr>
              <a:t>5</a:t>
            </a:r>
            <a:endParaRPr lang="en-US" sz="3200" dirty="0">
              <a:solidFill>
                <a:schemeClr val="tx2">
                  <a:lumMod val="75000"/>
                  <a:lumOff val="25000"/>
                </a:schemeClr>
              </a:solidFill>
            </a:endParaRPr>
          </a:p>
        </p:txBody>
      </p:sp>
      <p:sp>
        <p:nvSpPr>
          <p:cNvPr id="27" name="Text 20">
            <a:extLst>
              <a:ext uri="{FF2B5EF4-FFF2-40B4-BE49-F238E27FC236}">
                <a16:creationId xmlns:a16="http://schemas.microsoft.com/office/drawing/2014/main" id="{ECB7B79C-23AF-07FC-39B4-01A626A82114}"/>
              </a:ext>
            </a:extLst>
          </p:cNvPr>
          <p:cNvSpPr/>
          <p:nvPr/>
        </p:nvSpPr>
        <p:spPr>
          <a:xfrm>
            <a:off x="457582" y="5609844"/>
            <a:ext cx="4926422" cy="228600"/>
          </a:xfrm>
          <a:prstGeom prst="rect">
            <a:avLst/>
          </a:prstGeom>
          <a:noFill/>
          <a:ln/>
        </p:spPr>
        <p:txBody>
          <a:bodyPr wrap="square" rtlCol="0" anchor="ctr"/>
          <a:lstStyle/>
          <a:p>
            <a:pPr marL="0" indent="0">
              <a:buNone/>
            </a:pPr>
            <a:r>
              <a:rPr lang="en-US" b="1" dirty="0">
                <a:solidFill>
                  <a:srgbClr val="1E293B"/>
                </a:solidFill>
                <a:latin typeface="Calibri" pitchFamily="34" charset="0"/>
                <a:ea typeface="Calibri" pitchFamily="34" charset="-122"/>
                <a:cs typeface="Calibri" pitchFamily="34" charset="-120"/>
              </a:rPr>
              <a:t>PAM50 molecular subtypes</a:t>
            </a:r>
            <a:endParaRPr lang="en-US" dirty="0"/>
          </a:p>
        </p:txBody>
      </p:sp>
      <p:sp>
        <p:nvSpPr>
          <p:cNvPr id="28" name="Text 21">
            <a:extLst>
              <a:ext uri="{FF2B5EF4-FFF2-40B4-BE49-F238E27FC236}">
                <a16:creationId xmlns:a16="http://schemas.microsoft.com/office/drawing/2014/main" id="{F5E2E91B-236C-1F7B-0305-2CF4E694AB74}"/>
              </a:ext>
            </a:extLst>
          </p:cNvPr>
          <p:cNvSpPr/>
          <p:nvPr/>
        </p:nvSpPr>
        <p:spPr>
          <a:xfrm>
            <a:off x="3050608" y="5262372"/>
            <a:ext cx="2905326" cy="384048"/>
          </a:xfrm>
          <a:prstGeom prst="rect">
            <a:avLst/>
          </a:prstGeom>
          <a:noFill/>
          <a:ln/>
        </p:spPr>
        <p:txBody>
          <a:bodyPr wrap="square" rtlCol="0" anchor="ctr"/>
          <a:lstStyle/>
          <a:p>
            <a:pPr marL="0" indent="0">
              <a:buNone/>
            </a:pPr>
            <a:r>
              <a:rPr lang="en-US" i="1" dirty="0">
                <a:solidFill>
                  <a:srgbClr val="475569"/>
                </a:solidFill>
                <a:latin typeface="Calibri" pitchFamily="34" charset="0"/>
                <a:ea typeface="Calibri" pitchFamily="34" charset="-122"/>
                <a:cs typeface="Calibri" pitchFamily="34" charset="-120"/>
              </a:rPr>
              <a:t>Basal, Her2, LumA, LumB, Normal-like</a:t>
            </a:r>
            <a:endParaRPr lang="en-US" dirty="0"/>
          </a:p>
        </p:txBody>
      </p:sp>
      <p:sp>
        <p:nvSpPr>
          <p:cNvPr id="43" name="TextBox 42">
            <a:extLst>
              <a:ext uri="{FF2B5EF4-FFF2-40B4-BE49-F238E27FC236}">
                <a16:creationId xmlns:a16="http://schemas.microsoft.com/office/drawing/2014/main" id="{6408B142-AADB-2842-FB5D-DA502E7FE02C}"/>
              </a:ext>
            </a:extLst>
          </p:cNvPr>
          <p:cNvSpPr txBox="1"/>
          <p:nvPr/>
        </p:nvSpPr>
        <p:spPr>
          <a:xfrm>
            <a:off x="202306" y="6096408"/>
            <a:ext cx="1489334" cy="276999"/>
          </a:xfrm>
          <a:prstGeom prst="rect">
            <a:avLst/>
          </a:prstGeom>
          <a:noFill/>
        </p:spPr>
        <p:txBody>
          <a:bodyPr wrap="square" rtlCol="0">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References: [1-5]</a:t>
            </a:r>
            <a:endParaRPr lang="en-CA" sz="1200" dirty="0">
              <a:latin typeface="Calibri" panose="020F0502020204030204" pitchFamily="34" charset="0"/>
              <a:ea typeface="Calibri" panose="020F0502020204030204" pitchFamily="34" charset="0"/>
              <a:cs typeface="Calibri" panose="020F0502020204030204" pitchFamily="34" charset="0"/>
            </a:endParaRPr>
          </a:p>
        </p:txBody>
      </p:sp>
      <p:sp>
        <p:nvSpPr>
          <p:cNvPr id="44" name="Shape 22">
            <a:extLst>
              <a:ext uri="{FF2B5EF4-FFF2-40B4-BE49-F238E27FC236}">
                <a16:creationId xmlns:a16="http://schemas.microsoft.com/office/drawing/2014/main" id="{DABFD794-29BB-7A39-4F9E-4FCFB9D265F8}"/>
              </a:ext>
            </a:extLst>
          </p:cNvPr>
          <p:cNvSpPr/>
          <p:nvPr/>
        </p:nvSpPr>
        <p:spPr>
          <a:xfrm>
            <a:off x="5992050" y="1060704"/>
            <a:ext cx="5970967" cy="5212080"/>
          </a:xfrm>
          <a:prstGeom prst="rect">
            <a:avLst/>
          </a:prstGeom>
          <a:solidFill>
            <a:schemeClr val="accent2">
              <a:lumMod val="50000"/>
            </a:schemeClr>
          </a:solidFill>
          <a:ln w="12700">
            <a:solidFill>
              <a:srgbClr val="0A2342"/>
            </a:solidFill>
            <a:prstDash val="solid"/>
          </a:ln>
          <a:effectLst>
            <a:outerShdw blurRad="127000" dist="38100" dir="8100000" algn="bl" rotWithShape="0">
              <a:srgbClr val="000000">
                <a:alpha val="10000"/>
              </a:srgbClr>
            </a:outerShdw>
          </a:effectLst>
        </p:spPr>
        <p:txBody>
          <a:bodyPr/>
          <a:lstStyle/>
          <a:p>
            <a:endParaRPr lang="en-CA" sz="2400" dirty="0"/>
          </a:p>
        </p:txBody>
      </p:sp>
      <p:sp>
        <p:nvSpPr>
          <p:cNvPr id="45" name="Text 23">
            <a:extLst>
              <a:ext uri="{FF2B5EF4-FFF2-40B4-BE49-F238E27FC236}">
                <a16:creationId xmlns:a16="http://schemas.microsoft.com/office/drawing/2014/main" id="{A5ED5152-6FB5-981D-9C3E-BBC930CF723A}"/>
              </a:ext>
            </a:extLst>
          </p:cNvPr>
          <p:cNvSpPr/>
          <p:nvPr/>
        </p:nvSpPr>
        <p:spPr>
          <a:xfrm>
            <a:off x="6129210" y="1152143"/>
            <a:ext cx="5593853" cy="555791"/>
          </a:xfrm>
          <a:prstGeom prst="rect">
            <a:avLst/>
          </a:prstGeom>
          <a:noFill/>
          <a:ln/>
        </p:spPr>
        <p:txBody>
          <a:bodyPr wrap="square" rtlCol="0" anchor="ctr"/>
          <a:lstStyle/>
          <a:p>
            <a:pPr marL="0" indent="0">
              <a:buNone/>
            </a:pPr>
            <a:r>
              <a:rPr lang="en-US" sz="3600" b="1" dirty="0">
                <a:solidFill>
                  <a:schemeClr val="tx2">
                    <a:lumMod val="50000"/>
                    <a:lumOff val="50000"/>
                  </a:schemeClr>
                </a:solidFill>
                <a:latin typeface="Calibri" pitchFamily="34" charset="0"/>
                <a:ea typeface="Calibri" pitchFamily="34" charset="-122"/>
                <a:cs typeface="Calibri" pitchFamily="34" charset="-120"/>
              </a:rPr>
              <a:t>The Core Problem</a:t>
            </a:r>
            <a:endParaRPr lang="en-US" sz="3600" dirty="0">
              <a:solidFill>
                <a:schemeClr val="tx2">
                  <a:lumMod val="50000"/>
                  <a:lumOff val="50000"/>
                </a:schemeClr>
              </a:solidFill>
            </a:endParaRPr>
          </a:p>
        </p:txBody>
      </p:sp>
      <p:sp>
        <p:nvSpPr>
          <p:cNvPr id="46" name="Text 24">
            <a:extLst>
              <a:ext uri="{FF2B5EF4-FFF2-40B4-BE49-F238E27FC236}">
                <a16:creationId xmlns:a16="http://schemas.microsoft.com/office/drawing/2014/main" id="{89975778-3752-B794-8D96-395FFD81CE11}"/>
              </a:ext>
            </a:extLst>
          </p:cNvPr>
          <p:cNvSpPr/>
          <p:nvPr/>
        </p:nvSpPr>
        <p:spPr>
          <a:xfrm>
            <a:off x="5917794" y="1763920"/>
            <a:ext cx="377114" cy="395229"/>
          </a:xfrm>
          <a:prstGeom prst="rect">
            <a:avLst/>
          </a:prstGeom>
          <a:noFill/>
          <a:ln/>
        </p:spPr>
        <p:txBody>
          <a:bodyPr wrap="square" rtlCol="0" anchor="ctr"/>
          <a:lstStyle/>
          <a:p>
            <a:pPr marL="0" indent="0">
              <a:buNone/>
            </a:pPr>
            <a:r>
              <a:rPr lang="en-US" sz="2800" dirty="0">
                <a:solidFill>
                  <a:schemeClr val="tx2">
                    <a:lumMod val="50000"/>
                    <a:lumOff val="50000"/>
                  </a:schemeClr>
                </a:solidFill>
                <a:latin typeface="Calibri" pitchFamily="34" charset="0"/>
                <a:ea typeface="Calibri" pitchFamily="34" charset="-122"/>
                <a:cs typeface="Calibri" pitchFamily="34" charset="-120"/>
              </a:rPr>
              <a:t>▸</a:t>
            </a:r>
            <a:endParaRPr lang="en-US" sz="2800" dirty="0">
              <a:solidFill>
                <a:schemeClr val="tx2">
                  <a:lumMod val="50000"/>
                  <a:lumOff val="50000"/>
                </a:schemeClr>
              </a:solidFill>
            </a:endParaRPr>
          </a:p>
        </p:txBody>
      </p:sp>
      <p:sp>
        <p:nvSpPr>
          <p:cNvPr id="47" name="Text 25">
            <a:extLst>
              <a:ext uri="{FF2B5EF4-FFF2-40B4-BE49-F238E27FC236}">
                <a16:creationId xmlns:a16="http://schemas.microsoft.com/office/drawing/2014/main" id="{A5A04E8C-98F2-06D9-859C-08FA1F165276}"/>
              </a:ext>
            </a:extLst>
          </p:cNvPr>
          <p:cNvSpPr/>
          <p:nvPr/>
        </p:nvSpPr>
        <p:spPr>
          <a:xfrm>
            <a:off x="6209296" y="1825582"/>
            <a:ext cx="5513767" cy="319541"/>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Same subtype, different outcomes</a:t>
            </a:r>
            <a:endParaRPr lang="en-US" sz="2400" dirty="0"/>
          </a:p>
        </p:txBody>
      </p:sp>
      <p:sp>
        <p:nvSpPr>
          <p:cNvPr id="48" name="Text 26">
            <a:extLst>
              <a:ext uri="{FF2B5EF4-FFF2-40B4-BE49-F238E27FC236}">
                <a16:creationId xmlns:a16="http://schemas.microsoft.com/office/drawing/2014/main" id="{2796E2A1-4A59-77F0-6286-3B7FC7D98A87}"/>
              </a:ext>
            </a:extLst>
          </p:cNvPr>
          <p:cNvSpPr/>
          <p:nvPr/>
        </p:nvSpPr>
        <p:spPr>
          <a:xfrm>
            <a:off x="6266371" y="2206786"/>
            <a:ext cx="5381980" cy="531089"/>
          </a:xfrm>
          <a:prstGeom prst="rect">
            <a:avLst/>
          </a:prstGeom>
          <a:noFill/>
          <a:ln/>
        </p:spPr>
        <p:txBody>
          <a:bodyPr wrap="square" rtlCol="0" anchor="t"/>
          <a:lstStyle/>
          <a:p>
            <a:pPr marL="0" indent="0">
              <a:buNone/>
            </a:pPr>
            <a:r>
              <a:rPr lang="en-US" sz="1400" dirty="0">
                <a:solidFill>
                  <a:schemeClr val="tx2">
                    <a:lumMod val="10000"/>
                    <a:lumOff val="90000"/>
                  </a:schemeClr>
                </a:solidFill>
                <a:latin typeface="Calibri" pitchFamily="34" charset="0"/>
                <a:ea typeface="Calibri" pitchFamily="34" charset="-122"/>
                <a:cs typeface="Calibri" pitchFamily="34" charset="-120"/>
              </a:rPr>
              <a:t>Two LumA patients get the same treatment. One is cured. One relapses. Why?</a:t>
            </a:r>
            <a:endParaRPr lang="en-US" sz="1400" dirty="0">
              <a:solidFill>
                <a:schemeClr val="tx2">
                  <a:lumMod val="10000"/>
                  <a:lumOff val="90000"/>
                </a:schemeClr>
              </a:solidFill>
            </a:endParaRPr>
          </a:p>
        </p:txBody>
      </p:sp>
      <p:sp>
        <p:nvSpPr>
          <p:cNvPr id="49" name="Text 27">
            <a:extLst>
              <a:ext uri="{FF2B5EF4-FFF2-40B4-BE49-F238E27FC236}">
                <a16:creationId xmlns:a16="http://schemas.microsoft.com/office/drawing/2014/main" id="{B254A59A-AA34-AE4A-D63E-92D45BF1973B}"/>
              </a:ext>
            </a:extLst>
          </p:cNvPr>
          <p:cNvSpPr/>
          <p:nvPr/>
        </p:nvSpPr>
        <p:spPr>
          <a:xfrm>
            <a:off x="5941758" y="2968376"/>
            <a:ext cx="377114" cy="395229"/>
          </a:xfrm>
          <a:prstGeom prst="rect">
            <a:avLst/>
          </a:prstGeom>
          <a:noFill/>
          <a:ln/>
        </p:spPr>
        <p:txBody>
          <a:bodyPr wrap="square" rtlCol="0" anchor="ctr"/>
          <a:lstStyle/>
          <a:p>
            <a:pPr marL="0" indent="0">
              <a:buNone/>
            </a:pPr>
            <a:r>
              <a:rPr lang="en-US" sz="2800" dirty="0">
                <a:solidFill>
                  <a:schemeClr val="tx2">
                    <a:lumMod val="50000"/>
                    <a:lumOff val="50000"/>
                  </a:schemeClr>
                </a:solidFill>
                <a:latin typeface="Calibri" pitchFamily="34" charset="0"/>
                <a:ea typeface="Calibri" pitchFamily="34" charset="-122"/>
                <a:cs typeface="Calibri" pitchFamily="34" charset="-120"/>
              </a:rPr>
              <a:t>▸</a:t>
            </a:r>
            <a:endParaRPr lang="en-US" sz="2800" dirty="0">
              <a:solidFill>
                <a:schemeClr val="tx2">
                  <a:lumMod val="50000"/>
                  <a:lumOff val="50000"/>
                </a:schemeClr>
              </a:solidFill>
            </a:endParaRPr>
          </a:p>
        </p:txBody>
      </p:sp>
      <p:sp>
        <p:nvSpPr>
          <p:cNvPr id="50" name="Text 28">
            <a:extLst>
              <a:ext uri="{FF2B5EF4-FFF2-40B4-BE49-F238E27FC236}">
                <a16:creationId xmlns:a16="http://schemas.microsoft.com/office/drawing/2014/main" id="{79E4B479-A361-F83E-C46F-705F5C7B2C85}"/>
              </a:ext>
            </a:extLst>
          </p:cNvPr>
          <p:cNvSpPr/>
          <p:nvPr/>
        </p:nvSpPr>
        <p:spPr>
          <a:xfrm>
            <a:off x="6261797" y="2968376"/>
            <a:ext cx="5446634" cy="395229"/>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Standard classification is incomplete</a:t>
            </a:r>
            <a:endParaRPr lang="en-US" sz="2400" dirty="0"/>
          </a:p>
        </p:txBody>
      </p:sp>
      <p:sp>
        <p:nvSpPr>
          <p:cNvPr id="51" name="Text 29">
            <a:extLst>
              <a:ext uri="{FF2B5EF4-FFF2-40B4-BE49-F238E27FC236}">
                <a16:creationId xmlns:a16="http://schemas.microsoft.com/office/drawing/2014/main" id="{7FC8B160-703D-801D-8C54-567991639918}"/>
              </a:ext>
            </a:extLst>
          </p:cNvPr>
          <p:cNvSpPr/>
          <p:nvPr/>
        </p:nvSpPr>
        <p:spPr>
          <a:xfrm>
            <a:off x="6298173" y="3323107"/>
            <a:ext cx="5593853" cy="531089"/>
          </a:xfrm>
          <a:prstGeom prst="rect">
            <a:avLst/>
          </a:prstGeom>
          <a:noFill/>
          <a:ln/>
        </p:spPr>
        <p:txBody>
          <a:bodyPr wrap="square" rtlCol="0" anchor="t"/>
          <a:lstStyle/>
          <a:p>
            <a:pPr marL="0" indent="0">
              <a:buNone/>
            </a:pPr>
            <a:r>
              <a:rPr lang="en-US" sz="1400" dirty="0">
                <a:solidFill>
                  <a:schemeClr val="tx2">
                    <a:lumMod val="10000"/>
                    <a:lumOff val="90000"/>
                  </a:schemeClr>
                </a:solidFill>
                <a:latin typeface="Calibri" pitchFamily="34" charset="0"/>
                <a:ea typeface="Calibri" pitchFamily="34" charset="-122"/>
                <a:cs typeface="Calibri" pitchFamily="34" charset="-120"/>
              </a:rPr>
              <a:t>PAM50 describes tumour cell biology, not the surrounding immune microenvironment.</a:t>
            </a:r>
            <a:endParaRPr lang="en-US" sz="1400" dirty="0">
              <a:solidFill>
                <a:schemeClr val="tx2">
                  <a:lumMod val="10000"/>
                  <a:lumOff val="90000"/>
                </a:schemeClr>
              </a:solidFill>
            </a:endParaRPr>
          </a:p>
        </p:txBody>
      </p:sp>
      <p:sp>
        <p:nvSpPr>
          <p:cNvPr id="52" name="Text 30">
            <a:extLst>
              <a:ext uri="{FF2B5EF4-FFF2-40B4-BE49-F238E27FC236}">
                <a16:creationId xmlns:a16="http://schemas.microsoft.com/office/drawing/2014/main" id="{406BB5E3-D39E-54BE-2719-7B29BF58F9CB}"/>
              </a:ext>
            </a:extLst>
          </p:cNvPr>
          <p:cNvSpPr/>
          <p:nvPr/>
        </p:nvSpPr>
        <p:spPr>
          <a:xfrm>
            <a:off x="5946808" y="4131614"/>
            <a:ext cx="377114" cy="395229"/>
          </a:xfrm>
          <a:prstGeom prst="rect">
            <a:avLst/>
          </a:prstGeom>
          <a:noFill/>
          <a:ln/>
        </p:spPr>
        <p:txBody>
          <a:bodyPr wrap="square" rtlCol="0" anchor="ctr"/>
          <a:lstStyle/>
          <a:p>
            <a:pPr marL="0" indent="0">
              <a:buNone/>
            </a:pPr>
            <a:r>
              <a:rPr lang="en-US" sz="2800" dirty="0">
                <a:solidFill>
                  <a:schemeClr val="tx2">
                    <a:lumMod val="50000"/>
                    <a:lumOff val="50000"/>
                  </a:schemeClr>
                </a:solidFill>
                <a:latin typeface="Calibri" pitchFamily="34" charset="0"/>
                <a:ea typeface="Calibri" pitchFamily="34" charset="-122"/>
                <a:cs typeface="Calibri" pitchFamily="34" charset="-120"/>
              </a:rPr>
              <a:t>▸</a:t>
            </a:r>
            <a:endParaRPr lang="en-US" sz="2800" dirty="0">
              <a:solidFill>
                <a:schemeClr val="tx2">
                  <a:lumMod val="50000"/>
                  <a:lumOff val="50000"/>
                </a:schemeClr>
              </a:solidFill>
            </a:endParaRPr>
          </a:p>
        </p:txBody>
      </p:sp>
      <p:sp>
        <p:nvSpPr>
          <p:cNvPr id="53" name="Text 31">
            <a:extLst>
              <a:ext uri="{FF2B5EF4-FFF2-40B4-BE49-F238E27FC236}">
                <a16:creationId xmlns:a16="http://schemas.microsoft.com/office/drawing/2014/main" id="{9945CDB3-2119-2EF4-AEE3-AC257D1874F1}"/>
              </a:ext>
            </a:extLst>
          </p:cNvPr>
          <p:cNvSpPr/>
          <p:nvPr/>
        </p:nvSpPr>
        <p:spPr>
          <a:xfrm>
            <a:off x="6266847" y="4131614"/>
            <a:ext cx="5153887" cy="395229"/>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Immune context is missing</a:t>
            </a:r>
            <a:endParaRPr lang="en-US" sz="2400" dirty="0"/>
          </a:p>
        </p:txBody>
      </p:sp>
      <p:sp>
        <p:nvSpPr>
          <p:cNvPr id="54" name="Text 32">
            <a:extLst>
              <a:ext uri="{FF2B5EF4-FFF2-40B4-BE49-F238E27FC236}">
                <a16:creationId xmlns:a16="http://schemas.microsoft.com/office/drawing/2014/main" id="{07E68648-3291-029A-7739-2F0951B4334D}"/>
              </a:ext>
            </a:extLst>
          </p:cNvPr>
          <p:cNvSpPr/>
          <p:nvPr/>
        </p:nvSpPr>
        <p:spPr>
          <a:xfrm>
            <a:off x="6266847" y="4433366"/>
            <a:ext cx="5593853" cy="531089"/>
          </a:xfrm>
          <a:prstGeom prst="rect">
            <a:avLst/>
          </a:prstGeom>
          <a:noFill/>
          <a:ln/>
        </p:spPr>
        <p:txBody>
          <a:bodyPr wrap="square" rtlCol="0" anchor="t"/>
          <a:lstStyle/>
          <a:p>
            <a:pPr marL="0" indent="0">
              <a:buNone/>
            </a:pPr>
            <a:r>
              <a:rPr lang="en-US" sz="1400" dirty="0">
                <a:solidFill>
                  <a:schemeClr val="tx2">
                    <a:lumMod val="10000"/>
                    <a:lumOff val="90000"/>
                  </a:schemeClr>
                </a:solidFill>
                <a:latin typeface="Calibri" pitchFamily="34" charset="0"/>
                <a:ea typeface="Calibri" pitchFamily="34" charset="-122"/>
                <a:cs typeface="Calibri" pitchFamily="34" charset="-120"/>
              </a:rPr>
              <a:t>TILs, macrophage polarisation, and checkpoint expression vary enormously within each subtype.</a:t>
            </a:r>
            <a:endParaRPr lang="en-US" sz="1400" dirty="0">
              <a:solidFill>
                <a:schemeClr val="tx2">
                  <a:lumMod val="10000"/>
                  <a:lumOff val="90000"/>
                </a:schemeClr>
              </a:solidFill>
            </a:endParaRPr>
          </a:p>
        </p:txBody>
      </p:sp>
      <p:sp>
        <p:nvSpPr>
          <p:cNvPr id="55" name="Text 33">
            <a:extLst>
              <a:ext uri="{FF2B5EF4-FFF2-40B4-BE49-F238E27FC236}">
                <a16:creationId xmlns:a16="http://schemas.microsoft.com/office/drawing/2014/main" id="{B61F247D-BA78-DC51-C9E7-F417DE843DBB}"/>
              </a:ext>
            </a:extLst>
          </p:cNvPr>
          <p:cNvSpPr/>
          <p:nvPr/>
        </p:nvSpPr>
        <p:spPr>
          <a:xfrm>
            <a:off x="5947310" y="5346010"/>
            <a:ext cx="377114" cy="395229"/>
          </a:xfrm>
          <a:prstGeom prst="rect">
            <a:avLst/>
          </a:prstGeom>
          <a:noFill/>
          <a:ln/>
        </p:spPr>
        <p:txBody>
          <a:bodyPr wrap="square" rtlCol="0" anchor="ctr"/>
          <a:lstStyle/>
          <a:p>
            <a:pPr marL="0" indent="0">
              <a:buNone/>
            </a:pPr>
            <a:r>
              <a:rPr lang="en-US" sz="2800" b="1" dirty="0">
                <a:solidFill>
                  <a:schemeClr val="tx2">
                    <a:lumMod val="50000"/>
                    <a:lumOff val="50000"/>
                  </a:schemeClr>
                </a:solidFill>
                <a:latin typeface="Calibri" pitchFamily="34" charset="0"/>
                <a:ea typeface="Calibri" pitchFamily="34" charset="-122"/>
                <a:cs typeface="Calibri" pitchFamily="34" charset="-120"/>
              </a:rPr>
              <a:t>▸</a:t>
            </a:r>
            <a:endParaRPr lang="en-US" sz="2800" b="1" dirty="0">
              <a:solidFill>
                <a:schemeClr val="tx2">
                  <a:lumMod val="50000"/>
                  <a:lumOff val="50000"/>
                </a:schemeClr>
              </a:solidFill>
            </a:endParaRPr>
          </a:p>
        </p:txBody>
      </p:sp>
      <p:sp>
        <p:nvSpPr>
          <p:cNvPr id="56" name="Text 34">
            <a:extLst>
              <a:ext uri="{FF2B5EF4-FFF2-40B4-BE49-F238E27FC236}">
                <a16:creationId xmlns:a16="http://schemas.microsoft.com/office/drawing/2014/main" id="{19B08173-07B7-B8D3-BF32-EEA887BA40B7}"/>
              </a:ext>
            </a:extLst>
          </p:cNvPr>
          <p:cNvSpPr/>
          <p:nvPr/>
        </p:nvSpPr>
        <p:spPr>
          <a:xfrm>
            <a:off x="6269179" y="5346010"/>
            <a:ext cx="5153887" cy="395229"/>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Treatment decisions ignore immunity</a:t>
            </a:r>
            <a:endParaRPr lang="en-US" sz="2400" dirty="0"/>
          </a:p>
        </p:txBody>
      </p:sp>
      <p:sp>
        <p:nvSpPr>
          <p:cNvPr id="57" name="Text 35">
            <a:extLst>
              <a:ext uri="{FF2B5EF4-FFF2-40B4-BE49-F238E27FC236}">
                <a16:creationId xmlns:a16="http://schemas.microsoft.com/office/drawing/2014/main" id="{FC01D088-D6A2-019E-FE5E-145BD9AA43DD}"/>
              </a:ext>
            </a:extLst>
          </p:cNvPr>
          <p:cNvSpPr/>
          <p:nvPr/>
        </p:nvSpPr>
        <p:spPr>
          <a:xfrm>
            <a:off x="6269179" y="5703819"/>
            <a:ext cx="5153887" cy="531089"/>
          </a:xfrm>
          <a:prstGeom prst="rect">
            <a:avLst/>
          </a:prstGeom>
          <a:noFill/>
          <a:ln/>
        </p:spPr>
        <p:txBody>
          <a:bodyPr wrap="square" rtlCol="0" anchor="t"/>
          <a:lstStyle/>
          <a:p>
            <a:pPr marL="0" indent="0">
              <a:buNone/>
            </a:pPr>
            <a:r>
              <a:rPr lang="en-US" sz="1400" dirty="0">
                <a:solidFill>
                  <a:schemeClr val="tx2">
                    <a:lumMod val="10000"/>
                    <a:lumOff val="90000"/>
                  </a:schemeClr>
                </a:solidFill>
                <a:latin typeface="Calibri" pitchFamily="34" charset="0"/>
                <a:ea typeface="Calibri" pitchFamily="34" charset="-122"/>
                <a:cs typeface="Calibri" pitchFamily="34" charset="-120"/>
              </a:rPr>
              <a:t>Immunotherapy eligibility based on PAM50 alone misses the immune landscape determining response.</a:t>
            </a:r>
            <a:endParaRPr lang="en-US" sz="1400" dirty="0">
              <a:solidFill>
                <a:schemeClr val="tx2">
                  <a:lumMod val="10000"/>
                  <a:lumOff val="90000"/>
                </a:schemeClr>
              </a:solidFill>
            </a:endParaRPr>
          </a:p>
        </p:txBody>
      </p:sp>
    </p:spTree>
    <p:extLst>
      <p:ext uri="{BB962C8B-B14F-4D97-AF65-F5344CB8AC3E}">
        <p14:creationId xmlns:p14="http://schemas.microsoft.com/office/powerpoint/2010/main" val="950511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DFEFD2-15DF-8CFE-EFD1-6A848EE27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796FA-4059-0A93-8074-801D6832B150}"/>
              </a:ext>
            </a:extLst>
          </p:cNvPr>
          <p:cNvSpPr>
            <a:spLocks noGrp="1"/>
          </p:cNvSpPr>
          <p:nvPr>
            <p:ph type="title"/>
          </p:nvPr>
        </p:nvSpPr>
        <p:spPr>
          <a:xfrm>
            <a:off x="941832" y="155448"/>
            <a:ext cx="11000232" cy="621792"/>
          </a:xfrm>
        </p:spPr>
        <p:txBody>
          <a:bodyPr>
            <a:normAutofit/>
          </a:bodyPr>
          <a:lstStyle/>
          <a:p>
            <a:r>
              <a:rPr lang="en-US"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Why immune heterogeneity matters</a:t>
            </a:r>
            <a:endParaRPr lang="en-CA"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292251C-822C-0A96-3A64-5640D4BBFD0B}"/>
              </a:ext>
            </a:extLst>
          </p:cNvPr>
          <p:cNvPicPr>
            <a:picLocks noChangeAspect="1"/>
          </p:cNvPicPr>
          <p:nvPr/>
        </p:nvPicPr>
        <p:blipFill>
          <a:blip r:embed="rId3"/>
          <a:stretch>
            <a:fillRect/>
          </a:stretch>
        </p:blipFill>
        <p:spPr>
          <a:xfrm>
            <a:off x="8685271" y="1523069"/>
            <a:ext cx="3455440" cy="3438163"/>
          </a:xfrm>
          <a:prstGeom prst="rect">
            <a:avLst/>
          </a:prstGeom>
        </p:spPr>
      </p:pic>
      <p:sp>
        <p:nvSpPr>
          <p:cNvPr id="5" name="Shape 2">
            <a:extLst>
              <a:ext uri="{FF2B5EF4-FFF2-40B4-BE49-F238E27FC236}">
                <a16:creationId xmlns:a16="http://schemas.microsoft.com/office/drawing/2014/main" id="{374CC9D4-FBD6-E956-CCD4-D217DFCD6E49}"/>
              </a:ext>
            </a:extLst>
          </p:cNvPr>
          <p:cNvSpPr/>
          <p:nvPr/>
        </p:nvSpPr>
        <p:spPr>
          <a:xfrm>
            <a:off x="135631" y="1163832"/>
            <a:ext cx="8503920" cy="1342848"/>
          </a:xfrm>
          <a:prstGeom prst="rect">
            <a:avLst/>
          </a:prstGeom>
          <a:solidFill>
            <a:srgbClr val="FFFFFF"/>
          </a:solidFill>
          <a:ln w="12700">
            <a:solidFill>
              <a:schemeClr val="accent1">
                <a:lumMod val="75000"/>
              </a:schemeClr>
            </a:solidFill>
            <a:prstDash val="solid"/>
          </a:ln>
          <a:effectLst>
            <a:outerShdw blurRad="127000" dist="38100" dir="8100000" algn="bl" rotWithShape="0">
              <a:srgbClr val="000000">
                <a:alpha val="10000"/>
              </a:srgbClr>
            </a:outerShdw>
          </a:effectLst>
        </p:spPr>
        <p:txBody>
          <a:bodyPr/>
          <a:lstStyle/>
          <a:p>
            <a:endParaRPr lang="en-CA"/>
          </a:p>
        </p:txBody>
      </p:sp>
      <p:sp>
        <p:nvSpPr>
          <p:cNvPr id="6" name="Shape 3">
            <a:extLst>
              <a:ext uri="{FF2B5EF4-FFF2-40B4-BE49-F238E27FC236}">
                <a16:creationId xmlns:a16="http://schemas.microsoft.com/office/drawing/2014/main" id="{47A9A4A8-51B6-20BD-90B9-733852C0FDE3}"/>
              </a:ext>
            </a:extLst>
          </p:cNvPr>
          <p:cNvSpPr/>
          <p:nvPr/>
        </p:nvSpPr>
        <p:spPr>
          <a:xfrm>
            <a:off x="199639" y="1456440"/>
            <a:ext cx="512064" cy="512064"/>
          </a:xfrm>
          <a:prstGeom prst="ellipse">
            <a:avLst/>
          </a:prstGeom>
          <a:solidFill>
            <a:schemeClr val="accent1">
              <a:lumMod val="75000"/>
            </a:schemeClr>
          </a:solidFill>
          <a:ln w="12700">
            <a:solidFill>
              <a:schemeClr val="accent1">
                <a:lumMod val="75000"/>
              </a:schemeClr>
            </a:solidFill>
            <a:prstDash val="solid"/>
          </a:ln>
        </p:spPr>
        <p:txBody>
          <a:bodyPr/>
          <a:lstStyle/>
          <a:p>
            <a:endParaRPr lang="en-CA"/>
          </a:p>
        </p:txBody>
      </p:sp>
      <p:sp>
        <p:nvSpPr>
          <p:cNvPr id="7" name="Text 4">
            <a:extLst>
              <a:ext uri="{FF2B5EF4-FFF2-40B4-BE49-F238E27FC236}">
                <a16:creationId xmlns:a16="http://schemas.microsoft.com/office/drawing/2014/main" id="{135C9ABA-2C2C-D13A-4734-4014AB8AADA5}"/>
              </a:ext>
            </a:extLst>
          </p:cNvPr>
          <p:cNvSpPr/>
          <p:nvPr/>
        </p:nvSpPr>
        <p:spPr>
          <a:xfrm>
            <a:off x="199639" y="1456440"/>
            <a:ext cx="512064" cy="51206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5">
            <a:extLst>
              <a:ext uri="{FF2B5EF4-FFF2-40B4-BE49-F238E27FC236}">
                <a16:creationId xmlns:a16="http://schemas.microsoft.com/office/drawing/2014/main" id="{32EF86F6-6E2E-67CE-2736-8D0E9F6492C7}"/>
              </a:ext>
            </a:extLst>
          </p:cNvPr>
          <p:cNvSpPr/>
          <p:nvPr/>
        </p:nvSpPr>
        <p:spPr>
          <a:xfrm>
            <a:off x="821431" y="1218696"/>
            <a:ext cx="7680960" cy="347472"/>
          </a:xfrm>
          <a:prstGeom prst="rect">
            <a:avLst/>
          </a:prstGeom>
          <a:noFill/>
          <a:ln/>
        </p:spPr>
        <p:txBody>
          <a:bodyPr wrap="square" rtlCol="0" anchor="ctr"/>
          <a:lstStyle/>
          <a:p>
            <a:pPr marL="0" indent="0">
              <a:buNone/>
            </a:pPr>
            <a:r>
              <a:rPr lang="en-US" sz="2800" b="1" dirty="0">
                <a:solidFill>
                  <a:schemeClr val="accent1">
                    <a:lumMod val="75000"/>
                  </a:schemeClr>
                </a:solidFill>
                <a:latin typeface="Calibri" pitchFamily="34" charset="0"/>
                <a:ea typeface="Calibri" pitchFamily="34" charset="-122"/>
                <a:cs typeface="Calibri" pitchFamily="34" charset="-120"/>
              </a:rPr>
              <a:t>Checkpoint Blockade Response Prediction</a:t>
            </a:r>
            <a:endParaRPr lang="en-US" sz="2800" dirty="0">
              <a:solidFill>
                <a:schemeClr val="accent1">
                  <a:lumMod val="75000"/>
                </a:schemeClr>
              </a:solidFill>
            </a:endParaRPr>
          </a:p>
        </p:txBody>
      </p:sp>
      <p:sp>
        <p:nvSpPr>
          <p:cNvPr id="29" name="Text 6">
            <a:extLst>
              <a:ext uri="{FF2B5EF4-FFF2-40B4-BE49-F238E27FC236}">
                <a16:creationId xmlns:a16="http://schemas.microsoft.com/office/drawing/2014/main" id="{7658EFFB-9977-7840-B3BB-42D72ADA3A89}"/>
              </a:ext>
            </a:extLst>
          </p:cNvPr>
          <p:cNvSpPr/>
          <p:nvPr/>
        </p:nvSpPr>
        <p:spPr>
          <a:xfrm>
            <a:off x="821431" y="1584456"/>
            <a:ext cx="6675120" cy="922224"/>
          </a:xfrm>
          <a:prstGeom prst="rect">
            <a:avLst/>
          </a:prstGeom>
          <a:noFill/>
          <a:ln/>
        </p:spPr>
        <p:txBody>
          <a:bodyPr wrap="square" rtlCol="0" anchor="t"/>
          <a:lstStyle/>
          <a:p>
            <a:r>
              <a:rPr lang="en-US" sz="1400" dirty="0">
                <a:solidFill>
                  <a:srgbClr val="1E293B"/>
                </a:solidFill>
                <a:latin typeface="Calibri" pitchFamily="34" charset="0"/>
                <a:ea typeface="Calibri" pitchFamily="34" charset="-122"/>
                <a:cs typeface="Calibri" pitchFamily="34" charset="-120"/>
              </a:rPr>
              <a:t>Two patients with the same PAM50 subtype may have completely different immune landscapes. One eligible for immunotherapy, one is not. Without immune profiling, this distinction is missed. Eg: PD-1/PD-L1 inhibitors work only in tumors with T cell infiltration. </a:t>
            </a:r>
            <a:endParaRPr lang="en-US" sz="1400" dirty="0"/>
          </a:p>
        </p:txBody>
      </p:sp>
      <p:sp>
        <p:nvSpPr>
          <p:cNvPr id="31" name="Text 8">
            <a:extLst>
              <a:ext uri="{FF2B5EF4-FFF2-40B4-BE49-F238E27FC236}">
                <a16:creationId xmlns:a16="http://schemas.microsoft.com/office/drawing/2014/main" id="{6BDFC288-E08E-24A1-915A-259427108DC4}"/>
              </a:ext>
            </a:extLst>
          </p:cNvPr>
          <p:cNvSpPr/>
          <p:nvPr/>
        </p:nvSpPr>
        <p:spPr>
          <a:xfrm>
            <a:off x="7463028" y="1163832"/>
            <a:ext cx="1176521" cy="1342848"/>
          </a:xfrm>
          <a:prstGeom prst="rect">
            <a:avLst/>
          </a:prstGeom>
          <a:solidFill>
            <a:srgbClr val="7D0245"/>
          </a:solidFill>
          <a:ln/>
        </p:spPr>
        <p:txBody>
          <a:bodyPr wrap="square" rtlCol="0" anchor="ctr"/>
          <a:lstStyle/>
          <a:p>
            <a:pPr marL="0" indent="0" algn="ctr">
              <a:buNone/>
            </a:pPr>
            <a:r>
              <a:rPr lang="en-US" sz="1400" i="1" dirty="0">
                <a:solidFill>
                  <a:schemeClr val="bg1"/>
                </a:solidFill>
                <a:latin typeface="Calibri" pitchFamily="34" charset="0"/>
                <a:ea typeface="Calibri" pitchFamily="34" charset="-122"/>
                <a:cs typeface="Calibri" pitchFamily="34" charset="-120"/>
              </a:rPr>
              <a:t>Clinical impact: patient selection for immunotherapy</a:t>
            </a:r>
            <a:endParaRPr lang="en-US" sz="1400" dirty="0">
              <a:solidFill>
                <a:schemeClr val="bg1"/>
              </a:solidFill>
            </a:endParaRPr>
          </a:p>
        </p:txBody>
      </p:sp>
      <p:sp>
        <p:nvSpPr>
          <p:cNvPr id="32" name="Shape 9">
            <a:extLst>
              <a:ext uri="{FF2B5EF4-FFF2-40B4-BE49-F238E27FC236}">
                <a16:creationId xmlns:a16="http://schemas.microsoft.com/office/drawing/2014/main" id="{8F4AF858-B97E-2F99-EE5A-687C90D61EA9}"/>
              </a:ext>
            </a:extLst>
          </p:cNvPr>
          <p:cNvSpPr/>
          <p:nvPr/>
        </p:nvSpPr>
        <p:spPr>
          <a:xfrm>
            <a:off x="135631" y="2948232"/>
            <a:ext cx="8503920" cy="1322016"/>
          </a:xfrm>
          <a:prstGeom prst="rect">
            <a:avLst/>
          </a:prstGeom>
          <a:solidFill>
            <a:srgbClr val="FFFFFF"/>
          </a:solidFill>
          <a:ln w="12700">
            <a:solidFill>
              <a:srgbClr val="553C9A"/>
            </a:solidFill>
            <a:prstDash val="solid"/>
          </a:ln>
          <a:effectLst>
            <a:outerShdw blurRad="127000" dist="38100" dir="8100000" algn="bl" rotWithShape="0">
              <a:srgbClr val="000000">
                <a:alpha val="10000"/>
              </a:srgbClr>
            </a:outerShdw>
          </a:effectLst>
        </p:spPr>
        <p:txBody>
          <a:bodyPr/>
          <a:lstStyle/>
          <a:p>
            <a:endParaRPr lang="en-CA"/>
          </a:p>
        </p:txBody>
      </p:sp>
      <p:sp>
        <p:nvSpPr>
          <p:cNvPr id="33" name="Shape 10">
            <a:extLst>
              <a:ext uri="{FF2B5EF4-FFF2-40B4-BE49-F238E27FC236}">
                <a16:creationId xmlns:a16="http://schemas.microsoft.com/office/drawing/2014/main" id="{CD6EC2A5-175C-9B9C-CF6D-8D751CEAE698}"/>
              </a:ext>
            </a:extLst>
          </p:cNvPr>
          <p:cNvSpPr/>
          <p:nvPr/>
        </p:nvSpPr>
        <p:spPr>
          <a:xfrm>
            <a:off x="199639" y="3240840"/>
            <a:ext cx="512064" cy="512064"/>
          </a:xfrm>
          <a:prstGeom prst="ellipse">
            <a:avLst/>
          </a:prstGeom>
          <a:solidFill>
            <a:srgbClr val="553C9A"/>
          </a:solidFill>
          <a:ln w="12700">
            <a:solidFill>
              <a:srgbClr val="553C9A"/>
            </a:solidFill>
            <a:prstDash val="solid"/>
          </a:ln>
        </p:spPr>
        <p:txBody>
          <a:bodyPr/>
          <a:lstStyle/>
          <a:p>
            <a:endParaRPr lang="en-CA"/>
          </a:p>
        </p:txBody>
      </p:sp>
      <p:sp>
        <p:nvSpPr>
          <p:cNvPr id="34" name="Text 11">
            <a:extLst>
              <a:ext uri="{FF2B5EF4-FFF2-40B4-BE49-F238E27FC236}">
                <a16:creationId xmlns:a16="http://schemas.microsoft.com/office/drawing/2014/main" id="{CE1B37E0-489D-8D74-02E9-78E65B4B2862}"/>
              </a:ext>
            </a:extLst>
          </p:cNvPr>
          <p:cNvSpPr/>
          <p:nvPr/>
        </p:nvSpPr>
        <p:spPr>
          <a:xfrm>
            <a:off x="199639" y="3240840"/>
            <a:ext cx="512064" cy="512064"/>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02</a:t>
            </a:r>
            <a:endParaRPr lang="en-US" dirty="0"/>
          </a:p>
        </p:txBody>
      </p:sp>
      <p:sp>
        <p:nvSpPr>
          <p:cNvPr id="35" name="Text 12">
            <a:extLst>
              <a:ext uri="{FF2B5EF4-FFF2-40B4-BE49-F238E27FC236}">
                <a16:creationId xmlns:a16="http://schemas.microsoft.com/office/drawing/2014/main" id="{07997BCB-FC12-391F-9CBC-55BCD3DD0D6C}"/>
              </a:ext>
            </a:extLst>
          </p:cNvPr>
          <p:cNvSpPr/>
          <p:nvPr/>
        </p:nvSpPr>
        <p:spPr>
          <a:xfrm>
            <a:off x="821431" y="3003096"/>
            <a:ext cx="7680960" cy="347472"/>
          </a:xfrm>
          <a:prstGeom prst="rect">
            <a:avLst/>
          </a:prstGeom>
          <a:noFill/>
          <a:ln/>
        </p:spPr>
        <p:txBody>
          <a:bodyPr wrap="square" rtlCol="0" anchor="ctr"/>
          <a:lstStyle/>
          <a:p>
            <a:pPr marL="0" indent="0">
              <a:buNone/>
            </a:pPr>
            <a:r>
              <a:rPr lang="en-US" sz="2800" b="1" dirty="0">
                <a:solidFill>
                  <a:srgbClr val="553C9A"/>
                </a:solidFill>
                <a:latin typeface="Calibri" pitchFamily="34" charset="0"/>
                <a:ea typeface="Calibri" pitchFamily="34" charset="-122"/>
                <a:cs typeface="Calibri" pitchFamily="34" charset="-120"/>
              </a:rPr>
              <a:t>Survival Beyond Standard Prognostic Factors</a:t>
            </a:r>
            <a:endParaRPr lang="en-US" sz="2800" dirty="0"/>
          </a:p>
        </p:txBody>
      </p:sp>
      <p:sp>
        <p:nvSpPr>
          <p:cNvPr id="36" name="Text 13">
            <a:extLst>
              <a:ext uri="{FF2B5EF4-FFF2-40B4-BE49-F238E27FC236}">
                <a16:creationId xmlns:a16="http://schemas.microsoft.com/office/drawing/2014/main" id="{AF26F0DC-EFAE-F69C-0B8D-47D1EFF33974}"/>
              </a:ext>
            </a:extLst>
          </p:cNvPr>
          <p:cNvSpPr/>
          <p:nvPr/>
        </p:nvSpPr>
        <p:spPr>
          <a:xfrm>
            <a:off x="821431" y="3368856"/>
            <a:ext cx="6675120" cy="894792"/>
          </a:xfrm>
          <a:prstGeom prst="rect">
            <a:avLst/>
          </a:prstGeom>
          <a:noFill/>
          <a:ln/>
        </p:spPr>
        <p:txBody>
          <a:bodyPr wrap="square" rtlCol="0" anchor="t"/>
          <a:lstStyle/>
          <a:p>
            <a:r>
              <a:rPr lang="en-US" sz="1400" dirty="0">
                <a:solidFill>
                  <a:srgbClr val="1E293B"/>
                </a:solidFill>
                <a:latin typeface="Calibri" pitchFamily="34" charset="0"/>
                <a:ea typeface="Calibri" pitchFamily="34" charset="-122"/>
                <a:cs typeface="Calibri" pitchFamily="34" charset="-120"/>
              </a:rPr>
              <a:t>Immune signal is not captured in standard clinical staging. Eg: </a:t>
            </a:r>
            <a:r>
              <a:rPr lang="en-US" sz="1400" dirty="0" err="1">
                <a:solidFill>
                  <a:srgbClr val="1E293B"/>
                </a:solidFill>
                <a:latin typeface="Calibri" pitchFamily="34" charset="0"/>
                <a:ea typeface="Calibri" pitchFamily="34" charset="-122"/>
                <a:cs typeface="Calibri" pitchFamily="34" charset="-120"/>
              </a:rPr>
              <a:t>Tumour</a:t>
            </a:r>
            <a:r>
              <a:rPr lang="en-US" sz="1400" dirty="0">
                <a:solidFill>
                  <a:srgbClr val="1E293B"/>
                </a:solidFill>
                <a:latin typeface="Calibri" pitchFamily="34" charset="0"/>
                <a:ea typeface="Calibri" pitchFamily="34" charset="-122"/>
                <a:cs typeface="Calibri" pitchFamily="34" charset="-120"/>
              </a:rPr>
              <a:t>-infiltrating lymphocyte (TIL) scores predict survival independently of tumour stage, grade, and PAM50 subtype. High TIL patients have better outcomes in Basal and Her2 breast cancer. </a:t>
            </a:r>
            <a:endParaRPr lang="en-US" sz="1400" dirty="0"/>
          </a:p>
        </p:txBody>
      </p:sp>
      <p:sp>
        <p:nvSpPr>
          <p:cNvPr id="38" name="Text 15">
            <a:extLst>
              <a:ext uri="{FF2B5EF4-FFF2-40B4-BE49-F238E27FC236}">
                <a16:creationId xmlns:a16="http://schemas.microsoft.com/office/drawing/2014/main" id="{5F1007B9-1310-244F-BCB1-65CE1FB0718B}"/>
              </a:ext>
            </a:extLst>
          </p:cNvPr>
          <p:cNvSpPr/>
          <p:nvPr/>
        </p:nvSpPr>
        <p:spPr>
          <a:xfrm>
            <a:off x="7463028" y="2942925"/>
            <a:ext cx="1176521" cy="1327323"/>
          </a:xfrm>
          <a:prstGeom prst="rect">
            <a:avLst/>
          </a:prstGeom>
          <a:solidFill>
            <a:srgbClr val="553C9A"/>
          </a:solidFill>
          <a:ln/>
        </p:spPr>
        <p:txBody>
          <a:bodyPr wrap="square" rtlCol="0" anchor="ctr"/>
          <a:lstStyle/>
          <a:p>
            <a:pPr marL="0" indent="0" algn="ctr">
              <a:buNone/>
            </a:pPr>
            <a:r>
              <a:rPr lang="en-US" sz="1400" i="1" dirty="0">
                <a:solidFill>
                  <a:schemeClr val="bg1"/>
                </a:solidFill>
                <a:latin typeface="Calibri" pitchFamily="34" charset="0"/>
                <a:ea typeface="Calibri" pitchFamily="34" charset="-122"/>
                <a:cs typeface="Calibri" pitchFamily="34" charset="-120"/>
              </a:rPr>
              <a:t>Clinical impact: independent prognostic biomarker</a:t>
            </a:r>
            <a:endParaRPr lang="en-US" sz="1400" dirty="0">
              <a:solidFill>
                <a:schemeClr val="bg1"/>
              </a:solidFill>
            </a:endParaRPr>
          </a:p>
        </p:txBody>
      </p:sp>
      <p:sp>
        <p:nvSpPr>
          <p:cNvPr id="39" name="Shape 16">
            <a:extLst>
              <a:ext uri="{FF2B5EF4-FFF2-40B4-BE49-F238E27FC236}">
                <a16:creationId xmlns:a16="http://schemas.microsoft.com/office/drawing/2014/main" id="{7E1EC39F-42DA-7720-C608-C4D9EFA62C48}"/>
              </a:ext>
            </a:extLst>
          </p:cNvPr>
          <p:cNvSpPr/>
          <p:nvPr/>
        </p:nvSpPr>
        <p:spPr>
          <a:xfrm>
            <a:off x="126105" y="4598112"/>
            <a:ext cx="8513445" cy="1322016"/>
          </a:xfrm>
          <a:prstGeom prst="rect">
            <a:avLst/>
          </a:prstGeom>
          <a:solidFill>
            <a:srgbClr val="FFFFFF"/>
          </a:solidFill>
          <a:ln w="12700">
            <a:solidFill>
              <a:srgbClr val="276749"/>
            </a:solidFill>
            <a:prstDash val="solid"/>
          </a:ln>
          <a:effectLst>
            <a:outerShdw blurRad="127000" dist="38100" dir="8100000" algn="bl" rotWithShape="0">
              <a:srgbClr val="000000">
                <a:alpha val="10000"/>
              </a:srgbClr>
            </a:outerShdw>
          </a:effectLst>
        </p:spPr>
        <p:txBody>
          <a:bodyPr/>
          <a:lstStyle/>
          <a:p>
            <a:endParaRPr lang="en-CA"/>
          </a:p>
        </p:txBody>
      </p:sp>
      <p:sp>
        <p:nvSpPr>
          <p:cNvPr id="40" name="Shape 17">
            <a:extLst>
              <a:ext uri="{FF2B5EF4-FFF2-40B4-BE49-F238E27FC236}">
                <a16:creationId xmlns:a16="http://schemas.microsoft.com/office/drawing/2014/main" id="{0F3C9C65-7E2F-FEB1-DC8A-FF393D6FAEE5}"/>
              </a:ext>
            </a:extLst>
          </p:cNvPr>
          <p:cNvSpPr/>
          <p:nvPr/>
        </p:nvSpPr>
        <p:spPr>
          <a:xfrm>
            <a:off x="208397" y="4819935"/>
            <a:ext cx="474821" cy="548640"/>
          </a:xfrm>
          <a:prstGeom prst="ellipse">
            <a:avLst/>
          </a:prstGeom>
          <a:solidFill>
            <a:schemeClr val="accent4">
              <a:lumMod val="60000"/>
              <a:lumOff val="40000"/>
            </a:schemeClr>
          </a:solidFill>
          <a:ln w="12700">
            <a:solidFill>
              <a:schemeClr val="accent4">
                <a:lumMod val="60000"/>
                <a:lumOff val="40000"/>
              </a:schemeClr>
            </a:solidFill>
            <a:prstDash val="solid"/>
          </a:ln>
        </p:spPr>
        <p:txBody>
          <a:bodyPr/>
          <a:lstStyle/>
          <a:p>
            <a:endParaRPr lang="en-CA" dirty="0"/>
          </a:p>
        </p:txBody>
      </p:sp>
      <p:sp>
        <p:nvSpPr>
          <p:cNvPr id="41" name="Text 18">
            <a:extLst>
              <a:ext uri="{FF2B5EF4-FFF2-40B4-BE49-F238E27FC236}">
                <a16:creationId xmlns:a16="http://schemas.microsoft.com/office/drawing/2014/main" id="{38811804-A379-E0FB-BA5F-0A79D5C4E218}"/>
              </a:ext>
            </a:extLst>
          </p:cNvPr>
          <p:cNvSpPr/>
          <p:nvPr/>
        </p:nvSpPr>
        <p:spPr>
          <a:xfrm>
            <a:off x="230156" y="4819935"/>
            <a:ext cx="434012" cy="512064"/>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03</a:t>
            </a:r>
            <a:endParaRPr lang="en-US" dirty="0"/>
          </a:p>
        </p:txBody>
      </p:sp>
      <p:sp>
        <p:nvSpPr>
          <p:cNvPr id="42" name="Text 19">
            <a:extLst>
              <a:ext uri="{FF2B5EF4-FFF2-40B4-BE49-F238E27FC236}">
                <a16:creationId xmlns:a16="http://schemas.microsoft.com/office/drawing/2014/main" id="{E897BA18-072B-0532-0DA3-55B7E2279EE2}"/>
              </a:ext>
            </a:extLst>
          </p:cNvPr>
          <p:cNvSpPr/>
          <p:nvPr/>
        </p:nvSpPr>
        <p:spPr>
          <a:xfrm>
            <a:off x="747898" y="4646199"/>
            <a:ext cx="6436519" cy="347472"/>
          </a:xfrm>
          <a:prstGeom prst="rect">
            <a:avLst/>
          </a:prstGeom>
          <a:noFill/>
          <a:ln/>
        </p:spPr>
        <p:txBody>
          <a:bodyPr wrap="square" rtlCol="0" anchor="ctr"/>
          <a:lstStyle/>
          <a:p>
            <a:pPr marL="0" indent="0">
              <a:buNone/>
            </a:pPr>
            <a:r>
              <a:rPr lang="en-US" sz="2800" b="1" dirty="0">
                <a:solidFill>
                  <a:schemeClr val="accent4">
                    <a:lumMod val="75000"/>
                  </a:schemeClr>
                </a:solidFill>
                <a:latin typeface="Calibri" pitchFamily="34" charset="0"/>
                <a:ea typeface="Calibri" pitchFamily="34" charset="-122"/>
                <a:cs typeface="Calibri" pitchFamily="34" charset="-120"/>
              </a:rPr>
              <a:t>Subtype-Specific Treatment Stratification</a:t>
            </a:r>
            <a:endParaRPr lang="en-US" sz="2800" dirty="0">
              <a:solidFill>
                <a:schemeClr val="accent4">
                  <a:lumMod val="75000"/>
                </a:schemeClr>
              </a:solidFill>
            </a:endParaRPr>
          </a:p>
        </p:txBody>
      </p:sp>
      <p:sp>
        <p:nvSpPr>
          <p:cNvPr id="58" name="Text 20">
            <a:extLst>
              <a:ext uri="{FF2B5EF4-FFF2-40B4-BE49-F238E27FC236}">
                <a16:creationId xmlns:a16="http://schemas.microsoft.com/office/drawing/2014/main" id="{43CCCEC6-FA7D-2569-7461-515BB2AB1AC0}"/>
              </a:ext>
            </a:extLst>
          </p:cNvPr>
          <p:cNvSpPr/>
          <p:nvPr/>
        </p:nvSpPr>
        <p:spPr>
          <a:xfrm>
            <a:off x="747898" y="5144112"/>
            <a:ext cx="6678934" cy="548640"/>
          </a:xfrm>
          <a:prstGeom prst="rect">
            <a:avLst/>
          </a:prstGeom>
          <a:noFill/>
          <a:ln/>
        </p:spPr>
        <p:txBody>
          <a:bodyPr wrap="square" rtlCol="0" anchor="t"/>
          <a:lstStyle/>
          <a:p>
            <a:pPr marL="0" indent="0">
              <a:buNone/>
            </a:pPr>
            <a:r>
              <a:rPr lang="en-US" sz="1400" dirty="0">
                <a:solidFill>
                  <a:srgbClr val="1E293B"/>
                </a:solidFill>
                <a:latin typeface="Calibri" pitchFamily="34" charset="0"/>
                <a:ea typeface="Calibri" pitchFamily="34" charset="-122"/>
                <a:cs typeface="Calibri" pitchFamily="34" charset="-120"/>
              </a:rPr>
              <a:t>Understanding shared immune programmes across subtypes may unlock cross-subtype treatment strategies.</a:t>
            </a:r>
            <a:endParaRPr lang="en-US" sz="1400" dirty="0"/>
          </a:p>
        </p:txBody>
      </p:sp>
      <p:sp>
        <p:nvSpPr>
          <p:cNvPr id="60" name="Text 22">
            <a:extLst>
              <a:ext uri="{FF2B5EF4-FFF2-40B4-BE49-F238E27FC236}">
                <a16:creationId xmlns:a16="http://schemas.microsoft.com/office/drawing/2014/main" id="{A2F07E5C-4C2E-DA0E-63EC-3BEB51DEBCCC}"/>
              </a:ext>
            </a:extLst>
          </p:cNvPr>
          <p:cNvSpPr/>
          <p:nvPr/>
        </p:nvSpPr>
        <p:spPr>
          <a:xfrm>
            <a:off x="7463028" y="4598112"/>
            <a:ext cx="1186047" cy="1342848"/>
          </a:xfrm>
          <a:prstGeom prst="rect">
            <a:avLst/>
          </a:prstGeom>
          <a:solidFill>
            <a:schemeClr val="accent6">
              <a:lumMod val="50000"/>
            </a:schemeClr>
          </a:solidFill>
          <a:ln/>
        </p:spPr>
        <p:txBody>
          <a:bodyPr wrap="square" rtlCol="0" anchor="ctr"/>
          <a:lstStyle/>
          <a:p>
            <a:pPr marL="0" indent="0" algn="ctr">
              <a:buNone/>
            </a:pPr>
            <a:r>
              <a:rPr lang="en-US" sz="1400" i="1" dirty="0">
                <a:solidFill>
                  <a:schemeClr val="bg1"/>
                </a:solidFill>
                <a:latin typeface="Calibri" pitchFamily="34" charset="0"/>
                <a:ea typeface="Calibri" pitchFamily="34" charset="-122"/>
                <a:cs typeface="Calibri" pitchFamily="34" charset="-120"/>
              </a:rPr>
              <a:t>Clinical impact: novel treatment stratification beyond PAM50</a:t>
            </a:r>
            <a:endParaRPr lang="en-US" sz="1400" dirty="0">
              <a:solidFill>
                <a:schemeClr val="bg1"/>
              </a:solidFill>
            </a:endParaRPr>
          </a:p>
        </p:txBody>
      </p:sp>
    </p:spTree>
    <p:extLst>
      <p:ext uri="{BB962C8B-B14F-4D97-AF65-F5344CB8AC3E}">
        <p14:creationId xmlns:p14="http://schemas.microsoft.com/office/powerpoint/2010/main" val="471123469"/>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TM02900722[[fn=Ion Boardroom]]</Template>
  <TotalTime>910</TotalTime>
  <Words>3595</Words>
  <Application>Microsoft Office PowerPoint</Application>
  <PresentationFormat>Widescreen</PresentationFormat>
  <Paragraphs>380</Paragraphs>
  <Slides>18</Slides>
  <Notes>16</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Avenir Next LT Pro</vt:lpstr>
      <vt:lpstr>Calibri</vt:lpstr>
      <vt:lpstr>GradientRiseVTI</vt:lpstr>
      <vt:lpstr>Breast Cancer Immune Heterogeneity within the PAM50 subtype</vt:lpstr>
      <vt:lpstr>The clinical problem</vt:lpstr>
      <vt:lpstr>The clinical problem</vt:lpstr>
      <vt:lpstr>Research question</vt:lpstr>
      <vt:lpstr>Methodology</vt:lpstr>
      <vt:lpstr>How was the immune microenvironment measured?</vt:lpstr>
      <vt:lpstr>Meta Data</vt:lpstr>
      <vt:lpstr>Immune deconvolution &amp; consensus clustering </vt:lpstr>
      <vt:lpstr>Normal-like:IC1 vs IC2 Biological characterization</vt:lpstr>
      <vt:lpstr>Differential expression results</vt:lpstr>
      <vt:lpstr>Pathway analysis</vt:lpstr>
      <vt:lpstr>Key findings</vt:lpstr>
      <vt:lpstr>Conclusion &amp; clinical relevance</vt:lpstr>
      <vt:lpstr>References</vt:lpstr>
      <vt:lpstr>PowerPoint Presentation</vt:lpstr>
      <vt:lpstr>limitations</vt:lpstr>
      <vt:lpstr>The clinical problem</vt:lpstr>
      <vt:lpstr>Why immune heterogeneity matters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Saranya Gunasegaram Narayana</dc:creator>
  <cp:lastModifiedBy>Saranya Gunasegaram Narayana</cp:lastModifiedBy>
  <cp:revision>1</cp:revision>
  <dcterms:created xsi:type="dcterms:W3CDTF">2026-04-15T14:29:31Z</dcterms:created>
  <dcterms:modified xsi:type="dcterms:W3CDTF">2026-04-18T02:05:39Z</dcterms:modified>
</cp:coreProperties>
</file>